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Gurukul" id="{bc231e20-d187-5d0b-3407-bc49777f13ee}">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Gurukul is an AI-enabled learning platform. In one sentence: it runs the school, teaches every child, and prepares them for life. It is built for government schools, private schools and edtech companies, in any language, anywhere in the world. In the next nine slides I will show you the problem, how AI Gurukul solves it, and why it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Teachers spend their time on paperwork instead of teaching. One teacher, one pace, forty different children. Families pay school fees and then pay again for tuition. When a teacher is absent, the class is simply lost. Leaders see data too late. And exam preparation pushes every child down the same path. The result: learning gaps grow silently until the exam reveals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hardest in villages. In India alone there are 14.7 lakh schools and 24.7 crore students. Over one lakh schools are run by a single teacher, serving 33.8 lakh children. About a third of schools still have no internet, and rural schools are 29 points behind urban schools. For a village child this means one teacher for many classes, a textbook in a language they don't speak at home, no tuition or coaching nearby, and many lost days every year. AI Gurukul is designed for exactly this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AI Gurukul? It is a complete school platform with an AI brain at the centre. That AI works in five places: managing the school, helping teachers, tutoring every student, preparing students for exams and careers, and giving leaders live data. It is built for government schools, private schools, and edtech and coaching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teachers, AI works across the whole day. Attendance takes seconds. Lesson plans are drafted and re-plan themselves after leave or holidays. Homework and question papers are generated in any board's pattern. Answer sheets can be scanned and AI suggests the marks, which the teacher confirms. An AI coach helps teachers improve their own teaching. And every morning, the teacher knows exactly which students need help and on which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AI Gurukul is a personal tutor. Here a student asks why an apple falls. The AI explains in simple language, in Hindi and English, from the textbook, and shows a 3D story of Newton and gravity. Every child gets a personal plan and practice on weak topics. Because this happens inside the school system, families no longer need to pay for extra tuition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Gurukul goes beyond the syllabus. As students learn, the AI builds a skill intelligence profile — what each child is good at and enjoys. Based on that, it guides and prepares them: JEE, NEET, CUET, Olympiads and other exams, plus professional courses like coding, design and spoken English. This example student is strong in logic, maths and physics, so the path points to JEE. Another student may be guided to NEET, or to design. Not one exam for everyone — the right path for each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a teacher is absent? First, AI finds the best substitute inside the school. If no one is free, students join a live class on the same subject and the same topic from a nearby school. And if no live class is running at that time, an AI avatar teaches the planned topic, with 3D models, doubt-solving and practice. Either way, attendance and learning are recorded and the plan updates itself. No class is ever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finally see the truth, live. A principal sees attendance, syllabus progress, learning levels and teacher cover for today. Block and district officers compare schools and see which need support first, and why. A state, school group or edtech company sees trends across every school. And every student has a complete digital record, from admission to graduation. No more waiting weeks for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each village problem is solved. One teacher with many classes gets an AI co-teacher for multi-grade planning, while each child practises with the AI tutor. If the teacher is absent, students join a live class from a nearby school, or the AI avatar teaches. No internet? The offline app and school hub keep everything running. Children learn in their own language. JEE, NEET and skill courses come to the village school — no need to move to a city. And when schools close for rain or harvest, the syllabus re-plans itself and lessons go home by app, SMS and phone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reach villages with weak internet. All lessons, videos and 3D models are stored close to the student. An optional school hub — a small offline server — keeps everything inside the school and serves it over local Wi-Fi, so classrooms work at full speed with no internet at all. The hub syncs with our cloud at night over rural broadband or 4G. Students take downloaded lesson packs home on the offline app, and parents with basic phones get SMS alerts and audio lessons by phone call, which work on 2G.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platform works at three levels. With good internet, everything is live. With a weak signal, the app switches to lite mode: text first, small images, and lessons as audio plus slides — about 2 to 3 megabytes for a 10-minute lesson. With no internet, students use downloaded lessons and 3D models, attendance and tests are saved on the device, and the school hub, SMS and phone-call lessons keep learning going. Nothing is lost; everything syncs when the signal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is AI Gurukul different? Most LMS platforms store content and records. AI Gurukul teaches, plans and acts. It gives each child a personal path, never lets a class be lost, builds exam preparation in based on each child's interests, gives leaders live dashboards, works offline on weak networks, and speaks the student's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Gurukul is built for every kind of school: government schools at state scale, private schools that want AI in every class, edtech and coaching companies that want an AI tutor and exam engine, and schools in any country, on any board, in any language. We suggest starting with a pilot — the first release can be live in 8 weeks — and scaling when the results prove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5"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YJ Technosoft Private Limited  •  AI Gurukul</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slideLayout" Target="../slideLayouts/slideLayout2.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2.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640080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AI-ENABLED LEARNING PLATFORM</a:t>
            </a:r>
            <a:endParaRPr lang="en-US" sz="1300" dirty="0"/>
          </a:p>
        </p:txBody>
      </p:sp>
      <p:sp>
        <p:nvSpPr>
          <p:cNvPr id="3" name="Text 1"/>
          <p:cNvSpPr txBox="1"/>
          <p:nvPr/>
        </p:nvSpPr>
        <p:spPr>
          <a:xfrm>
            <a:off x="548640" y="1325880"/>
            <a:ext cx="6766560" cy="109728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AI Gurukul</a:t>
            </a:r>
            <a:endParaRPr lang="en-US" sz="6000" dirty="0"/>
          </a:p>
        </p:txBody>
      </p:sp>
      <p:sp>
        <p:nvSpPr>
          <p:cNvPr id="4" name="Text 2"/>
          <p:cNvSpPr txBox="1"/>
          <p:nvPr/>
        </p:nvSpPr>
        <p:spPr>
          <a:xfrm>
            <a:off x="548640" y="2514600"/>
            <a:ext cx="6949440" cy="1005840"/>
          </a:xfrm>
          <a:prstGeom prst="rect">
            <a:avLst/>
          </a:prstGeom>
          <a:noFill/>
          <a:ln/>
        </p:spPr>
        <p:txBody>
          <a:bodyPr wrap="square" lIns="0" tIns="0" rIns="0" bIns="0" rtlCol="0" anchor="t"/>
          <a:lstStyle/>
          <a:p>
            <a:pPr indent="0" marL="0">
              <a:buNone/>
            </a:pPr>
            <a:r>
              <a:rPr lang="en-US" sz="2200" dirty="0">
                <a:solidFill>
                  <a:schemeClr val="bg1"/>
                </a:solidFill>
              </a:rPr>
              <a:t>One platform that runs the school,</a:t>
            </a:r>
            <a:endParaRPr lang="en-US" sz="2200" dirty="0"/>
          </a:p>
          <a:p>
            <a:pPr indent="0" marL="0">
              <a:buNone/>
            </a:pPr>
            <a:r>
              <a:rPr lang="en-US" sz="2200" dirty="0">
                <a:solidFill>
                  <a:schemeClr val="bg1"/>
                </a:solidFill>
              </a:rPr>
              <a:t>teaches every child and prepares them for life</a:t>
            </a:r>
            <a:endParaRPr lang="en-US" sz="2200" dirty="0"/>
          </a:p>
        </p:txBody>
      </p:sp>
      <p:sp>
        <p:nvSpPr>
          <p:cNvPr id="5" name="Text 3"/>
          <p:cNvSpPr txBox="1"/>
          <p:nvPr/>
        </p:nvSpPr>
        <p:spPr>
          <a:xfrm>
            <a:off x="548640" y="3703320"/>
            <a:ext cx="6583680" cy="685800"/>
          </a:xfrm>
          <a:prstGeom prst="rect">
            <a:avLst/>
          </a:prstGeom>
          <a:noFill/>
          <a:ln/>
        </p:spPr>
        <p:txBody>
          <a:bodyPr wrap="square" lIns="0" tIns="0" rIns="0" bIns="0" rtlCol="0" anchor="t"/>
          <a:lstStyle/>
          <a:p>
            <a:pPr indent="0" marL="0">
              <a:buNone/>
            </a:pPr>
            <a:r>
              <a:rPr lang="en-US" sz="1600" dirty="0">
                <a:solidFill>
                  <a:srgbClr val="C9D3E3"/>
                </a:solidFill>
              </a:rPr>
              <a:t>For government schools, private schools and edtech — in any language, anywhere in the world.</a:t>
            </a:r>
            <a:endParaRPr lang="en-US" sz="1600" dirty="0"/>
          </a:p>
        </p:txBody>
      </p:sp>
      <p:sp>
        <p:nvSpPr>
          <p:cNvPr id="6" name="Text 4"/>
          <p:cNvSpPr txBox="1"/>
          <p:nvPr/>
        </p:nvSpPr>
        <p:spPr>
          <a:xfrm>
            <a:off x="548640" y="5120640"/>
            <a:ext cx="6400800" cy="640080"/>
          </a:xfrm>
          <a:prstGeom prst="rect">
            <a:avLst/>
          </a:prstGeom>
          <a:noFill/>
          <a:ln/>
        </p:spPr>
        <p:txBody>
          <a:bodyPr wrap="square" lIns="0" tIns="0" rIns="0" bIns="0" rtlCol="0" anchor="t"/>
          <a:lstStyle/>
          <a:p>
            <a:pPr indent="0" marL="0">
              <a:buNone/>
            </a:pPr>
            <a:r>
              <a:rPr lang="en-US" sz="1400" b="1" dirty="0">
                <a:solidFill>
                  <a:schemeClr val="bg1"/>
                </a:solidFill>
              </a:rPr>
              <a:t>YJ Technosoft Private Limited</a:t>
            </a:r>
            <a:endParaRPr lang="en-US" sz="1400" dirty="0"/>
          </a:p>
          <a:p>
            <a:pPr indent="0" marL="0">
              <a:buNone/>
            </a:pPr>
            <a:r>
              <a:rPr lang="en-US" sz="1400" dirty="0">
                <a:solidFill>
                  <a:schemeClr val="bg1"/>
                </a:solidFill>
              </a:rPr>
              <a:t>2026</a:t>
            </a:r>
            <a:endParaRPr lang="en-US" sz="1400" dirty="0"/>
          </a:p>
        </p:txBody>
      </p:sp>
      <p:sp>
        <p:nvSpPr>
          <p:cNvPr id="7" name="orbit"/>
          <p:cNvSpPr/>
          <p:nvPr/>
        </p:nvSpPr>
        <p:spPr>
          <a:xfrm>
            <a:off x="7178040" y="1463040"/>
            <a:ext cx="3931920" cy="3931920"/>
          </a:xfrm>
          <a:prstGeom prst="ellipse">
            <a:avLst/>
          </a:prstGeom>
          <a:ln w="19050">
            <a:solidFill>
              <a:srgbClr val="3D5A85"/>
            </a:solidFill>
            <a:prstDash val="dash"/>
          </a:ln>
        </p:spPr>
      </p:sp>
      <p:sp>
        <p:nvSpPr>
          <p:cNvPr id="8" name="Student at the centre circle"/>
          <p:cNvSpPr/>
          <p:nvPr/>
        </p:nvSpPr>
        <p:spPr>
          <a:xfrm>
            <a:off x="8366760" y="2651760"/>
            <a:ext cx="1554480" cy="1554480"/>
          </a:xfrm>
          <a:prstGeom prst="ellipse">
            <a:avLst/>
          </a:prstGeom>
          <a:solidFill>
            <a:schemeClr val="accent1"/>
          </a:solidFill>
          <a:ln/>
        </p:spPr>
      </p:sp>
      <p:pic>
        <p:nvPicPr>
          <p:cNvPr id="9" name="Student at the centre icon" descr="Student at the centre">    </p:cNvPr>
          <p:cNvPicPr>
            <a:picLocks noChangeAspect="1"/>
          </p:cNvPicPr>
          <p:nvPr/>
        </p:nvPicPr>
        <p:blipFill>
          <a:blip r:embed="rId1"/>
          <a:stretch>
            <a:fillRect/>
          </a:stretch>
        </p:blipFill>
        <p:spPr>
          <a:xfrm>
            <a:off x="8755380" y="3040380"/>
            <a:ext cx="777240" cy="777240"/>
          </a:xfrm>
          <a:prstGeom prst="rect">
            <a:avLst/>
          </a:prstGeom>
        </p:spPr>
      </p:pic>
      <p:sp>
        <p:nvSpPr>
          <p:cNvPr id="10" name="FaSchool circle"/>
          <p:cNvSpPr/>
          <p:nvPr/>
        </p:nvSpPr>
        <p:spPr>
          <a:xfrm>
            <a:off x="8686800" y="1005840"/>
            <a:ext cx="914400" cy="914400"/>
          </a:xfrm>
          <a:prstGeom prst="ellipse">
            <a:avLst/>
          </a:prstGeom>
          <a:solidFill>
            <a:schemeClr val="accent2"/>
          </a:solidFill>
          <a:ln/>
        </p:spPr>
      </p:sp>
      <p:pic>
        <p:nvPicPr>
          <p:cNvPr id="11" name="FaSchool icon" descr="FaSchool">    </p:cNvPr>
          <p:cNvPicPr>
            <a:picLocks noChangeAspect="1"/>
          </p:cNvPicPr>
          <p:nvPr/>
        </p:nvPicPr>
        <p:blipFill>
          <a:blip r:embed="rId2"/>
          <a:stretch>
            <a:fillRect/>
          </a:stretch>
        </p:blipFill>
        <p:spPr>
          <a:xfrm>
            <a:off x="8915400" y="1234440"/>
            <a:ext cx="457200" cy="457200"/>
          </a:xfrm>
          <a:prstGeom prst="rect">
            <a:avLst/>
          </a:prstGeom>
        </p:spPr>
      </p:pic>
      <p:sp>
        <p:nvSpPr>
          <p:cNvPr id="12" name="FaChalkboardUser circle"/>
          <p:cNvSpPr/>
          <p:nvPr/>
        </p:nvSpPr>
        <p:spPr>
          <a:xfrm>
            <a:off x="10389371" y="3954780"/>
            <a:ext cx="914400" cy="914400"/>
          </a:xfrm>
          <a:prstGeom prst="ellipse">
            <a:avLst/>
          </a:prstGeom>
          <a:solidFill>
            <a:schemeClr val="accent3"/>
          </a:solidFill>
          <a:ln/>
        </p:spPr>
      </p:sp>
      <p:pic>
        <p:nvPicPr>
          <p:cNvPr id="13" name="FaChalkboardUser icon" descr="FaChalkboardUser">    </p:cNvPr>
          <p:cNvPicPr>
            <a:picLocks noChangeAspect="1"/>
          </p:cNvPicPr>
          <p:nvPr/>
        </p:nvPicPr>
        <p:blipFill>
          <a:blip r:embed="rId3"/>
          <a:stretch>
            <a:fillRect/>
          </a:stretch>
        </p:blipFill>
        <p:spPr>
          <a:xfrm>
            <a:off x="10617971" y="4183380"/>
            <a:ext cx="457200" cy="457200"/>
          </a:xfrm>
          <a:prstGeom prst="rect">
            <a:avLst/>
          </a:prstGeom>
        </p:spPr>
      </p:pic>
      <p:sp>
        <p:nvSpPr>
          <p:cNvPr id="14" name="FaRobot circle"/>
          <p:cNvSpPr/>
          <p:nvPr/>
        </p:nvSpPr>
        <p:spPr>
          <a:xfrm>
            <a:off x="6984229" y="3954780"/>
            <a:ext cx="914400" cy="914400"/>
          </a:xfrm>
          <a:prstGeom prst="ellipse">
            <a:avLst/>
          </a:prstGeom>
          <a:solidFill>
            <a:schemeClr val="accent5"/>
          </a:solidFill>
          <a:ln/>
        </p:spPr>
      </p:sp>
      <p:pic>
        <p:nvPicPr>
          <p:cNvPr id="15" name="FaRobot icon" descr="FaRobot">    </p:cNvPr>
          <p:cNvPicPr>
            <a:picLocks noChangeAspect="1"/>
          </p:cNvPicPr>
          <p:nvPr/>
        </p:nvPicPr>
        <p:blipFill>
          <a:blip r:embed="rId4"/>
          <a:stretch>
            <a:fillRect/>
          </a:stretch>
        </p:blipFill>
        <p:spPr>
          <a:xfrm>
            <a:off x="7212829" y="41833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Schools run on effort, not intelligence</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school, in every country, struggles with the same six problems.</a:t>
            </a:r>
            <a:endParaRPr lang="en-US" sz="1600" dirty="0"/>
          </a:p>
        </p:txBody>
      </p:sp>
      <p:sp>
        <p:nvSpPr>
          <p:cNvPr id="5" name="Teachers buried in paperwork"/>
          <p:cNvSpPr/>
          <p:nvPr/>
        </p:nvSpPr>
        <p:spPr>
          <a:xfrm>
            <a:off x="548640" y="182880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Teachers buried in paperwork circle"/>
          <p:cNvSpPr/>
          <p:nvPr/>
        </p:nvSpPr>
        <p:spPr>
          <a:xfrm>
            <a:off x="822960" y="2103120"/>
            <a:ext cx="594360" cy="594360"/>
          </a:xfrm>
          <a:prstGeom prst="ellipse">
            <a:avLst/>
          </a:prstGeom>
          <a:solidFill>
            <a:schemeClr val="accent3"/>
          </a:solidFill>
          <a:ln/>
        </p:spPr>
      </p:sp>
      <p:pic>
        <p:nvPicPr>
          <p:cNvPr id="7" name="Teachers buried in paperwork icon" descr="Teachers buried in paperwork">    </p:cNvPr>
          <p:cNvPicPr>
            <a:picLocks noChangeAspect="1"/>
          </p:cNvPicPr>
          <p:nvPr/>
        </p:nvPicPr>
        <p:blipFill>
          <a:blip r:embed="rId1"/>
          <a:stretch>
            <a:fillRect/>
          </a:stretch>
        </p:blipFill>
        <p:spPr>
          <a:xfrm>
            <a:off x="971550" y="2251710"/>
            <a:ext cx="297180" cy="297180"/>
          </a:xfrm>
          <a:prstGeom prst="rect">
            <a:avLst/>
          </a:prstGeom>
        </p:spPr>
      </p:pic>
      <p:sp>
        <p:nvSpPr>
          <p:cNvPr id="8" name="Text 5"/>
          <p:cNvSpPr txBox="1"/>
          <p:nvPr/>
        </p:nvSpPr>
        <p:spPr>
          <a:xfrm>
            <a:off x="1554480" y="207568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Teachers buried in paperwork</a:t>
            </a:r>
            <a:endParaRPr lang="en-US" sz="1600" dirty="0"/>
          </a:p>
        </p:txBody>
      </p:sp>
      <p:sp>
        <p:nvSpPr>
          <p:cNvPr id="9" name="Text 6"/>
          <p:cNvSpPr txBox="1"/>
          <p:nvPr/>
        </p:nvSpPr>
        <p:spPr>
          <a:xfrm>
            <a:off x="822960" y="2807208"/>
            <a:ext cx="3017520" cy="640080"/>
          </a:xfrm>
          <a:prstGeom prst="rect">
            <a:avLst/>
          </a:prstGeom>
          <a:noFill/>
          <a:ln/>
        </p:spPr>
        <p:txBody>
          <a:bodyPr wrap="square" lIns="0" tIns="0" rIns="0" bIns="0" rtlCol="0" anchor="t"/>
          <a:lstStyle/>
          <a:p>
            <a:pPr indent="0" marL="0">
              <a:buNone/>
            </a:pPr>
            <a:r>
              <a:rPr lang="en-US" sz="1300" dirty="0">
                <a:solidFill>
                  <a:schemeClr val="tx1"/>
                </a:solidFill>
              </a:rPr>
              <a:t>Attendance, registers, reports and checking eat the time meant for teaching.</a:t>
            </a:r>
            <a:endParaRPr lang="en-US" sz="1300" dirty="0"/>
          </a:p>
        </p:txBody>
      </p:sp>
      <p:sp>
        <p:nvSpPr>
          <p:cNvPr id="10" name="One pace for forty children"/>
          <p:cNvSpPr/>
          <p:nvPr/>
        </p:nvSpPr>
        <p:spPr>
          <a:xfrm>
            <a:off x="4297680" y="182880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One pace for forty children circle"/>
          <p:cNvSpPr/>
          <p:nvPr/>
        </p:nvSpPr>
        <p:spPr>
          <a:xfrm>
            <a:off x="4572000" y="2103120"/>
            <a:ext cx="594360" cy="594360"/>
          </a:xfrm>
          <a:prstGeom prst="ellipse">
            <a:avLst/>
          </a:prstGeom>
          <a:solidFill>
            <a:schemeClr val="accent3"/>
          </a:solidFill>
          <a:ln/>
        </p:spPr>
      </p:sp>
      <p:pic>
        <p:nvPicPr>
          <p:cNvPr id="12" name="One pace for forty children icon" descr="One pace for forty children">    </p:cNvPr>
          <p:cNvPicPr>
            <a:picLocks noChangeAspect="1"/>
          </p:cNvPicPr>
          <p:nvPr/>
        </p:nvPicPr>
        <p:blipFill>
          <a:blip r:embed="rId2"/>
          <a:stretch>
            <a:fillRect/>
          </a:stretch>
        </p:blipFill>
        <p:spPr>
          <a:xfrm>
            <a:off x="4720590" y="2251710"/>
            <a:ext cx="297180" cy="297180"/>
          </a:xfrm>
          <a:prstGeom prst="rect">
            <a:avLst/>
          </a:prstGeom>
        </p:spPr>
      </p:pic>
      <p:sp>
        <p:nvSpPr>
          <p:cNvPr id="13" name="Text 9"/>
          <p:cNvSpPr txBox="1"/>
          <p:nvPr/>
        </p:nvSpPr>
        <p:spPr>
          <a:xfrm>
            <a:off x="5303520" y="207568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One pace for forty children</a:t>
            </a:r>
            <a:endParaRPr lang="en-US" sz="1600" dirty="0"/>
          </a:p>
        </p:txBody>
      </p:sp>
      <p:sp>
        <p:nvSpPr>
          <p:cNvPr id="14" name="Text 10"/>
          <p:cNvSpPr txBox="1"/>
          <p:nvPr/>
        </p:nvSpPr>
        <p:spPr>
          <a:xfrm>
            <a:off x="4572000" y="2807208"/>
            <a:ext cx="3017520" cy="640080"/>
          </a:xfrm>
          <a:prstGeom prst="rect">
            <a:avLst/>
          </a:prstGeom>
          <a:noFill/>
          <a:ln/>
        </p:spPr>
        <p:txBody>
          <a:bodyPr wrap="square" lIns="0" tIns="0" rIns="0" bIns="0" rtlCol="0" anchor="t"/>
          <a:lstStyle/>
          <a:p>
            <a:pPr indent="0" marL="0">
              <a:buNone/>
            </a:pPr>
            <a:r>
              <a:rPr lang="en-US" sz="1300" dirty="0">
                <a:solidFill>
                  <a:schemeClr val="tx1"/>
                </a:solidFill>
              </a:rPr>
              <a:t>Fast learners get bored; slow learners fall behind quietly.</a:t>
            </a:r>
            <a:endParaRPr lang="en-US" sz="1300" dirty="0"/>
          </a:p>
        </p:txBody>
      </p:sp>
      <p:sp>
        <p:nvSpPr>
          <p:cNvPr id="15" name="Families pay twice"/>
          <p:cNvSpPr/>
          <p:nvPr/>
        </p:nvSpPr>
        <p:spPr>
          <a:xfrm>
            <a:off x="8046720" y="182880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Families pay twice circle"/>
          <p:cNvSpPr/>
          <p:nvPr/>
        </p:nvSpPr>
        <p:spPr>
          <a:xfrm>
            <a:off x="8321040" y="2103120"/>
            <a:ext cx="594360" cy="594360"/>
          </a:xfrm>
          <a:prstGeom prst="ellipse">
            <a:avLst/>
          </a:prstGeom>
          <a:solidFill>
            <a:schemeClr val="accent3"/>
          </a:solidFill>
          <a:ln/>
        </p:spPr>
      </p:sp>
      <p:pic>
        <p:nvPicPr>
          <p:cNvPr id="17" name="Families pay twice icon" descr="Families pay twice">    </p:cNvPr>
          <p:cNvPicPr>
            <a:picLocks noChangeAspect="1"/>
          </p:cNvPicPr>
          <p:nvPr/>
        </p:nvPicPr>
        <p:blipFill>
          <a:blip r:embed="rId3"/>
          <a:stretch>
            <a:fillRect/>
          </a:stretch>
        </p:blipFill>
        <p:spPr>
          <a:xfrm>
            <a:off x="8469630" y="2251710"/>
            <a:ext cx="297180" cy="297180"/>
          </a:xfrm>
          <a:prstGeom prst="rect">
            <a:avLst/>
          </a:prstGeom>
        </p:spPr>
      </p:pic>
      <p:sp>
        <p:nvSpPr>
          <p:cNvPr id="18" name="Text 13"/>
          <p:cNvSpPr txBox="1"/>
          <p:nvPr/>
        </p:nvSpPr>
        <p:spPr>
          <a:xfrm>
            <a:off x="9052560" y="207568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Families pay twice</a:t>
            </a:r>
            <a:endParaRPr lang="en-US" sz="1600" dirty="0"/>
          </a:p>
        </p:txBody>
      </p:sp>
      <p:sp>
        <p:nvSpPr>
          <p:cNvPr id="19" name="Text 14"/>
          <p:cNvSpPr txBox="1"/>
          <p:nvPr/>
        </p:nvSpPr>
        <p:spPr>
          <a:xfrm>
            <a:off x="8321040" y="2807208"/>
            <a:ext cx="3017520" cy="640080"/>
          </a:xfrm>
          <a:prstGeom prst="rect">
            <a:avLst/>
          </a:prstGeom>
          <a:noFill/>
          <a:ln/>
        </p:spPr>
        <p:txBody>
          <a:bodyPr wrap="square" lIns="0" tIns="0" rIns="0" bIns="0" rtlCol="0" anchor="t"/>
          <a:lstStyle/>
          <a:p>
            <a:pPr indent="0" marL="0">
              <a:buNone/>
            </a:pPr>
            <a:r>
              <a:rPr lang="en-US" sz="1300" dirty="0">
                <a:solidFill>
                  <a:schemeClr val="tx1"/>
                </a:solidFill>
              </a:rPr>
              <a:t>School fees, then extra tuition and coaching to fill the gaps.</a:t>
            </a:r>
            <a:endParaRPr lang="en-US" sz="1300" dirty="0"/>
          </a:p>
        </p:txBody>
      </p:sp>
      <p:sp>
        <p:nvSpPr>
          <p:cNvPr id="20" name="Teacher absent, class lost"/>
          <p:cNvSpPr/>
          <p:nvPr/>
        </p:nvSpPr>
        <p:spPr>
          <a:xfrm>
            <a:off x="548640" y="370332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Teacher absent, class lost circle"/>
          <p:cNvSpPr/>
          <p:nvPr/>
        </p:nvSpPr>
        <p:spPr>
          <a:xfrm>
            <a:off x="822960" y="3977640"/>
            <a:ext cx="594360" cy="594360"/>
          </a:xfrm>
          <a:prstGeom prst="ellipse">
            <a:avLst/>
          </a:prstGeom>
          <a:solidFill>
            <a:schemeClr val="accent3"/>
          </a:solidFill>
          <a:ln/>
        </p:spPr>
      </p:sp>
      <p:pic>
        <p:nvPicPr>
          <p:cNvPr id="22" name="Teacher absent, class lost icon" descr="Teacher absent, class lost">    </p:cNvPr>
          <p:cNvPicPr>
            <a:picLocks noChangeAspect="1"/>
          </p:cNvPicPr>
          <p:nvPr/>
        </p:nvPicPr>
        <p:blipFill>
          <a:blip r:embed="rId4"/>
          <a:stretch>
            <a:fillRect/>
          </a:stretch>
        </p:blipFill>
        <p:spPr>
          <a:xfrm>
            <a:off x="971550" y="4126230"/>
            <a:ext cx="297180" cy="297180"/>
          </a:xfrm>
          <a:prstGeom prst="rect">
            <a:avLst/>
          </a:prstGeom>
        </p:spPr>
      </p:pic>
      <p:sp>
        <p:nvSpPr>
          <p:cNvPr id="23" name="Text 17"/>
          <p:cNvSpPr txBox="1"/>
          <p:nvPr/>
        </p:nvSpPr>
        <p:spPr>
          <a:xfrm>
            <a:off x="1554480" y="395020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Teacher absent, class lost</a:t>
            </a:r>
            <a:endParaRPr lang="en-US" sz="1600" dirty="0"/>
          </a:p>
        </p:txBody>
      </p:sp>
      <p:sp>
        <p:nvSpPr>
          <p:cNvPr id="24" name="Text 18"/>
          <p:cNvSpPr txBox="1"/>
          <p:nvPr/>
        </p:nvSpPr>
        <p:spPr>
          <a:xfrm>
            <a:off x="822960" y="4681728"/>
            <a:ext cx="3017520" cy="640080"/>
          </a:xfrm>
          <a:prstGeom prst="rect">
            <a:avLst/>
          </a:prstGeom>
          <a:noFill/>
          <a:ln/>
        </p:spPr>
        <p:txBody>
          <a:bodyPr wrap="square" lIns="0" tIns="0" rIns="0" bIns="0" rtlCol="0" anchor="t"/>
          <a:lstStyle/>
          <a:p>
            <a:pPr indent="0" marL="0">
              <a:buNone/>
            </a:pPr>
            <a:r>
              <a:rPr lang="en-US" sz="1300" dirty="0">
                <a:solidFill>
                  <a:schemeClr val="tx1"/>
                </a:solidFill>
              </a:rPr>
              <a:t>A free period today becomes a learning gap at exam time.</a:t>
            </a:r>
            <a:endParaRPr lang="en-US" sz="1300" dirty="0"/>
          </a:p>
        </p:txBody>
      </p:sp>
      <p:sp>
        <p:nvSpPr>
          <p:cNvPr id="25" name="Leaders see data too late"/>
          <p:cNvSpPr/>
          <p:nvPr/>
        </p:nvSpPr>
        <p:spPr>
          <a:xfrm>
            <a:off x="4297680" y="370332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Leaders see data too late circle"/>
          <p:cNvSpPr/>
          <p:nvPr/>
        </p:nvSpPr>
        <p:spPr>
          <a:xfrm>
            <a:off x="4572000" y="3977640"/>
            <a:ext cx="594360" cy="594360"/>
          </a:xfrm>
          <a:prstGeom prst="ellipse">
            <a:avLst/>
          </a:prstGeom>
          <a:solidFill>
            <a:schemeClr val="accent3"/>
          </a:solidFill>
          <a:ln/>
        </p:spPr>
      </p:sp>
      <p:pic>
        <p:nvPicPr>
          <p:cNvPr id="27" name="Leaders see data too late icon" descr="Leaders see data too late">    </p:cNvPr>
          <p:cNvPicPr>
            <a:picLocks noChangeAspect="1"/>
          </p:cNvPicPr>
          <p:nvPr/>
        </p:nvPicPr>
        <p:blipFill>
          <a:blip r:embed="rId5"/>
          <a:stretch>
            <a:fillRect/>
          </a:stretch>
        </p:blipFill>
        <p:spPr>
          <a:xfrm>
            <a:off x="4720590" y="4126230"/>
            <a:ext cx="297180" cy="297180"/>
          </a:xfrm>
          <a:prstGeom prst="rect">
            <a:avLst/>
          </a:prstGeom>
        </p:spPr>
      </p:pic>
      <p:sp>
        <p:nvSpPr>
          <p:cNvPr id="28" name="Text 21"/>
          <p:cNvSpPr txBox="1"/>
          <p:nvPr/>
        </p:nvSpPr>
        <p:spPr>
          <a:xfrm>
            <a:off x="5303520" y="395020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Leaders see data too late</a:t>
            </a:r>
            <a:endParaRPr lang="en-US" sz="1600" dirty="0"/>
          </a:p>
        </p:txBody>
      </p:sp>
      <p:sp>
        <p:nvSpPr>
          <p:cNvPr id="29" name="Text 22"/>
          <p:cNvSpPr txBox="1"/>
          <p:nvPr/>
        </p:nvSpPr>
        <p:spPr>
          <a:xfrm>
            <a:off x="4572000" y="4681728"/>
            <a:ext cx="3017520" cy="640080"/>
          </a:xfrm>
          <a:prstGeom prst="rect">
            <a:avLst/>
          </a:prstGeom>
          <a:noFill/>
          <a:ln/>
        </p:spPr>
        <p:txBody>
          <a:bodyPr wrap="square" lIns="0" tIns="0" rIns="0" bIns="0" rtlCol="0" anchor="t"/>
          <a:lstStyle/>
          <a:p>
            <a:pPr indent="0" marL="0">
              <a:buNone/>
            </a:pPr>
            <a:r>
              <a:rPr lang="en-US" sz="1300" dirty="0">
                <a:solidFill>
                  <a:schemeClr val="tx1"/>
                </a:solidFill>
              </a:rPr>
              <a:t>Principals and officers get reports weeks later, if at all.</a:t>
            </a:r>
            <a:endParaRPr lang="en-US" sz="1300" dirty="0"/>
          </a:p>
        </p:txBody>
      </p:sp>
      <p:sp>
        <p:nvSpPr>
          <p:cNvPr id="30" name="One exam path for everyone"/>
          <p:cNvSpPr/>
          <p:nvPr/>
        </p:nvSpPr>
        <p:spPr>
          <a:xfrm>
            <a:off x="8046720" y="3703320"/>
            <a:ext cx="3520440" cy="1691640"/>
          </a:xfrm>
          <a:prstGeom prst="roundRect">
            <a:avLst>
              <a:gd name="adj" fmla="val 648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One exam path for everyone circle"/>
          <p:cNvSpPr/>
          <p:nvPr/>
        </p:nvSpPr>
        <p:spPr>
          <a:xfrm>
            <a:off x="8321040" y="3977640"/>
            <a:ext cx="594360" cy="594360"/>
          </a:xfrm>
          <a:prstGeom prst="ellipse">
            <a:avLst/>
          </a:prstGeom>
          <a:solidFill>
            <a:schemeClr val="accent3"/>
          </a:solidFill>
          <a:ln/>
        </p:spPr>
      </p:sp>
      <p:pic>
        <p:nvPicPr>
          <p:cNvPr id="32" name="One exam path for everyone icon" descr="One exam path for everyone">    </p:cNvPr>
          <p:cNvPicPr>
            <a:picLocks noChangeAspect="1"/>
          </p:cNvPicPr>
          <p:nvPr/>
        </p:nvPicPr>
        <p:blipFill>
          <a:blip r:embed="rId6"/>
          <a:stretch>
            <a:fillRect/>
          </a:stretch>
        </p:blipFill>
        <p:spPr>
          <a:xfrm>
            <a:off x="8469630" y="4126230"/>
            <a:ext cx="297180" cy="297180"/>
          </a:xfrm>
          <a:prstGeom prst="rect">
            <a:avLst/>
          </a:prstGeom>
        </p:spPr>
      </p:pic>
      <p:sp>
        <p:nvSpPr>
          <p:cNvPr id="33" name="Text 25"/>
          <p:cNvSpPr txBox="1"/>
          <p:nvPr/>
        </p:nvSpPr>
        <p:spPr>
          <a:xfrm>
            <a:off x="9052560" y="3950208"/>
            <a:ext cx="2377440" cy="640080"/>
          </a:xfrm>
          <a:prstGeom prst="rect">
            <a:avLst/>
          </a:prstGeom>
          <a:noFill/>
          <a:ln/>
        </p:spPr>
        <p:txBody>
          <a:bodyPr wrap="square" lIns="0" tIns="0" rIns="0" bIns="0" rtlCol="0" anchor="ctr"/>
          <a:lstStyle/>
          <a:p>
            <a:pPr indent="0" marL="0">
              <a:buNone/>
            </a:pPr>
            <a:r>
              <a:rPr lang="en-US" sz="1600" b="1" dirty="0">
                <a:solidFill>
                  <a:schemeClr val="tx2"/>
                </a:solidFill>
              </a:rPr>
              <a:t>One exam path for everyone</a:t>
            </a:r>
            <a:endParaRPr lang="en-US" sz="1600" dirty="0"/>
          </a:p>
        </p:txBody>
      </p:sp>
      <p:sp>
        <p:nvSpPr>
          <p:cNvPr id="34" name="Text 26"/>
          <p:cNvSpPr txBox="1"/>
          <p:nvPr/>
        </p:nvSpPr>
        <p:spPr>
          <a:xfrm>
            <a:off x="8321040" y="4681728"/>
            <a:ext cx="3017520" cy="640080"/>
          </a:xfrm>
          <a:prstGeom prst="rect">
            <a:avLst/>
          </a:prstGeom>
          <a:noFill/>
          <a:ln/>
        </p:spPr>
        <p:txBody>
          <a:bodyPr wrap="square" lIns="0" tIns="0" rIns="0" bIns="0" rtlCol="0" anchor="t"/>
          <a:lstStyle/>
          <a:p>
            <a:pPr indent="0" marL="0">
              <a:buNone/>
            </a:pPr>
            <a:r>
              <a:rPr lang="en-US" sz="1300" dirty="0">
                <a:solidFill>
                  <a:schemeClr val="tx1"/>
                </a:solidFill>
              </a:rPr>
              <a:t>Career and exam prep ignore what each child is good at and loves.</a:t>
            </a:r>
            <a:endParaRPr lang="en-US" sz="1300" dirty="0"/>
          </a:p>
        </p:txBody>
      </p:sp>
      <p:sp>
        <p:nvSpPr>
          <p:cNvPr id="35" name="result"/>
          <p:cNvSpPr/>
          <p:nvPr/>
        </p:nvSpPr>
        <p:spPr>
          <a:xfrm>
            <a:off x="548640" y="5623560"/>
            <a:ext cx="11094415" cy="548640"/>
          </a:xfrm>
          <a:prstGeom prst="roundRect">
            <a:avLst>
              <a:gd name="adj" fmla="val 16667"/>
            </a:avLst>
          </a:prstGeom>
          <a:solidFill>
            <a:schemeClr val="tx2"/>
          </a:solidFill>
          <a:ln/>
        </p:spPr>
      </p:sp>
      <p:sp>
        <p:nvSpPr>
          <p:cNvPr id="36" name="Text 28"/>
          <p:cNvSpPr txBox="1"/>
          <p:nvPr/>
        </p:nvSpPr>
        <p:spPr>
          <a:xfrm>
            <a:off x="822960" y="5623560"/>
            <a:ext cx="10545775" cy="548640"/>
          </a:xfrm>
          <a:prstGeom prst="rect">
            <a:avLst/>
          </a:prstGeom>
          <a:noFill/>
          <a:ln/>
        </p:spPr>
        <p:txBody>
          <a:bodyPr wrap="square" lIns="0" tIns="0" rIns="0" bIns="0" rtlCol="0" anchor="ctr"/>
          <a:lstStyle/>
          <a:p>
            <a:pPr indent="0" marL="0">
              <a:buNone/>
            </a:pPr>
            <a:r>
              <a:rPr lang="en-US" sz="1600" b="1" dirty="0">
                <a:solidFill>
                  <a:schemeClr val="accent2"/>
                </a:solidFill>
              </a:rPr>
              <a:t>The result: </a:t>
            </a:r>
            <a:pPr indent="0" marL="0">
              <a:buNone/>
            </a:pPr>
            <a:r>
              <a:rPr lang="en-US" sz="1600" dirty="0">
                <a:solidFill>
                  <a:schemeClr val="bg1"/>
                </a:solidFill>
              </a:rPr>
              <a:t>learning gaps grow silently — and nobody sees them until the exam.</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 · VILLAGES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Village schools feel it the hardest</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Example: India — where most children study in rural government schools.</a:t>
            </a:r>
            <a:endParaRPr lang="en-US" sz="1600" dirty="0"/>
          </a:p>
        </p:txBody>
      </p:sp>
      <p:sp>
        <p:nvSpPr>
          <p:cNvPr id="5" name="schools and 24.7 crore students in India"/>
          <p:cNvSpPr/>
          <p:nvPr/>
        </p:nvSpPr>
        <p:spPr>
          <a:xfrm>
            <a:off x="548640" y="1810512"/>
            <a:ext cx="2633472"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schools and 24.7 crore students in India circle"/>
          <p:cNvSpPr/>
          <p:nvPr/>
        </p:nvSpPr>
        <p:spPr>
          <a:xfrm>
            <a:off x="777240" y="2011680"/>
            <a:ext cx="548640" cy="548640"/>
          </a:xfrm>
          <a:prstGeom prst="ellipse">
            <a:avLst/>
          </a:prstGeom>
          <a:solidFill>
            <a:schemeClr val="accent4"/>
          </a:solidFill>
          <a:ln/>
        </p:spPr>
      </p:sp>
      <p:pic>
        <p:nvPicPr>
          <p:cNvPr id="7" name="schools and 24.7 crore students in India icon" descr="schools and 24.7 crore students in India">    </p:cNvPr>
          <p:cNvPicPr>
            <a:picLocks noChangeAspect="1"/>
          </p:cNvPicPr>
          <p:nvPr/>
        </p:nvPicPr>
        <p:blipFill>
          <a:blip r:embed="rId1"/>
          <a:stretch>
            <a:fillRect/>
          </a:stretch>
        </p:blipFill>
        <p:spPr>
          <a:xfrm>
            <a:off x="914400" y="2148840"/>
            <a:ext cx="274320" cy="274320"/>
          </a:xfrm>
          <a:prstGeom prst="rect">
            <a:avLst/>
          </a:prstGeom>
        </p:spPr>
      </p:pic>
      <p:sp>
        <p:nvSpPr>
          <p:cNvPr id="8" name="Text 5"/>
          <p:cNvSpPr txBox="1"/>
          <p:nvPr/>
        </p:nvSpPr>
        <p:spPr>
          <a:xfrm>
            <a:off x="777240" y="267004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14.7 lakh</a:t>
            </a:r>
            <a:endParaRPr lang="en-US" sz="2800" dirty="0"/>
          </a:p>
        </p:txBody>
      </p:sp>
      <p:sp>
        <p:nvSpPr>
          <p:cNvPr id="9" name="Text 6"/>
          <p:cNvSpPr txBox="1"/>
          <p:nvPr/>
        </p:nvSpPr>
        <p:spPr>
          <a:xfrm>
            <a:off x="777240" y="3218688"/>
            <a:ext cx="2240280" cy="548640"/>
          </a:xfrm>
          <a:prstGeom prst="rect">
            <a:avLst/>
          </a:prstGeom>
          <a:noFill/>
          <a:ln/>
        </p:spPr>
        <p:txBody>
          <a:bodyPr wrap="square" lIns="0" tIns="0" rIns="0" bIns="0" rtlCol="0" anchor="t"/>
          <a:lstStyle/>
          <a:p>
            <a:pPr indent="0" marL="0">
              <a:buNone/>
            </a:pPr>
            <a:r>
              <a:rPr lang="en-US" sz="1250" dirty="0">
                <a:solidFill>
                  <a:schemeClr val="accent6"/>
                </a:solidFill>
              </a:rPr>
              <a:t>schools and 24.7 crore students in India</a:t>
            </a:r>
            <a:endParaRPr lang="en-US" sz="1250" dirty="0"/>
          </a:p>
        </p:txBody>
      </p:sp>
      <p:sp>
        <p:nvSpPr>
          <p:cNvPr id="10" name="schools run by a single teacher — 33.8 lakh children"/>
          <p:cNvSpPr/>
          <p:nvPr/>
        </p:nvSpPr>
        <p:spPr>
          <a:xfrm>
            <a:off x="3364992" y="1810512"/>
            <a:ext cx="2633472"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schools run by a single teacher — 33.8 lakh children circle"/>
          <p:cNvSpPr/>
          <p:nvPr/>
        </p:nvSpPr>
        <p:spPr>
          <a:xfrm>
            <a:off x="3593592" y="2011680"/>
            <a:ext cx="548640" cy="548640"/>
          </a:xfrm>
          <a:prstGeom prst="ellipse">
            <a:avLst/>
          </a:prstGeom>
          <a:solidFill>
            <a:schemeClr val="accent3"/>
          </a:solidFill>
          <a:ln/>
        </p:spPr>
      </p:sp>
      <p:pic>
        <p:nvPicPr>
          <p:cNvPr id="12" name="schools run by a single teacher — 33.8 lakh children icon" descr="schools run by a single teacher — 33.8 lakh children">    </p:cNvPr>
          <p:cNvPicPr>
            <a:picLocks noChangeAspect="1"/>
          </p:cNvPicPr>
          <p:nvPr/>
        </p:nvPicPr>
        <p:blipFill>
          <a:blip r:embed="rId2"/>
          <a:stretch>
            <a:fillRect/>
          </a:stretch>
        </p:blipFill>
        <p:spPr>
          <a:xfrm>
            <a:off x="3730752" y="2148840"/>
            <a:ext cx="274320" cy="274320"/>
          </a:xfrm>
          <a:prstGeom prst="rect">
            <a:avLst/>
          </a:prstGeom>
        </p:spPr>
      </p:pic>
      <p:sp>
        <p:nvSpPr>
          <p:cNvPr id="13" name="Text 9"/>
          <p:cNvSpPr txBox="1"/>
          <p:nvPr/>
        </p:nvSpPr>
        <p:spPr>
          <a:xfrm>
            <a:off x="3593592" y="267004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1,04,125</a:t>
            </a:r>
            <a:endParaRPr lang="en-US" sz="2800" dirty="0"/>
          </a:p>
        </p:txBody>
      </p:sp>
      <p:sp>
        <p:nvSpPr>
          <p:cNvPr id="14" name="Text 10"/>
          <p:cNvSpPr txBox="1"/>
          <p:nvPr/>
        </p:nvSpPr>
        <p:spPr>
          <a:xfrm>
            <a:off x="3593592" y="3218688"/>
            <a:ext cx="2240280" cy="548640"/>
          </a:xfrm>
          <a:prstGeom prst="rect">
            <a:avLst/>
          </a:prstGeom>
          <a:noFill/>
          <a:ln/>
        </p:spPr>
        <p:txBody>
          <a:bodyPr wrap="square" lIns="0" tIns="0" rIns="0" bIns="0" rtlCol="0" anchor="t"/>
          <a:lstStyle/>
          <a:p>
            <a:pPr indent="0" marL="0">
              <a:buNone/>
            </a:pPr>
            <a:r>
              <a:rPr lang="en-US" sz="1250" dirty="0">
                <a:solidFill>
                  <a:schemeClr val="accent6"/>
                </a:solidFill>
              </a:rPr>
              <a:t>schools run by a single teacher — 33.8 lakh children</a:t>
            </a:r>
            <a:endParaRPr lang="en-US" sz="1250" dirty="0"/>
          </a:p>
        </p:txBody>
      </p:sp>
      <p:sp>
        <p:nvSpPr>
          <p:cNvPr id="15" name="of schools still have no internet connection"/>
          <p:cNvSpPr/>
          <p:nvPr/>
        </p:nvSpPr>
        <p:spPr>
          <a:xfrm>
            <a:off x="6181344" y="1810512"/>
            <a:ext cx="2633472"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of schools still have no internet connection circle"/>
          <p:cNvSpPr/>
          <p:nvPr/>
        </p:nvSpPr>
        <p:spPr>
          <a:xfrm>
            <a:off x="6409944" y="2011680"/>
            <a:ext cx="548640" cy="548640"/>
          </a:xfrm>
          <a:prstGeom prst="ellipse">
            <a:avLst/>
          </a:prstGeom>
          <a:solidFill>
            <a:schemeClr val="accent2"/>
          </a:solidFill>
          <a:ln/>
        </p:spPr>
      </p:sp>
      <p:pic>
        <p:nvPicPr>
          <p:cNvPr id="17" name="of schools still have no internet connection icon" descr="of schools still have no internet connection">    </p:cNvPr>
          <p:cNvPicPr>
            <a:picLocks noChangeAspect="1"/>
          </p:cNvPicPr>
          <p:nvPr/>
        </p:nvPicPr>
        <p:blipFill>
          <a:blip r:embed="rId3"/>
          <a:stretch>
            <a:fillRect/>
          </a:stretch>
        </p:blipFill>
        <p:spPr>
          <a:xfrm>
            <a:off x="6547104" y="2148840"/>
            <a:ext cx="274320" cy="274320"/>
          </a:xfrm>
          <a:prstGeom prst="rect">
            <a:avLst/>
          </a:prstGeom>
        </p:spPr>
      </p:pic>
      <p:sp>
        <p:nvSpPr>
          <p:cNvPr id="18" name="Text 13"/>
          <p:cNvSpPr txBox="1"/>
          <p:nvPr/>
        </p:nvSpPr>
        <p:spPr>
          <a:xfrm>
            <a:off x="6409944" y="267004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~36%</a:t>
            </a:r>
            <a:endParaRPr lang="en-US" sz="2800" dirty="0"/>
          </a:p>
        </p:txBody>
      </p:sp>
      <p:sp>
        <p:nvSpPr>
          <p:cNvPr id="19" name="Text 14"/>
          <p:cNvSpPr txBox="1"/>
          <p:nvPr/>
        </p:nvSpPr>
        <p:spPr>
          <a:xfrm>
            <a:off x="6409944" y="3218688"/>
            <a:ext cx="2240280" cy="548640"/>
          </a:xfrm>
          <a:prstGeom prst="rect">
            <a:avLst/>
          </a:prstGeom>
          <a:noFill/>
          <a:ln/>
        </p:spPr>
        <p:txBody>
          <a:bodyPr wrap="square" lIns="0" tIns="0" rIns="0" bIns="0" rtlCol="0" anchor="t"/>
          <a:lstStyle/>
          <a:p>
            <a:pPr indent="0" marL="0">
              <a:buNone/>
            </a:pPr>
            <a:r>
              <a:rPr lang="en-US" sz="1250" dirty="0">
                <a:solidFill>
                  <a:schemeClr val="accent6"/>
                </a:solidFill>
              </a:rPr>
              <a:t>of schools still have no internet connection</a:t>
            </a:r>
            <a:endParaRPr lang="en-US" sz="1250" dirty="0"/>
          </a:p>
        </p:txBody>
      </p:sp>
      <p:sp>
        <p:nvSpPr>
          <p:cNvPr id="20" name="rural schools trail urban schools in internet access"/>
          <p:cNvSpPr/>
          <p:nvPr/>
        </p:nvSpPr>
        <p:spPr>
          <a:xfrm>
            <a:off x="8997696" y="1810512"/>
            <a:ext cx="2633472"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rural schools trail urban schools in internet access circle"/>
          <p:cNvSpPr/>
          <p:nvPr/>
        </p:nvSpPr>
        <p:spPr>
          <a:xfrm>
            <a:off x="9226296" y="2011680"/>
            <a:ext cx="548640" cy="548640"/>
          </a:xfrm>
          <a:prstGeom prst="ellipse">
            <a:avLst/>
          </a:prstGeom>
          <a:solidFill>
            <a:schemeClr val="accent5"/>
          </a:solidFill>
          <a:ln/>
        </p:spPr>
      </p:sp>
      <p:pic>
        <p:nvPicPr>
          <p:cNvPr id="22" name="rural schools trail urban schools in internet access icon" descr="rural schools trail urban schools in internet access">    </p:cNvPr>
          <p:cNvPicPr>
            <a:picLocks noChangeAspect="1"/>
          </p:cNvPicPr>
          <p:nvPr/>
        </p:nvPicPr>
        <p:blipFill>
          <a:blip r:embed="rId4"/>
          <a:stretch>
            <a:fillRect/>
          </a:stretch>
        </p:blipFill>
        <p:spPr>
          <a:xfrm>
            <a:off x="9363456" y="2148840"/>
            <a:ext cx="274320" cy="274320"/>
          </a:xfrm>
          <a:prstGeom prst="rect">
            <a:avLst/>
          </a:prstGeom>
        </p:spPr>
      </p:pic>
      <p:sp>
        <p:nvSpPr>
          <p:cNvPr id="23" name="Text 17"/>
          <p:cNvSpPr txBox="1"/>
          <p:nvPr/>
        </p:nvSpPr>
        <p:spPr>
          <a:xfrm>
            <a:off x="9226296" y="267004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29 points</a:t>
            </a:r>
            <a:endParaRPr lang="en-US" sz="2800" dirty="0"/>
          </a:p>
        </p:txBody>
      </p:sp>
      <p:sp>
        <p:nvSpPr>
          <p:cNvPr id="24" name="Text 18"/>
          <p:cNvSpPr txBox="1"/>
          <p:nvPr/>
        </p:nvSpPr>
        <p:spPr>
          <a:xfrm>
            <a:off x="9226296" y="3218688"/>
            <a:ext cx="2240280" cy="548640"/>
          </a:xfrm>
          <a:prstGeom prst="rect">
            <a:avLst/>
          </a:prstGeom>
          <a:noFill/>
          <a:ln/>
        </p:spPr>
        <p:txBody>
          <a:bodyPr wrap="square" lIns="0" tIns="0" rIns="0" bIns="0" rtlCol="0" anchor="t"/>
          <a:lstStyle/>
          <a:p>
            <a:pPr indent="0" marL="0">
              <a:buNone/>
            </a:pPr>
            <a:r>
              <a:rPr lang="en-US" sz="1250" dirty="0">
                <a:solidFill>
                  <a:schemeClr val="accent6"/>
                </a:solidFill>
              </a:rPr>
              <a:t>rural schools trail urban schools in internet access</a:t>
            </a:r>
            <a:endParaRPr lang="en-US" sz="1250" dirty="0"/>
          </a:p>
        </p:txBody>
      </p:sp>
      <p:sp>
        <p:nvSpPr>
          <p:cNvPr id="25" name="Text 19"/>
          <p:cNvSpPr txBox="1"/>
          <p:nvPr/>
        </p:nvSpPr>
        <p:spPr>
          <a:xfrm>
            <a:off x="548640" y="4023360"/>
            <a:ext cx="73152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WHAT THIS MEANS FOR A VILLAGE CHILD</a:t>
            </a:r>
            <a:endParaRPr lang="en-US" sz="1200" dirty="0"/>
          </a:p>
        </p:txBody>
      </p:sp>
      <p:sp>
        <p:nvSpPr>
          <p:cNvPr id="26" name="One teacher, many classes"/>
          <p:cNvSpPr/>
          <p:nvPr/>
        </p:nvSpPr>
        <p:spPr>
          <a:xfrm>
            <a:off x="548640" y="4389120"/>
            <a:ext cx="2633472" cy="1481328"/>
          </a:xfrm>
          <a:prstGeom prst="roundRect">
            <a:avLst>
              <a:gd name="adj" fmla="val 7407"/>
            </a:avLst>
          </a:prstGeom>
          <a:solidFill>
            <a:schemeClr val="accent3">
              <a:alpha val="9000"/>
            </a:schemeClr>
          </a:solidFill>
          <a:ln/>
        </p:spPr>
      </p:sp>
      <p:sp>
        <p:nvSpPr>
          <p:cNvPr id="27" name="One teacher, many classes circle"/>
          <p:cNvSpPr/>
          <p:nvPr/>
        </p:nvSpPr>
        <p:spPr>
          <a:xfrm>
            <a:off x="731520" y="4526280"/>
            <a:ext cx="457200" cy="457200"/>
          </a:xfrm>
          <a:prstGeom prst="ellipse">
            <a:avLst/>
          </a:prstGeom>
          <a:solidFill>
            <a:schemeClr val="accent3"/>
          </a:solidFill>
          <a:ln/>
        </p:spPr>
      </p:sp>
      <p:pic>
        <p:nvPicPr>
          <p:cNvPr id="28" name="One teacher, many classes icon" descr="One teacher, many classes">    </p:cNvPr>
          <p:cNvPicPr>
            <a:picLocks noChangeAspect="1"/>
          </p:cNvPicPr>
          <p:nvPr/>
        </p:nvPicPr>
        <p:blipFill>
          <a:blip r:embed="rId5"/>
          <a:stretch>
            <a:fillRect/>
          </a:stretch>
        </p:blipFill>
        <p:spPr>
          <a:xfrm>
            <a:off x="845820" y="4640580"/>
            <a:ext cx="228600" cy="228600"/>
          </a:xfrm>
          <a:prstGeom prst="rect">
            <a:avLst/>
          </a:prstGeom>
        </p:spPr>
      </p:pic>
      <p:sp>
        <p:nvSpPr>
          <p:cNvPr id="29" name="Text 22"/>
          <p:cNvSpPr txBox="1"/>
          <p:nvPr/>
        </p:nvSpPr>
        <p:spPr>
          <a:xfrm>
            <a:off x="1325880" y="4498848"/>
            <a:ext cx="1783080" cy="530352"/>
          </a:xfrm>
          <a:prstGeom prst="rect">
            <a:avLst/>
          </a:prstGeom>
          <a:noFill/>
          <a:ln/>
        </p:spPr>
        <p:txBody>
          <a:bodyPr wrap="square" lIns="0" tIns="0" rIns="0" bIns="0" rtlCol="0" anchor="ctr"/>
          <a:lstStyle/>
          <a:p>
            <a:pPr indent="0" marL="0">
              <a:buNone/>
            </a:pPr>
            <a:r>
              <a:rPr lang="en-US" sz="1350" b="1" dirty="0">
                <a:solidFill>
                  <a:schemeClr val="tx2"/>
                </a:solidFill>
              </a:rPr>
              <a:t>One teacher, many classes</a:t>
            </a:r>
            <a:endParaRPr lang="en-US" sz="1350" dirty="0"/>
          </a:p>
        </p:txBody>
      </p:sp>
      <p:sp>
        <p:nvSpPr>
          <p:cNvPr id="30" name="Text 23"/>
          <p:cNvSpPr txBox="1"/>
          <p:nvPr/>
        </p:nvSpPr>
        <p:spPr>
          <a:xfrm>
            <a:off x="731520" y="5074920"/>
            <a:ext cx="2286000" cy="731520"/>
          </a:xfrm>
          <a:prstGeom prst="rect">
            <a:avLst/>
          </a:prstGeom>
          <a:noFill/>
          <a:ln/>
        </p:spPr>
        <p:txBody>
          <a:bodyPr wrap="square" lIns="0" tIns="0" rIns="0" bIns="0" rtlCol="0" anchor="t"/>
          <a:lstStyle/>
          <a:p>
            <a:pPr indent="0" marL="0">
              <a:buNone/>
            </a:pPr>
            <a:r>
              <a:rPr lang="en-US" sz="1250" dirty="0">
                <a:solidFill>
                  <a:schemeClr val="tx1"/>
                </a:solidFill>
              </a:rPr>
              <a:t>Classes 1 to 5 together; little time for any one child.</a:t>
            </a:r>
            <a:endParaRPr lang="en-US" sz="1250" dirty="0"/>
          </a:p>
        </p:txBody>
      </p:sp>
      <p:sp>
        <p:nvSpPr>
          <p:cNvPr id="31" name="Home language ≠ textbook"/>
          <p:cNvSpPr/>
          <p:nvPr/>
        </p:nvSpPr>
        <p:spPr>
          <a:xfrm>
            <a:off x="3364992" y="4389120"/>
            <a:ext cx="2633472" cy="1481328"/>
          </a:xfrm>
          <a:prstGeom prst="roundRect">
            <a:avLst>
              <a:gd name="adj" fmla="val 7407"/>
            </a:avLst>
          </a:prstGeom>
          <a:solidFill>
            <a:schemeClr val="accent3">
              <a:alpha val="9000"/>
            </a:schemeClr>
          </a:solidFill>
          <a:ln/>
        </p:spPr>
      </p:sp>
      <p:sp>
        <p:nvSpPr>
          <p:cNvPr id="32" name="Home language ≠ textbook circle"/>
          <p:cNvSpPr/>
          <p:nvPr/>
        </p:nvSpPr>
        <p:spPr>
          <a:xfrm>
            <a:off x="3547872" y="4526280"/>
            <a:ext cx="457200" cy="457200"/>
          </a:xfrm>
          <a:prstGeom prst="ellipse">
            <a:avLst/>
          </a:prstGeom>
          <a:solidFill>
            <a:schemeClr val="accent3"/>
          </a:solidFill>
          <a:ln/>
        </p:spPr>
      </p:sp>
      <p:pic>
        <p:nvPicPr>
          <p:cNvPr id="33" name="Home language ≠ textbook icon" descr="Home language ≠ textbook">    </p:cNvPr>
          <p:cNvPicPr>
            <a:picLocks noChangeAspect="1"/>
          </p:cNvPicPr>
          <p:nvPr/>
        </p:nvPicPr>
        <p:blipFill>
          <a:blip r:embed="rId6"/>
          <a:stretch>
            <a:fillRect/>
          </a:stretch>
        </p:blipFill>
        <p:spPr>
          <a:xfrm>
            <a:off x="3662172" y="4640580"/>
            <a:ext cx="228600" cy="228600"/>
          </a:xfrm>
          <a:prstGeom prst="rect">
            <a:avLst/>
          </a:prstGeom>
        </p:spPr>
      </p:pic>
      <p:sp>
        <p:nvSpPr>
          <p:cNvPr id="34" name="Text 26"/>
          <p:cNvSpPr txBox="1"/>
          <p:nvPr/>
        </p:nvSpPr>
        <p:spPr>
          <a:xfrm>
            <a:off x="4142232" y="4498848"/>
            <a:ext cx="1783080" cy="530352"/>
          </a:xfrm>
          <a:prstGeom prst="rect">
            <a:avLst/>
          </a:prstGeom>
          <a:noFill/>
          <a:ln/>
        </p:spPr>
        <p:txBody>
          <a:bodyPr wrap="square" lIns="0" tIns="0" rIns="0" bIns="0" rtlCol="0" anchor="ctr"/>
          <a:lstStyle/>
          <a:p>
            <a:pPr indent="0" marL="0">
              <a:buNone/>
            </a:pPr>
            <a:r>
              <a:rPr lang="en-US" sz="1350" b="1" dirty="0">
                <a:solidFill>
                  <a:schemeClr val="tx2"/>
                </a:solidFill>
              </a:rPr>
              <a:t>Home language ≠ textbook</a:t>
            </a:r>
            <a:endParaRPr lang="en-US" sz="1350" dirty="0"/>
          </a:p>
        </p:txBody>
      </p:sp>
      <p:sp>
        <p:nvSpPr>
          <p:cNvPr id="35" name="Text 27"/>
          <p:cNvSpPr txBox="1"/>
          <p:nvPr/>
        </p:nvSpPr>
        <p:spPr>
          <a:xfrm>
            <a:off x="3547872" y="5074920"/>
            <a:ext cx="2286000" cy="731520"/>
          </a:xfrm>
          <a:prstGeom prst="rect">
            <a:avLst/>
          </a:prstGeom>
          <a:noFill/>
          <a:ln/>
        </p:spPr>
        <p:txBody>
          <a:bodyPr wrap="square" lIns="0" tIns="0" rIns="0" bIns="0" rtlCol="0" anchor="t"/>
          <a:lstStyle/>
          <a:p>
            <a:pPr indent="0" marL="0">
              <a:buNone/>
            </a:pPr>
            <a:r>
              <a:rPr lang="en-US" sz="1250" dirty="0">
                <a:solidFill>
                  <a:schemeClr val="tx1"/>
                </a:solidFill>
              </a:rPr>
              <a:t>Many children don't speak the textbook language at home.</a:t>
            </a:r>
            <a:endParaRPr lang="en-US" sz="1250" dirty="0"/>
          </a:p>
        </p:txBody>
      </p:sp>
      <p:sp>
        <p:nvSpPr>
          <p:cNvPr id="36" name="No tuition or coaching nearby"/>
          <p:cNvSpPr/>
          <p:nvPr/>
        </p:nvSpPr>
        <p:spPr>
          <a:xfrm>
            <a:off x="6181344" y="4389120"/>
            <a:ext cx="2633472" cy="1481328"/>
          </a:xfrm>
          <a:prstGeom prst="roundRect">
            <a:avLst>
              <a:gd name="adj" fmla="val 7407"/>
            </a:avLst>
          </a:prstGeom>
          <a:solidFill>
            <a:schemeClr val="accent3">
              <a:alpha val="9000"/>
            </a:schemeClr>
          </a:solidFill>
          <a:ln/>
        </p:spPr>
      </p:sp>
      <p:sp>
        <p:nvSpPr>
          <p:cNvPr id="37" name="No tuition or coaching nearby circle"/>
          <p:cNvSpPr/>
          <p:nvPr/>
        </p:nvSpPr>
        <p:spPr>
          <a:xfrm>
            <a:off x="6364224" y="4526280"/>
            <a:ext cx="457200" cy="457200"/>
          </a:xfrm>
          <a:prstGeom prst="ellipse">
            <a:avLst/>
          </a:prstGeom>
          <a:solidFill>
            <a:schemeClr val="accent3"/>
          </a:solidFill>
          <a:ln/>
        </p:spPr>
      </p:sp>
      <p:pic>
        <p:nvPicPr>
          <p:cNvPr id="38" name="No tuition or coaching nearby icon" descr="No tuition or coaching nearby">    </p:cNvPr>
          <p:cNvPicPr>
            <a:picLocks noChangeAspect="1"/>
          </p:cNvPicPr>
          <p:nvPr/>
        </p:nvPicPr>
        <p:blipFill>
          <a:blip r:embed="rId7"/>
          <a:stretch>
            <a:fillRect/>
          </a:stretch>
        </p:blipFill>
        <p:spPr>
          <a:xfrm>
            <a:off x="6478524" y="4640580"/>
            <a:ext cx="228600" cy="228600"/>
          </a:xfrm>
          <a:prstGeom prst="rect">
            <a:avLst/>
          </a:prstGeom>
        </p:spPr>
      </p:pic>
      <p:sp>
        <p:nvSpPr>
          <p:cNvPr id="39" name="Text 30"/>
          <p:cNvSpPr txBox="1"/>
          <p:nvPr/>
        </p:nvSpPr>
        <p:spPr>
          <a:xfrm>
            <a:off x="6958584" y="4498848"/>
            <a:ext cx="1783080" cy="530352"/>
          </a:xfrm>
          <a:prstGeom prst="rect">
            <a:avLst/>
          </a:prstGeom>
          <a:noFill/>
          <a:ln/>
        </p:spPr>
        <p:txBody>
          <a:bodyPr wrap="square" lIns="0" tIns="0" rIns="0" bIns="0" rtlCol="0" anchor="ctr"/>
          <a:lstStyle/>
          <a:p>
            <a:pPr indent="0" marL="0">
              <a:buNone/>
            </a:pPr>
            <a:r>
              <a:rPr lang="en-US" sz="1350" b="1" dirty="0">
                <a:solidFill>
                  <a:schemeClr val="tx2"/>
                </a:solidFill>
              </a:rPr>
              <a:t>No tuition or coaching nearby</a:t>
            </a:r>
            <a:endParaRPr lang="en-US" sz="1350" dirty="0"/>
          </a:p>
        </p:txBody>
      </p:sp>
      <p:sp>
        <p:nvSpPr>
          <p:cNvPr id="40" name="Text 31"/>
          <p:cNvSpPr txBox="1"/>
          <p:nvPr/>
        </p:nvSpPr>
        <p:spPr>
          <a:xfrm>
            <a:off x="6364224" y="5074920"/>
            <a:ext cx="2286000" cy="731520"/>
          </a:xfrm>
          <a:prstGeom prst="rect">
            <a:avLst/>
          </a:prstGeom>
          <a:noFill/>
          <a:ln/>
        </p:spPr>
        <p:txBody>
          <a:bodyPr wrap="square" lIns="0" tIns="0" rIns="0" bIns="0" rtlCol="0" anchor="t"/>
          <a:lstStyle/>
          <a:p>
            <a:pPr indent="0" marL="0">
              <a:buNone/>
            </a:pPr>
            <a:r>
              <a:rPr lang="en-US" sz="1250" dirty="0">
                <a:solidFill>
                  <a:schemeClr val="tx1"/>
                </a:solidFill>
              </a:rPr>
              <a:t>JEE or NEET coaching means moving to a city.</a:t>
            </a:r>
            <a:endParaRPr lang="en-US" sz="1250" dirty="0"/>
          </a:p>
        </p:txBody>
      </p:sp>
      <p:sp>
        <p:nvSpPr>
          <p:cNvPr id="41" name="Days lost every year"/>
          <p:cNvSpPr/>
          <p:nvPr/>
        </p:nvSpPr>
        <p:spPr>
          <a:xfrm>
            <a:off x="8997696" y="4389120"/>
            <a:ext cx="2633472" cy="1481328"/>
          </a:xfrm>
          <a:prstGeom prst="roundRect">
            <a:avLst>
              <a:gd name="adj" fmla="val 7407"/>
            </a:avLst>
          </a:prstGeom>
          <a:solidFill>
            <a:schemeClr val="accent3">
              <a:alpha val="9000"/>
            </a:schemeClr>
          </a:solidFill>
          <a:ln/>
        </p:spPr>
      </p:sp>
      <p:sp>
        <p:nvSpPr>
          <p:cNvPr id="42" name="Days lost every year circle"/>
          <p:cNvSpPr/>
          <p:nvPr/>
        </p:nvSpPr>
        <p:spPr>
          <a:xfrm>
            <a:off x="9180576" y="4526280"/>
            <a:ext cx="457200" cy="457200"/>
          </a:xfrm>
          <a:prstGeom prst="ellipse">
            <a:avLst/>
          </a:prstGeom>
          <a:solidFill>
            <a:schemeClr val="accent3"/>
          </a:solidFill>
          <a:ln/>
        </p:spPr>
      </p:sp>
      <p:pic>
        <p:nvPicPr>
          <p:cNvPr id="43" name="Days lost every year icon" descr="Days lost every year">    </p:cNvPr>
          <p:cNvPicPr>
            <a:picLocks noChangeAspect="1"/>
          </p:cNvPicPr>
          <p:nvPr/>
        </p:nvPicPr>
        <p:blipFill>
          <a:blip r:embed="rId8"/>
          <a:stretch>
            <a:fillRect/>
          </a:stretch>
        </p:blipFill>
        <p:spPr>
          <a:xfrm>
            <a:off x="9294876" y="4640580"/>
            <a:ext cx="228600" cy="228600"/>
          </a:xfrm>
          <a:prstGeom prst="rect">
            <a:avLst/>
          </a:prstGeom>
        </p:spPr>
      </p:pic>
      <p:sp>
        <p:nvSpPr>
          <p:cNvPr id="44" name="Text 34"/>
          <p:cNvSpPr txBox="1"/>
          <p:nvPr/>
        </p:nvSpPr>
        <p:spPr>
          <a:xfrm>
            <a:off x="9774936" y="4498848"/>
            <a:ext cx="1783080" cy="530352"/>
          </a:xfrm>
          <a:prstGeom prst="rect">
            <a:avLst/>
          </a:prstGeom>
          <a:noFill/>
          <a:ln/>
        </p:spPr>
        <p:txBody>
          <a:bodyPr wrap="square" lIns="0" tIns="0" rIns="0" bIns="0" rtlCol="0" anchor="ctr"/>
          <a:lstStyle/>
          <a:p>
            <a:pPr indent="0" marL="0">
              <a:buNone/>
            </a:pPr>
            <a:r>
              <a:rPr lang="en-US" sz="1350" b="1" dirty="0">
                <a:solidFill>
                  <a:schemeClr val="tx2"/>
                </a:solidFill>
              </a:rPr>
              <a:t>Days lost every year</a:t>
            </a:r>
            <a:endParaRPr lang="en-US" sz="1350" dirty="0"/>
          </a:p>
        </p:txBody>
      </p:sp>
      <p:sp>
        <p:nvSpPr>
          <p:cNvPr id="45" name="Text 35"/>
          <p:cNvSpPr txBox="1"/>
          <p:nvPr/>
        </p:nvSpPr>
        <p:spPr>
          <a:xfrm>
            <a:off x="9180576" y="5074920"/>
            <a:ext cx="2286000" cy="731520"/>
          </a:xfrm>
          <a:prstGeom prst="rect">
            <a:avLst/>
          </a:prstGeom>
          <a:noFill/>
          <a:ln/>
        </p:spPr>
        <p:txBody>
          <a:bodyPr wrap="square" lIns="0" tIns="0" rIns="0" bIns="0" rtlCol="0" anchor="t"/>
          <a:lstStyle/>
          <a:p>
            <a:pPr indent="0" marL="0">
              <a:buNone/>
            </a:pPr>
            <a:r>
              <a:rPr lang="en-US" sz="1250" dirty="0">
                <a:solidFill>
                  <a:schemeClr val="tx1"/>
                </a:solidFill>
              </a:rPr>
              <a:t>Rain, harvest, migration and teacher leave close classes.</a:t>
            </a:r>
            <a:endParaRPr lang="en-US" sz="1250" dirty="0"/>
          </a:p>
        </p:txBody>
      </p:sp>
      <p:sp>
        <p:nvSpPr>
          <p:cNvPr id="46" name="Text 36"/>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Source: UDISE+ 2024-25 data, as analysed by Education for All in India (2025). Rural–urban gap is in internet connectivity.</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SOLUTION</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What is AI Gurukul?</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One AI-enabled platform where AI works in every part of school life — not as an add-on.</a:t>
            </a:r>
            <a:endParaRPr lang="en-US" sz="1600" dirty="0"/>
          </a:p>
        </p:txBody>
      </p:sp>
      <p:sp>
        <p:nvSpPr>
          <p:cNvPr id="5" name="Text 3"/>
          <p:cNvSpPr txBox="1"/>
          <p:nvPr/>
        </p:nvSpPr>
        <p:spPr>
          <a:xfrm>
            <a:off x="548640" y="1920240"/>
            <a:ext cx="4754880" cy="2194560"/>
          </a:xfrm>
          <a:prstGeom prst="rect">
            <a:avLst/>
          </a:prstGeom>
          <a:noFill/>
          <a:ln/>
        </p:spPr>
        <p:txBody>
          <a:bodyPr wrap="square" lIns="0" tIns="0" rIns="0" bIns="0" rtlCol="0" anchor="t"/>
          <a:lstStyle/>
          <a:p>
            <a:pPr indent="0" marL="0">
              <a:buNone/>
            </a:pPr>
            <a:r>
              <a:rPr lang="en-US" sz="2000" b="1" dirty="0">
                <a:solidFill>
                  <a:schemeClr val="tx2"/>
                </a:solidFill>
              </a:rPr>
              <a:t>AI Gurukul is a complete school platform with an AI brain.</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It runs daily school work, helps teachers teach better, gives every student a personal tutor, prepares them for exams and careers, and shows leaders exactly what is happening — live.</a:t>
            </a:r>
            <a:endParaRPr lang="en-US" sz="1500" dirty="0"/>
          </a:p>
        </p:txBody>
      </p:sp>
      <p:sp>
        <p:nvSpPr>
          <p:cNvPr id="6" name="Text 4"/>
          <p:cNvSpPr txBox="1"/>
          <p:nvPr/>
        </p:nvSpPr>
        <p:spPr>
          <a:xfrm>
            <a:off x="548640" y="4343400"/>
            <a:ext cx="4572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BUILT FOR</a:t>
            </a:r>
            <a:endParaRPr lang="en-US" sz="1200" dirty="0"/>
          </a:p>
        </p:txBody>
      </p:sp>
      <p:sp>
        <p:nvSpPr>
          <p:cNvPr id="7" name="Government schools circle"/>
          <p:cNvSpPr/>
          <p:nvPr/>
        </p:nvSpPr>
        <p:spPr>
          <a:xfrm>
            <a:off x="548640" y="4663440"/>
            <a:ext cx="384048" cy="384048"/>
          </a:xfrm>
          <a:prstGeom prst="ellipse">
            <a:avLst/>
          </a:prstGeom>
          <a:solidFill>
            <a:schemeClr val="accent1"/>
          </a:solidFill>
          <a:ln/>
        </p:spPr>
      </p:sp>
      <p:pic>
        <p:nvPicPr>
          <p:cNvPr id="8" name="Government schools icon" descr="Government schools">    </p:cNvPr>
          <p:cNvPicPr>
            <a:picLocks noChangeAspect="1"/>
          </p:cNvPicPr>
          <p:nvPr/>
        </p:nvPicPr>
        <p:blipFill>
          <a:blip r:embed="rId1"/>
          <a:stretch>
            <a:fillRect/>
          </a:stretch>
        </p:blipFill>
        <p:spPr>
          <a:xfrm>
            <a:off x="644652" y="4759452"/>
            <a:ext cx="192024" cy="192024"/>
          </a:xfrm>
          <a:prstGeom prst="rect">
            <a:avLst/>
          </a:prstGeom>
        </p:spPr>
      </p:pic>
      <p:sp>
        <p:nvSpPr>
          <p:cNvPr id="9" name="Text 6"/>
          <p:cNvSpPr txBox="1"/>
          <p:nvPr/>
        </p:nvSpPr>
        <p:spPr>
          <a:xfrm>
            <a:off x="1097280" y="4663440"/>
            <a:ext cx="3657600" cy="384048"/>
          </a:xfrm>
          <a:prstGeom prst="rect">
            <a:avLst/>
          </a:prstGeom>
          <a:noFill/>
          <a:ln/>
        </p:spPr>
        <p:txBody>
          <a:bodyPr wrap="square" lIns="0" tIns="0" rIns="0" bIns="0" rtlCol="0" anchor="ctr"/>
          <a:lstStyle/>
          <a:p>
            <a:pPr indent="0" marL="0">
              <a:buNone/>
            </a:pPr>
            <a:r>
              <a:rPr lang="en-US" sz="1500" b="1" dirty="0">
                <a:solidFill>
                  <a:schemeClr val="tx2"/>
                </a:solidFill>
              </a:rPr>
              <a:t>Government schools</a:t>
            </a:r>
            <a:endParaRPr lang="en-US" sz="1500" dirty="0"/>
          </a:p>
        </p:txBody>
      </p:sp>
      <p:sp>
        <p:nvSpPr>
          <p:cNvPr id="10" name="Private schools circle"/>
          <p:cNvSpPr/>
          <p:nvPr/>
        </p:nvSpPr>
        <p:spPr>
          <a:xfrm>
            <a:off x="548640" y="5166360"/>
            <a:ext cx="384048" cy="384048"/>
          </a:xfrm>
          <a:prstGeom prst="ellipse">
            <a:avLst/>
          </a:prstGeom>
          <a:solidFill>
            <a:schemeClr val="accent2"/>
          </a:solidFill>
          <a:ln/>
        </p:spPr>
      </p:sp>
      <p:pic>
        <p:nvPicPr>
          <p:cNvPr id="11" name="Private schools icon" descr="Private schools">    </p:cNvPr>
          <p:cNvPicPr>
            <a:picLocks noChangeAspect="1"/>
          </p:cNvPicPr>
          <p:nvPr/>
        </p:nvPicPr>
        <p:blipFill>
          <a:blip r:embed="rId2"/>
          <a:stretch>
            <a:fillRect/>
          </a:stretch>
        </p:blipFill>
        <p:spPr>
          <a:xfrm>
            <a:off x="644652" y="5262372"/>
            <a:ext cx="192024" cy="192024"/>
          </a:xfrm>
          <a:prstGeom prst="rect">
            <a:avLst/>
          </a:prstGeom>
        </p:spPr>
      </p:pic>
      <p:sp>
        <p:nvSpPr>
          <p:cNvPr id="12" name="Text 8"/>
          <p:cNvSpPr txBox="1"/>
          <p:nvPr/>
        </p:nvSpPr>
        <p:spPr>
          <a:xfrm>
            <a:off x="1097280" y="5166360"/>
            <a:ext cx="3657600" cy="384048"/>
          </a:xfrm>
          <a:prstGeom prst="rect">
            <a:avLst/>
          </a:prstGeom>
          <a:noFill/>
          <a:ln/>
        </p:spPr>
        <p:txBody>
          <a:bodyPr wrap="square" lIns="0" tIns="0" rIns="0" bIns="0" rtlCol="0" anchor="ctr"/>
          <a:lstStyle/>
          <a:p>
            <a:pPr indent="0" marL="0">
              <a:buNone/>
            </a:pPr>
            <a:r>
              <a:rPr lang="en-US" sz="1500" b="1" dirty="0">
                <a:solidFill>
                  <a:schemeClr val="tx2"/>
                </a:solidFill>
              </a:rPr>
              <a:t>Private schools</a:t>
            </a:r>
            <a:endParaRPr lang="en-US" sz="1500" dirty="0"/>
          </a:p>
        </p:txBody>
      </p:sp>
      <p:sp>
        <p:nvSpPr>
          <p:cNvPr id="13" name="Edtech and coaching circle"/>
          <p:cNvSpPr/>
          <p:nvPr/>
        </p:nvSpPr>
        <p:spPr>
          <a:xfrm>
            <a:off x="548640" y="5669280"/>
            <a:ext cx="384048" cy="384048"/>
          </a:xfrm>
          <a:prstGeom prst="ellipse">
            <a:avLst/>
          </a:prstGeom>
          <a:solidFill>
            <a:schemeClr val="accent3"/>
          </a:solidFill>
          <a:ln/>
        </p:spPr>
      </p:sp>
      <p:pic>
        <p:nvPicPr>
          <p:cNvPr id="14" name="Edtech and coaching icon" descr="Edtech and coaching">    </p:cNvPr>
          <p:cNvPicPr>
            <a:picLocks noChangeAspect="1"/>
          </p:cNvPicPr>
          <p:nvPr/>
        </p:nvPicPr>
        <p:blipFill>
          <a:blip r:embed="rId3"/>
          <a:stretch>
            <a:fillRect/>
          </a:stretch>
        </p:blipFill>
        <p:spPr>
          <a:xfrm>
            <a:off x="644652" y="5765292"/>
            <a:ext cx="192024" cy="192024"/>
          </a:xfrm>
          <a:prstGeom prst="rect">
            <a:avLst/>
          </a:prstGeom>
        </p:spPr>
      </p:pic>
      <p:sp>
        <p:nvSpPr>
          <p:cNvPr id="15" name="Text 10"/>
          <p:cNvSpPr txBox="1"/>
          <p:nvPr/>
        </p:nvSpPr>
        <p:spPr>
          <a:xfrm>
            <a:off x="1097280" y="5669280"/>
            <a:ext cx="3657600" cy="384048"/>
          </a:xfrm>
          <a:prstGeom prst="rect">
            <a:avLst/>
          </a:prstGeom>
          <a:noFill/>
          <a:ln/>
        </p:spPr>
        <p:txBody>
          <a:bodyPr wrap="square" lIns="0" tIns="0" rIns="0" bIns="0" rtlCol="0" anchor="ctr"/>
          <a:lstStyle/>
          <a:p>
            <a:pPr indent="0" marL="0">
              <a:buNone/>
            </a:pPr>
            <a:r>
              <a:rPr lang="en-US" sz="1500" b="1" dirty="0">
                <a:solidFill>
                  <a:schemeClr val="tx2"/>
                </a:solidFill>
              </a:rPr>
              <a:t>Edtech and coaching</a:t>
            </a:r>
            <a:endParaRPr lang="en-US" sz="1500" dirty="0"/>
          </a:p>
        </p:txBody>
      </p:sp>
      <p:sp>
        <p:nvSpPr>
          <p:cNvPr id="16" name="ring"/>
          <p:cNvSpPr/>
          <p:nvPr/>
        </p:nvSpPr>
        <p:spPr>
          <a:xfrm>
            <a:off x="6583680" y="2011680"/>
            <a:ext cx="4297680" cy="3840480"/>
          </a:xfrm>
          <a:prstGeom prst="ellipse">
            <a:avLst/>
          </a:prstGeom>
          <a:ln w="15875">
            <a:solidFill>
              <a:srgbClr val="5E6B7D"/>
            </a:solidFill>
            <a:prstDash val="dash"/>
          </a:ln>
        </p:spPr>
      </p:sp>
      <p:sp>
        <p:nvSpPr>
          <p:cNvPr id="17" name="AI core"/>
          <p:cNvSpPr/>
          <p:nvPr/>
        </p:nvSpPr>
        <p:spPr>
          <a:xfrm>
            <a:off x="7863840" y="3063240"/>
            <a:ext cx="1737360" cy="1737360"/>
          </a:xfrm>
          <a:prstGeom prst="ellipse">
            <a:avLst/>
          </a:prstGeom>
          <a:solidFill>
            <a:schemeClr val="tx2"/>
          </a:solidFill>
          <a:ln/>
        </p:spPr>
      </p:sp>
      <p:sp>
        <p:nvSpPr>
          <p:cNvPr id="18" name="Text 13"/>
          <p:cNvSpPr txBox="1"/>
          <p:nvPr/>
        </p:nvSpPr>
        <p:spPr>
          <a:xfrm>
            <a:off x="7909560" y="3474720"/>
            <a:ext cx="1645920" cy="914400"/>
          </a:xfrm>
          <a:prstGeom prst="rect">
            <a:avLst/>
          </a:prstGeom>
          <a:noFill/>
          <a:ln/>
        </p:spPr>
        <p:txBody>
          <a:bodyPr wrap="square" lIns="0" tIns="0" rIns="0" bIns="0" rtlCol="0" anchor="ctr"/>
          <a:lstStyle/>
          <a:p>
            <a:pPr algn="ctr" indent="0" marL="0">
              <a:buNone/>
            </a:pPr>
            <a:r>
              <a:rPr lang="en-US" sz="2000" b="1" dirty="0">
                <a:solidFill>
                  <a:schemeClr val="bg1"/>
                </a:solidFill>
              </a:rPr>
              <a:t>AI</a:t>
            </a:r>
            <a:endParaRPr lang="en-US" sz="2000" dirty="0"/>
          </a:p>
          <a:p>
            <a:pPr algn="ctr" indent="0" marL="0">
              <a:buNone/>
            </a:pPr>
            <a:r>
              <a:rPr lang="en-US" sz="2000" b="1" dirty="0">
                <a:solidFill>
                  <a:schemeClr val="bg1"/>
                </a:solidFill>
              </a:rPr>
              <a:t>core</a:t>
            </a:r>
            <a:endParaRPr lang="en-US" sz="2000" dirty="0"/>
          </a:p>
        </p:txBody>
      </p:sp>
      <p:sp>
        <p:nvSpPr>
          <p:cNvPr id="19" name="Smart school management"/>
          <p:cNvSpPr/>
          <p:nvPr/>
        </p:nvSpPr>
        <p:spPr>
          <a:xfrm>
            <a:off x="7635240" y="1682496"/>
            <a:ext cx="2194560" cy="658368"/>
          </a:xfrm>
          <a:prstGeom prst="roundRect">
            <a:avLst>
              <a:gd name="adj" fmla="val 16667"/>
            </a:avLst>
          </a:prstGeom>
          <a:solidFill>
            <a:schemeClr val="accent1"/>
          </a:solidFill>
          <a:ln/>
        </p:spPr>
      </p:sp>
      <p:sp>
        <p:nvSpPr>
          <p:cNvPr id="20" name="Text 15"/>
          <p:cNvSpPr txBox="1"/>
          <p:nvPr/>
        </p:nvSpPr>
        <p:spPr>
          <a:xfrm>
            <a:off x="7680960" y="1682496"/>
            <a:ext cx="2103120" cy="658368"/>
          </a:xfrm>
          <a:prstGeom prst="rect">
            <a:avLst/>
          </a:prstGeom>
          <a:noFill/>
          <a:ln/>
        </p:spPr>
        <p:txBody>
          <a:bodyPr wrap="square" lIns="0" tIns="0" rIns="0" bIns="0" rtlCol="0" anchor="ctr"/>
          <a:lstStyle/>
          <a:p>
            <a:pPr algn="ctr" indent="0" marL="0">
              <a:buNone/>
            </a:pPr>
            <a:r>
              <a:rPr lang="en-US" sz="1400" b="1" dirty="0">
                <a:solidFill>
                  <a:schemeClr val="bg1"/>
                </a:solidFill>
              </a:rPr>
              <a:t>Smart school management</a:t>
            </a:r>
            <a:endParaRPr lang="en-US" sz="1400" dirty="0"/>
          </a:p>
        </p:txBody>
      </p:sp>
      <p:sp>
        <p:nvSpPr>
          <p:cNvPr id="21" name="AI for teachers"/>
          <p:cNvSpPr/>
          <p:nvPr/>
        </p:nvSpPr>
        <p:spPr>
          <a:xfrm>
            <a:off x="9678908" y="3009349"/>
            <a:ext cx="2194560" cy="658368"/>
          </a:xfrm>
          <a:prstGeom prst="roundRect">
            <a:avLst>
              <a:gd name="adj" fmla="val 16667"/>
            </a:avLst>
          </a:prstGeom>
          <a:solidFill>
            <a:schemeClr val="accent2"/>
          </a:solidFill>
          <a:ln/>
        </p:spPr>
      </p:sp>
      <p:sp>
        <p:nvSpPr>
          <p:cNvPr id="22" name="Text 17"/>
          <p:cNvSpPr txBox="1"/>
          <p:nvPr/>
        </p:nvSpPr>
        <p:spPr>
          <a:xfrm>
            <a:off x="9724628" y="3009349"/>
            <a:ext cx="2103120" cy="658368"/>
          </a:xfrm>
          <a:prstGeom prst="rect">
            <a:avLst/>
          </a:prstGeom>
          <a:noFill/>
          <a:ln/>
        </p:spPr>
        <p:txBody>
          <a:bodyPr wrap="square" lIns="0" tIns="0" rIns="0" bIns="0" rtlCol="0" anchor="ctr"/>
          <a:lstStyle/>
          <a:p>
            <a:pPr algn="ctr" indent="0" marL="0">
              <a:buNone/>
            </a:pPr>
            <a:r>
              <a:rPr lang="en-US" sz="1400" b="1" dirty="0">
                <a:solidFill>
                  <a:schemeClr val="bg1"/>
                </a:solidFill>
              </a:rPr>
              <a:t>AI for teachers</a:t>
            </a:r>
            <a:endParaRPr lang="en-US" sz="1400" dirty="0"/>
          </a:p>
        </p:txBody>
      </p:sp>
      <p:sp>
        <p:nvSpPr>
          <p:cNvPr id="23" name="AI tutor for students"/>
          <p:cNvSpPr/>
          <p:nvPr/>
        </p:nvSpPr>
        <p:spPr>
          <a:xfrm>
            <a:off x="8898296" y="5156243"/>
            <a:ext cx="2194560" cy="658368"/>
          </a:xfrm>
          <a:prstGeom prst="roundRect">
            <a:avLst>
              <a:gd name="adj" fmla="val 16667"/>
            </a:avLst>
          </a:prstGeom>
          <a:solidFill>
            <a:schemeClr val="accent3"/>
          </a:solidFill>
          <a:ln/>
        </p:spPr>
      </p:sp>
      <p:sp>
        <p:nvSpPr>
          <p:cNvPr id="24" name="Text 19"/>
          <p:cNvSpPr txBox="1"/>
          <p:nvPr/>
        </p:nvSpPr>
        <p:spPr>
          <a:xfrm>
            <a:off x="8944016" y="5156243"/>
            <a:ext cx="2103120" cy="658368"/>
          </a:xfrm>
          <a:prstGeom prst="rect">
            <a:avLst/>
          </a:prstGeom>
          <a:noFill/>
          <a:ln/>
        </p:spPr>
        <p:txBody>
          <a:bodyPr wrap="square" lIns="0" tIns="0" rIns="0" bIns="0" rtlCol="0" anchor="ctr"/>
          <a:lstStyle/>
          <a:p>
            <a:pPr algn="ctr" indent="0" marL="0">
              <a:buNone/>
            </a:pPr>
            <a:r>
              <a:rPr lang="en-US" sz="1400" b="1" dirty="0">
                <a:solidFill>
                  <a:schemeClr val="bg1"/>
                </a:solidFill>
              </a:rPr>
              <a:t>AI tutor for students</a:t>
            </a:r>
            <a:endParaRPr lang="en-US" sz="1400" dirty="0"/>
          </a:p>
        </p:txBody>
      </p:sp>
      <p:sp>
        <p:nvSpPr>
          <p:cNvPr id="25" name="Skills and exam prep"/>
          <p:cNvSpPr/>
          <p:nvPr/>
        </p:nvSpPr>
        <p:spPr>
          <a:xfrm>
            <a:off x="6372184" y="5156243"/>
            <a:ext cx="2194560" cy="658368"/>
          </a:xfrm>
          <a:prstGeom prst="roundRect">
            <a:avLst>
              <a:gd name="adj" fmla="val 16667"/>
            </a:avLst>
          </a:prstGeom>
          <a:solidFill>
            <a:schemeClr val="accent4"/>
          </a:solidFill>
          <a:ln/>
        </p:spPr>
      </p:sp>
      <p:sp>
        <p:nvSpPr>
          <p:cNvPr id="26" name="Text 21"/>
          <p:cNvSpPr txBox="1"/>
          <p:nvPr/>
        </p:nvSpPr>
        <p:spPr>
          <a:xfrm>
            <a:off x="6417904" y="5156243"/>
            <a:ext cx="2103120" cy="658368"/>
          </a:xfrm>
          <a:prstGeom prst="rect">
            <a:avLst/>
          </a:prstGeom>
          <a:noFill/>
          <a:ln/>
        </p:spPr>
        <p:txBody>
          <a:bodyPr wrap="square" lIns="0" tIns="0" rIns="0" bIns="0" rtlCol="0" anchor="ctr"/>
          <a:lstStyle/>
          <a:p>
            <a:pPr algn="ctr" indent="0" marL="0">
              <a:buNone/>
            </a:pPr>
            <a:r>
              <a:rPr lang="en-US" sz="1400" b="1" dirty="0">
                <a:solidFill>
                  <a:schemeClr val="bg1"/>
                </a:solidFill>
              </a:rPr>
              <a:t>Skills and exam prep</a:t>
            </a:r>
            <a:endParaRPr lang="en-US" sz="1400" dirty="0"/>
          </a:p>
        </p:txBody>
      </p:sp>
      <p:sp>
        <p:nvSpPr>
          <p:cNvPr id="27" name="Live data for leaders"/>
          <p:cNvSpPr/>
          <p:nvPr/>
        </p:nvSpPr>
        <p:spPr>
          <a:xfrm>
            <a:off x="5591572" y="3009349"/>
            <a:ext cx="2194560" cy="658368"/>
          </a:xfrm>
          <a:prstGeom prst="roundRect">
            <a:avLst>
              <a:gd name="adj" fmla="val 16667"/>
            </a:avLst>
          </a:prstGeom>
          <a:solidFill>
            <a:schemeClr val="accent5"/>
          </a:solidFill>
          <a:ln/>
        </p:spPr>
      </p:sp>
      <p:sp>
        <p:nvSpPr>
          <p:cNvPr id="28" name="Text 23"/>
          <p:cNvSpPr txBox="1"/>
          <p:nvPr/>
        </p:nvSpPr>
        <p:spPr>
          <a:xfrm>
            <a:off x="5637292" y="3009349"/>
            <a:ext cx="2103120" cy="658368"/>
          </a:xfrm>
          <a:prstGeom prst="rect">
            <a:avLst/>
          </a:prstGeom>
          <a:noFill/>
          <a:ln/>
        </p:spPr>
        <p:txBody>
          <a:bodyPr wrap="square" lIns="0" tIns="0" rIns="0" bIns="0" rtlCol="0" anchor="ctr"/>
          <a:lstStyle/>
          <a:p>
            <a:pPr algn="ctr" indent="0" marL="0">
              <a:buNone/>
            </a:pPr>
            <a:r>
              <a:rPr lang="en-US" sz="1400" b="1" dirty="0">
                <a:solidFill>
                  <a:schemeClr val="bg1"/>
                </a:solidFill>
              </a:rPr>
              <a:t>Live data for leaders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AI FOR TEACHERS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AI in every part of a teacher's day</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Less paperwork, better teaching — the teacher stays in control of every decision.</a:t>
            </a:r>
            <a:endParaRPr lang="en-US" sz="1600" dirty="0"/>
          </a:p>
        </p:txBody>
      </p:sp>
      <p:sp>
        <p:nvSpPr>
          <p:cNvPr id="5" name="Attendance in seconds"/>
          <p:cNvSpPr/>
          <p:nvPr/>
        </p:nvSpPr>
        <p:spPr>
          <a:xfrm>
            <a:off x="548640" y="182880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Attendance in seconds circle"/>
          <p:cNvSpPr/>
          <p:nvPr/>
        </p:nvSpPr>
        <p:spPr>
          <a:xfrm>
            <a:off x="749808" y="2029968"/>
            <a:ext cx="566928" cy="566928"/>
          </a:xfrm>
          <a:prstGeom prst="ellipse">
            <a:avLst/>
          </a:prstGeom>
          <a:solidFill>
            <a:schemeClr val="accent1"/>
          </a:solidFill>
          <a:ln/>
        </p:spPr>
      </p:sp>
      <p:pic>
        <p:nvPicPr>
          <p:cNvPr id="7" name="Attendance in seconds icon" descr="Attendance in seconds">    </p:cNvPr>
          <p:cNvPicPr>
            <a:picLocks noChangeAspect="1"/>
          </p:cNvPicPr>
          <p:nvPr/>
        </p:nvPicPr>
        <p:blipFill>
          <a:blip r:embed="rId1"/>
          <a:stretch>
            <a:fillRect/>
          </a:stretch>
        </p:blipFill>
        <p:spPr>
          <a:xfrm>
            <a:off x="891540" y="2171700"/>
            <a:ext cx="283464" cy="283464"/>
          </a:xfrm>
          <a:prstGeom prst="rect">
            <a:avLst/>
          </a:prstGeom>
        </p:spPr>
      </p:pic>
      <p:sp>
        <p:nvSpPr>
          <p:cNvPr id="8" name="Text 5"/>
          <p:cNvSpPr txBox="1"/>
          <p:nvPr/>
        </p:nvSpPr>
        <p:spPr>
          <a:xfrm>
            <a:off x="749808" y="2697480"/>
            <a:ext cx="2286000" cy="384048"/>
          </a:xfrm>
          <a:prstGeom prst="rect">
            <a:avLst/>
          </a:prstGeom>
          <a:noFill/>
          <a:ln/>
        </p:spPr>
        <p:txBody>
          <a:bodyPr wrap="square" lIns="0" tIns="0" rIns="0" bIns="0" rtlCol="0" anchor="t"/>
          <a:lstStyle/>
          <a:p>
            <a:pPr indent="0" marL="0">
              <a:buNone/>
            </a:pPr>
            <a:r>
              <a:rPr lang="en-US" sz="1500" b="1" dirty="0">
                <a:solidFill>
                  <a:schemeClr val="tx2"/>
                </a:solidFill>
              </a:rPr>
              <a:t>Attendance in seconds</a:t>
            </a:r>
            <a:endParaRPr lang="en-US" sz="1500" dirty="0"/>
          </a:p>
        </p:txBody>
      </p:sp>
      <p:sp>
        <p:nvSpPr>
          <p:cNvPr id="9" name="Text 6"/>
          <p:cNvSpPr txBox="1"/>
          <p:nvPr/>
        </p:nvSpPr>
        <p:spPr>
          <a:xfrm>
            <a:off x="749808" y="3081528"/>
            <a:ext cx="2286000" cy="640080"/>
          </a:xfrm>
          <a:prstGeom prst="rect">
            <a:avLst/>
          </a:prstGeom>
          <a:noFill/>
          <a:ln/>
        </p:spPr>
        <p:txBody>
          <a:bodyPr wrap="square" lIns="0" tIns="0" rIns="0" bIns="0" rtlCol="0" anchor="t"/>
          <a:lstStyle/>
          <a:p>
            <a:pPr indent="0" marL="0">
              <a:buNone/>
            </a:pPr>
            <a:r>
              <a:rPr lang="en-US" sz="1250" dirty="0">
                <a:solidFill>
                  <a:schemeClr val="tx1"/>
                </a:solidFill>
              </a:rPr>
              <a:t>One tap, or a class photo where the school allows; parents alerted instantly.</a:t>
            </a:r>
            <a:endParaRPr lang="en-US" sz="1250" dirty="0"/>
          </a:p>
        </p:txBody>
      </p:sp>
      <p:sp>
        <p:nvSpPr>
          <p:cNvPr id="10" name="Planning that adjusts itself"/>
          <p:cNvSpPr/>
          <p:nvPr/>
        </p:nvSpPr>
        <p:spPr>
          <a:xfrm>
            <a:off x="3364992" y="182880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Planning that adjusts itself circle"/>
          <p:cNvSpPr/>
          <p:nvPr/>
        </p:nvSpPr>
        <p:spPr>
          <a:xfrm>
            <a:off x="3566160" y="2029968"/>
            <a:ext cx="566928" cy="566928"/>
          </a:xfrm>
          <a:prstGeom prst="ellipse">
            <a:avLst/>
          </a:prstGeom>
          <a:solidFill>
            <a:schemeClr val="accent2"/>
          </a:solidFill>
          <a:ln/>
        </p:spPr>
      </p:sp>
      <p:pic>
        <p:nvPicPr>
          <p:cNvPr id="12" name="Planning that adjusts itself icon" descr="Planning that adjusts itself">    </p:cNvPr>
          <p:cNvPicPr>
            <a:picLocks noChangeAspect="1"/>
          </p:cNvPicPr>
          <p:nvPr/>
        </p:nvPicPr>
        <p:blipFill>
          <a:blip r:embed="rId2"/>
          <a:stretch>
            <a:fillRect/>
          </a:stretch>
        </p:blipFill>
        <p:spPr>
          <a:xfrm>
            <a:off x="3707892" y="2171700"/>
            <a:ext cx="283464" cy="283464"/>
          </a:xfrm>
          <a:prstGeom prst="rect">
            <a:avLst/>
          </a:prstGeom>
        </p:spPr>
      </p:pic>
      <p:sp>
        <p:nvSpPr>
          <p:cNvPr id="13" name="Text 9"/>
          <p:cNvSpPr txBox="1"/>
          <p:nvPr/>
        </p:nvSpPr>
        <p:spPr>
          <a:xfrm>
            <a:off x="3566160" y="2697480"/>
            <a:ext cx="2286000" cy="384048"/>
          </a:xfrm>
          <a:prstGeom prst="rect">
            <a:avLst/>
          </a:prstGeom>
          <a:noFill/>
          <a:ln/>
        </p:spPr>
        <p:txBody>
          <a:bodyPr wrap="square" lIns="0" tIns="0" rIns="0" bIns="0" rtlCol="0" anchor="t"/>
          <a:lstStyle/>
          <a:p>
            <a:pPr indent="0" marL="0">
              <a:buNone/>
            </a:pPr>
            <a:r>
              <a:rPr lang="en-US" sz="1500" b="1" dirty="0">
                <a:solidFill>
                  <a:schemeClr val="tx2"/>
                </a:solidFill>
              </a:rPr>
              <a:t>Planning that adjusts itself</a:t>
            </a:r>
            <a:endParaRPr lang="en-US" sz="1500" dirty="0"/>
          </a:p>
        </p:txBody>
      </p:sp>
      <p:sp>
        <p:nvSpPr>
          <p:cNvPr id="14" name="Text 10"/>
          <p:cNvSpPr txBox="1"/>
          <p:nvPr/>
        </p:nvSpPr>
        <p:spPr>
          <a:xfrm>
            <a:off x="3566160" y="3081528"/>
            <a:ext cx="2286000" cy="640080"/>
          </a:xfrm>
          <a:prstGeom prst="rect">
            <a:avLst/>
          </a:prstGeom>
          <a:noFill/>
          <a:ln/>
        </p:spPr>
        <p:txBody>
          <a:bodyPr wrap="square" lIns="0" tIns="0" rIns="0" bIns="0" rtlCol="0" anchor="t"/>
          <a:lstStyle/>
          <a:p>
            <a:pPr indent="0" marL="0">
              <a:buNone/>
            </a:pPr>
            <a:r>
              <a:rPr lang="en-US" sz="1250" dirty="0">
                <a:solidFill>
                  <a:schemeClr val="tx1"/>
                </a:solidFill>
              </a:rPr>
              <a:t>Year-to-day lesson plans that re-plan after leave or holidays.</a:t>
            </a:r>
            <a:endParaRPr lang="en-US" sz="1250" dirty="0"/>
          </a:p>
        </p:txBody>
      </p:sp>
      <p:sp>
        <p:nvSpPr>
          <p:cNvPr id="15" name="Homework, done right"/>
          <p:cNvSpPr/>
          <p:nvPr/>
        </p:nvSpPr>
        <p:spPr>
          <a:xfrm>
            <a:off x="6181344" y="182880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Homework, done right circle"/>
          <p:cNvSpPr/>
          <p:nvPr/>
        </p:nvSpPr>
        <p:spPr>
          <a:xfrm>
            <a:off x="6382512" y="2029968"/>
            <a:ext cx="566928" cy="566928"/>
          </a:xfrm>
          <a:prstGeom prst="ellipse">
            <a:avLst/>
          </a:prstGeom>
          <a:solidFill>
            <a:schemeClr val="accent3"/>
          </a:solidFill>
          <a:ln/>
        </p:spPr>
      </p:sp>
      <p:pic>
        <p:nvPicPr>
          <p:cNvPr id="17" name="Homework, done right icon" descr="Homework, done right">    </p:cNvPr>
          <p:cNvPicPr>
            <a:picLocks noChangeAspect="1"/>
          </p:cNvPicPr>
          <p:nvPr/>
        </p:nvPicPr>
        <p:blipFill>
          <a:blip r:embed="rId3"/>
          <a:stretch>
            <a:fillRect/>
          </a:stretch>
        </p:blipFill>
        <p:spPr>
          <a:xfrm>
            <a:off x="6524244" y="2171700"/>
            <a:ext cx="283464" cy="283464"/>
          </a:xfrm>
          <a:prstGeom prst="rect">
            <a:avLst/>
          </a:prstGeom>
        </p:spPr>
      </p:pic>
      <p:sp>
        <p:nvSpPr>
          <p:cNvPr id="18" name="Text 13"/>
          <p:cNvSpPr txBox="1"/>
          <p:nvPr/>
        </p:nvSpPr>
        <p:spPr>
          <a:xfrm>
            <a:off x="6382512" y="2697480"/>
            <a:ext cx="2286000" cy="384048"/>
          </a:xfrm>
          <a:prstGeom prst="rect">
            <a:avLst/>
          </a:prstGeom>
          <a:noFill/>
          <a:ln/>
        </p:spPr>
        <p:txBody>
          <a:bodyPr wrap="square" lIns="0" tIns="0" rIns="0" bIns="0" rtlCol="0" anchor="t"/>
          <a:lstStyle/>
          <a:p>
            <a:pPr indent="0" marL="0">
              <a:buNone/>
            </a:pPr>
            <a:r>
              <a:rPr lang="en-US" sz="1500" b="1" dirty="0">
                <a:solidFill>
                  <a:schemeClr val="tx2"/>
                </a:solidFill>
              </a:rPr>
              <a:t>Homework, done right</a:t>
            </a:r>
            <a:endParaRPr lang="en-US" sz="1500" dirty="0"/>
          </a:p>
        </p:txBody>
      </p:sp>
      <p:sp>
        <p:nvSpPr>
          <p:cNvPr id="19" name="Text 14"/>
          <p:cNvSpPr txBox="1"/>
          <p:nvPr/>
        </p:nvSpPr>
        <p:spPr>
          <a:xfrm>
            <a:off x="6382512" y="3081528"/>
            <a:ext cx="2286000" cy="640080"/>
          </a:xfrm>
          <a:prstGeom prst="rect">
            <a:avLst/>
          </a:prstGeom>
          <a:noFill/>
          <a:ln/>
        </p:spPr>
        <p:txBody>
          <a:bodyPr wrap="square" lIns="0" tIns="0" rIns="0" bIns="0" rtlCol="0" anchor="t"/>
          <a:lstStyle/>
          <a:p>
            <a:pPr indent="0" marL="0">
              <a:buNone/>
            </a:pPr>
            <a:r>
              <a:rPr lang="en-US" sz="1250" dirty="0">
                <a:solidFill>
                  <a:schemeClr val="tx1"/>
                </a:solidFill>
              </a:rPr>
              <a:t>Right-level homework for each group; submissions tracked automatically.</a:t>
            </a:r>
            <a:endParaRPr lang="en-US" sz="1250" dirty="0"/>
          </a:p>
        </p:txBody>
      </p:sp>
      <p:sp>
        <p:nvSpPr>
          <p:cNvPr id="20" name="Tests and exam papers"/>
          <p:cNvSpPr/>
          <p:nvPr/>
        </p:nvSpPr>
        <p:spPr>
          <a:xfrm>
            <a:off x="8997696" y="182880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Tests and exam papers circle"/>
          <p:cNvSpPr/>
          <p:nvPr/>
        </p:nvSpPr>
        <p:spPr>
          <a:xfrm>
            <a:off x="9198864" y="2029968"/>
            <a:ext cx="566928" cy="566928"/>
          </a:xfrm>
          <a:prstGeom prst="ellipse">
            <a:avLst/>
          </a:prstGeom>
          <a:solidFill>
            <a:schemeClr val="accent4"/>
          </a:solidFill>
          <a:ln/>
        </p:spPr>
      </p:sp>
      <p:pic>
        <p:nvPicPr>
          <p:cNvPr id="22" name="Tests and exam papers icon" descr="Tests and exam papers">    </p:cNvPr>
          <p:cNvPicPr>
            <a:picLocks noChangeAspect="1"/>
          </p:cNvPicPr>
          <p:nvPr/>
        </p:nvPicPr>
        <p:blipFill>
          <a:blip r:embed="rId4"/>
          <a:stretch>
            <a:fillRect/>
          </a:stretch>
        </p:blipFill>
        <p:spPr>
          <a:xfrm>
            <a:off x="9340596" y="2171700"/>
            <a:ext cx="283464" cy="283464"/>
          </a:xfrm>
          <a:prstGeom prst="rect">
            <a:avLst/>
          </a:prstGeom>
        </p:spPr>
      </p:pic>
      <p:sp>
        <p:nvSpPr>
          <p:cNvPr id="23" name="Text 17"/>
          <p:cNvSpPr txBox="1"/>
          <p:nvPr/>
        </p:nvSpPr>
        <p:spPr>
          <a:xfrm>
            <a:off x="9198864" y="2697480"/>
            <a:ext cx="2286000" cy="384048"/>
          </a:xfrm>
          <a:prstGeom prst="rect">
            <a:avLst/>
          </a:prstGeom>
          <a:noFill/>
          <a:ln/>
        </p:spPr>
        <p:txBody>
          <a:bodyPr wrap="square" lIns="0" tIns="0" rIns="0" bIns="0" rtlCol="0" anchor="t"/>
          <a:lstStyle/>
          <a:p>
            <a:pPr indent="0" marL="0">
              <a:buNone/>
            </a:pPr>
            <a:r>
              <a:rPr lang="en-US" sz="1500" b="1" dirty="0">
                <a:solidFill>
                  <a:schemeClr val="tx2"/>
                </a:solidFill>
              </a:rPr>
              <a:t>Tests and exam papers</a:t>
            </a:r>
            <a:endParaRPr lang="en-US" sz="1500" dirty="0"/>
          </a:p>
        </p:txBody>
      </p:sp>
      <p:sp>
        <p:nvSpPr>
          <p:cNvPr id="24" name="Text 18"/>
          <p:cNvSpPr txBox="1"/>
          <p:nvPr/>
        </p:nvSpPr>
        <p:spPr>
          <a:xfrm>
            <a:off x="9198864" y="3081528"/>
            <a:ext cx="2286000" cy="640080"/>
          </a:xfrm>
          <a:prstGeom prst="rect">
            <a:avLst/>
          </a:prstGeom>
          <a:noFill/>
          <a:ln/>
        </p:spPr>
        <p:txBody>
          <a:bodyPr wrap="square" lIns="0" tIns="0" rIns="0" bIns="0" rtlCol="0" anchor="t"/>
          <a:lstStyle/>
          <a:p>
            <a:pPr indent="0" marL="0">
              <a:buNone/>
            </a:pPr>
            <a:r>
              <a:rPr lang="en-US" sz="1250" dirty="0">
                <a:solidFill>
                  <a:schemeClr val="tx1"/>
                </a:solidFill>
              </a:rPr>
              <a:t>Question papers in any board's pattern, with answer keys, in minutes.</a:t>
            </a:r>
            <a:endParaRPr lang="en-US" sz="1250" dirty="0"/>
          </a:p>
        </p:txBody>
      </p:sp>
      <p:sp>
        <p:nvSpPr>
          <p:cNvPr id="25" name="Answer-sheet checking"/>
          <p:cNvSpPr/>
          <p:nvPr/>
        </p:nvSpPr>
        <p:spPr>
          <a:xfrm>
            <a:off x="548640" y="393192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Answer-sheet checking circle"/>
          <p:cNvSpPr/>
          <p:nvPr/>
        </p:nvSpPr>
        <p:spPr>
          <a:xfrm>
            <a:off x="749808" y="4133088"/>
            <a:ext cx="566928" cy="566928"/>
          </a:xfrm>
          <a:prstGeom prst="ellipse">
            <a:avLst/>
          </a:prstGeom>
          <a:solidFill>
            <a:schemeClr val="accent5"/>
          </a:solidFill>
          <a:ln/>
        </p:spPr>
      </p:sp>
      <p:pic>
        <p:nvPicPr>
          <p:cNvPr id="27" name="Answer-sheet checking icon" descr="Answer-sheet checking">    </p:cNvPr>
          <p:cNvPicPr>
            <a:picLocks noChangeAspect="1"/>
          </p:cNvPicPr>
          <p:nvPr/>
        </p:nvPicPr>
        <p:blipFill>
          <a:blip r:embed="rId5"/>
          <a:stretch>
            <a:fillRect/>
          </a:stretch>
        </p:blipFill>
        <p:spPr>
          <a:xfrm>
            <a:off x="891540" y="4274820"/>
            <a:ext cx="283464" cy="283464"/>
          </a:xfrm>
          <a:prstGeom prst="rect">
            <a:avLst/>
          </a:prstGeom>
        </p:spPr>
      </p:pic>
      <p:sp>
        <p:nvSpPr>
          <p:cNvPr id="28" name="Text 21"/>
          <p:cNvSpPr txBox="1"/>
          <p:nvPr/>
        </p:nvSpPr>
        <p:spPr>
          <a:xfrm>
            <a:off x="749808" y="4800600"/>
            <a:ext cx="2286000" cy="384048"/>
          </a:xfrm>
          <a:prstGeom prst="rect">
            <a:avLst/>
          </a:prstGeom>
          <a:noFill/>
          <a:ln/>
        </p:spPr>
        <p:txBody>
          <a:bodyPr wrap="square" lIns="0" tIns="0" rIns="0" bIns="0" rtlCol="0" anchor="t"/>
          <a:lstStyle/>
          <a:p>
            <a:pPr indent="0" marL="0">
              <a:buNone/>
            </a:pPr>
            <a:r>
              <a:rPr lang="en-US" sz="1500" b="1" dirty="0">
                <a:solidFill>
                  <a:schemeClr val="tx2"/>
                </a:solidFill>
              </a:rPr>
              <a:t>Answer-sheet checking</a:t>
            </a:r>
            <a:endParaRPr lang="en-US" sz="1500" dirty="0"/>
          </a:p>
        </p:txBody>
      </p:sp>
      <p:sp>
        <p:nvSpPr>
          <p:cNvPr id="29" name="Text 22"/>
          <p:cNvSpPr txBox="1"/>
          <p:nvPr/>
        </p:nvSpPr>
        <p:spPr>
          <a:xfrm>
            <a:off x="749808" y="5184648"/>
            <a:ext cx="2286000" cy="640080"/>
          </a:xfrm>
          <a:prstGeom prst="rect">
            <a:avLst/>
          </a:prstGeom>
          <a:noFill/>
          <a:ln/>
        </p:spPr>
        <p:txBody>
          <a:bodyPr wrap="square" lIns="0" tIns="0" rIns="0" bIns="0" rtlCol="0" anchor="t"/>
          <a:lstStyle/>
          <a:p>
            <a:pPr indent="0" marL="0">
              <a:buNone/>
            </a:pPr>
            <a:r>
              <a:rPr lang="en-US" sz="1250" dirty="0">
                <a:solidFill>
                  <a:schemeClr val="tx1"/>
                </a:solidFill>
              </a:rPr>
              <a:t>Scan answer sheets; AI scores and suggests marks for the teacher to confirm.</a:t>
            </a:r>
            <a:endParaRPr lang="en-US" sz="1250" dirty="0"/>
          </a:p>
        </p:txBody>
      </p:sp>
      <p:sp>
        <p:nvSpPr>
          <p:cNvPr id="30" name="Teaching skills coach"/>
          <p:cNvSpPr/>
          <p:nvPr/>
        </p:nvSpPr>
        <p:spPr>
          <a:xfrm>
            <a:off x="3364992" y="393192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1" name="Teaching skills coach circle"/>
          <p:cNvSpPr/>
          <p:nvPr/>
        </p:nvSpPr>
        <p:spPr>
          <a:xfrm>
            <a:off x="3566160" y="4133088"/>
            <a:ext cx="566928" cy="566928"/>
          </a:xfrm>
          <a:prstGeom prst="ellipse">
            <a:avLst/>
          </a:prstGeom>
          <a:solidFill>
            <a:schemeClr val="accent6"/>
          </a:solidFill>
          <a:ln/>
        </p:spPr>
      </p:sp>
      <p:pic>
        <p:nvPicPr>
          <p:cNvPr id="32" name="Teaching skills coach icon" descr="Teaching skills coach">    </p:cNvPr>
          <p:cNvPicPr>
            <a:picLocks noChangeAspect="1"/>
          </p:cNvPicPr>
          <p:nvPr/>
        </p:nvPicPr>
        <p:blipFill>
          <a:blip r:embed="rId6"/>
          <a:stretch>
            <a:fillRect/>
          </a:stretch>
        </p:blipFill>
        <p:spPr>
          <a:xfrm>
            <a:off x="3707892" y="4274820"/>
            <a:ext cx="283464" cy="283464"/>
          </a:xfrm>
          <a:prstGeom prst="rect">
            <a:avLst/>
          </a:prstGeom>
        </p:spPr>
      </p:pic>
      <p:sp>
        <p:nvSpPr>
          <p:cNvPr id="33" name="Text 25"/>
          <p:cNvSpPr txBox="1"/>
          <p:nvPr/>
        </p:nvSpPr>
        <p:spPr>
          <a:xfrm>
            <a:off x="3566160" y="4800600"/>
            <a:ext cx="2286000" cy="384048"/>
          </a:xfrm>
          <a:prstGeom prst="rect">
            <a:avLst/>
          </a:prstGeom>
          <a:noFill/>
          <a:ln/>
        </p:spPr>
        <p:txBody>
          <a:bodyPr wrap="square" lIns="0" tIns="0" rIns="0" bIns="0" rtlCol="0" anchor="t"/>
          <a:lstStyle/>
          <a:p>
            <a:pPr indent="0" marL="0">
              <a:buNone/>
            </a:pPr>
            <a:r>
              <a:rPr lang="en-US" sz="1500" b="1" dirty="0">
                <a:solidFill>
                  <a:schemeClr val="tx2"/>
                </a:solidFill>
              </a:rPr>
              <a:t>Teaching skills coach</a:t>
            </a:r>
            <a:endParaRPr lang="en-US" sz="1500" dirty="0"/>
          </a:p>
        </p:txBody>
      </p:sp>
      <p:sp>
        <p:nvSpPr>
          <p:cNvPr id="34" name="Text 26"/>
          <p:cNvSpPr txBox="1"/>
          <p:nvPr/>
        </p:nvSpPr>
        <p:spPr>
          <a:xfrm>
            <a:off x="3566160" y="5184648"/>
            <a:ext cx="2286000" cy="640080"/>
          </a:xfrm>
          <a:prstGeom prst="rect">
            <a:avLst/>
          </a:prstGeom>
          <a:noFill/>
          <a:ln/>
        </p:spPr>
        <p:txBody>
          <a:bodyPr wrap="square" lIns="0" tIns="0" rIns="0" bIns="0" rtlCol="0" anchor="t"/>
          <a:lstStyle/>
          <a:p>
            <a:pPr indent="0" marL="0">
              <a:buNone/>
            </a:pPr>
            <a:r>
              <a:rPr lang="en-US" sz="1250" dirty="0">
                <a:solidFill>
                  <a:schemeClr val="tx1"/>
                </a:solidFill>
              </a:rPr>
              <a:t>AI reviews lesson plans and class results and suggests what to improve.</a:t>
            </a:r>
            <a:endParaRPr lang="en-US" sz="1250" dirty="0"/>
          </a:p>
        </p:txBody>
      </p:sp>
      <p:sp>
        <p:nvSpPr>
          <p:cNvPr id="35" name="Smart class management"/>
          <p:cNvSpPr/>
          <p:nvPr/>
        </p:nvSpPr>
        <p:spPr>
          <a:xfrm>
            <a:off x="6181344" y="393192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36" name="Smart class management circle"/>
          <p:cNvSpPr/>
          <p:nvPr/>
        </p:nvSpPr>
        <p:spPr>
          <a:xfrm>
            <a:off x="6382512" y="4133088"/>
            <a:ext cx="566928" cy="566928"/>
          </a:xfrm>
          <a:prstGeom prst="ellipse">
            <a:avLst/>
          </a:prstGeom>
          <a:solidFill>
            <a:schemeClr val="accent1"/>
          </a:solidFill>
          <a:ln/>
        </p:spPr>
      </p:sp>
      <p:pic>
        <p:nvPicPr>
          <p:cNvPr id="37" name="Smart class management icon" descr="Smart class management">    </p:cNvPr>
          <p:cNvPicPr>
            <a:picLocks noChangeAspect="1"/>
          </p:cNvPicPr>
          <p:nvPr/>
        </p:nvPicPr>
        <p:blipFill>
          <a:blip r:embed="rId7"/>
          <a:stretch>
            <a:fillRect/>
          </a:stretch>
        </p:blipFill>
        <p:spPr>
          <a:xfrm>
            <a:off x="6524244" y="4274820"/>
            <a:ext cx="283464" cy="283464"/>
          </a:xfrm>
          <a:prstGeom prst="rect">
            <a:avLst/>
          </a:prstGeom>
        </p:spPr>
      </p:pic>
      <p:sp>
        <p:nvSpPr>
          <p:cNvPr id="38" name="Text 29"/>
          <p:cNvSpPr txBox="1"/>
          <p:nvPr/>
        </p:nvSpPr>
        <p:spPr>
          <a:xfrm>
            <a:off x="6382512" y="4800600"/>
            <a:ext cx="2286000" cy="384048"/>
          </a:xfrm>
          <a:prstGeom prst="rect">
            <a:avLst/>
          </a:prstGeom>
          <a:noFill/>
          <a:ln/>
        </p:spPr>
        <p:txBody>
          <a:bodyPr wrap="square" lIns="0" tIns="0" rIns="0" bIns="0" rtlCol="0" anchor="t"/>
          <a:lstStyle/>
          <a:p>
            <a:pPr indent="0" marL="0">
              <a:buNone/>
            </a:pPr>
            <a:r>
              <a:rPr lang="en-US" sz="1500" b="1" dirty="0">
                <a:solidFill>
                  <a:schemeClr val="tx2"/>
                </a:solidFill>
              </a:rPr>
              <a:t>Smart class management</a:t>
            </a:r>
            <a:endParaRPr lang="en-US" sz="1500" dirty="0"/>
          </a:p>
        </p:txBody>
      </p:sp>
      <p:sp>
        <p:nvSpPr>
          <p:cNvPr id="39" name="Text 30"/>
          <p:cNvSpPr txBox="1"/>
          <p:nvPr/>
        </p:nvSpPr>
        <p:spPr>
          <a:xfrm>
            <a:off x="6382512" y="5184648"/>
            <a:ext cx="2286000" cy="640080"/>
          </a:xfrm>
          <a:prstGeom prst="rect">
            <a:avLst/>
          </a:prstGeom>
          <a:noFill/>
          <a:ln/>
        </p:spPr>
        <p:txBody>
          <a:bodyPr wrap="square" lIns="0" tIns="0" rIns="0" bIns="0" rtlCol="0" anchor="t"/>
          <a:lstStyle/>
          <a:p>
            <a:pPr indent="0" marL="0">
              <a:buNone/>
            </a:pPr>
            <a:r>
              <a:rPr lang="en-US" sz="1250" dirty="0">
                <a:solidFill>
                  <a:schemeClr val="tx1"/>
                </a:solidFill>
              </a:rPr>
              <a:t>Timetable, substitutes, notices and parent messages handled for you.</a:t>
            </a:r>
            <a:endParaRPr lang="en-US" sz="1250" dirty="0"/>
          </a:p>
        </p:txBody>
      </p:sp>
      <p:sp>
        <p:nvSpPr>
          <p:cNvPr id="40" name="Know who needs help"/>
          <p:cNvSpPr/>
          <p:nvPr/>
        </p:nvSpPr>
        <p:spPr>
          <a:xfrm>
            <a:off x="8997696" y="3931920"/>
            <a:ext cx="2633472" cy="1938528"/>
          </a:xfrm>
          <a:prstGeom prst="roundRect">
            <a:avLst>
              <a:gd name="adj" fmla="val 566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41" name="Know who needs help circle"/>
          <p:cNvSpPr/>
          <p:nvPr/>
        </p:nvSpPr>
        <p:spPr>
          <a:xfrm>
            <a:off x="9198864" y="4133088"/>
            <a:ext cx="566928" cy="566928"/>
          </a:xfrm>
          <a:prstGeom prst="ellipse">
            <a:avLst/>
          </a:prstGeom>
          <a:solidFill>
            <a:schemeClr val="accent2"/>
          </a:solidFill>
          <a:ln/>
        </p:spPr>
      </p:sp>
      <p:pic>
        <p:nvPicPr>
          <p:cNvPr id="42" name="Know who needs help icon" descr="Know who needs help">    </p:cNvPr>
          <p:cNvPicPr>
            <a:picLocks noChangeAspect="1"/>
          </p:cNvPicPr>
          <p:nvPr/>
        </p:nvPicPr>
        <p:blipFill>
          <a:blip r:embed="rId8"/>
          <a:stretch>
            <a:fillRect/>
          </a:stretch>
        </p:blipFill>
        <p:spPr>
          <a:xfrm>
            <a:off x="9340596" y="4274820"/>
            <a:ext cx="283464" cy="283464"/>
          </a:xfrm>
          <a:prstGeom prst="rect">
            <a:avLst/>
          </a:prstGeom>
        </p:spPr>
      </p:pic>
      <p:sp>
        <p:nvSpPr>
          <p:cNvPr id="43" name="Text 33"/>
          <p:cNvSpPr txBox="1"/>
          <p:nvPr/>
        </p:nvSpPr>
        <p:spPr>
          <a:xfrm>
            <a:off x="9198864" y="4800600"/>
            <a:ext cx="2286000" cy="384048"/>
          </a:xfrm>
          <a:prstGeom prst="rect">
            <a:avLst/>
          </a:prstGeom>
          <a:noFill/>
          <a:ln/>
        </p:spPr>
        <p:txBody>
          <a:bodyPr wrap="square" lIns="0" tIns="0" rIns="0" bIns="0" rtlCol="0" anchor="t"/>
          <a:lstStyle/>
          <a:p>
            <a:pPr indent="0" marL="0">
              <a:buNone/>
            </a:pPr>
            <a:r>
              <a:rPr lang="en-US" sz="1500" b="1" dirty="0">
                <a:solidFill>
                  <a:schemeClr val="tx2"/>
                </a:solidFill>
              </a:rPr>
              <a:t>Know who needs help</a:t>
            </a:r>
            <a:endParaRPr lang="en-US" sz="1500" dirty="0"/>
          </a:p>
        </p:txBody>
      </p:sp>
      <p:sp>
        <p:nvSpPr>
          <p:cNvPr id="44" name="Text 34"/>
          <p:cNvSpPr txBox="1"/>
          <p:nvPr/>
        </p:nvSpPr>
        <p:spPr>
          <a:xfrm>
            <a:off x="9198864" y="5184648"/>
            <a:ext cx="2286000" cy="640080"/>
          </a:xfrm>
          <a:prstGeom prst="rect">
            <a:avLst/>
          </a:prstGeom>
          <a:noFill/>
          <a:ln/>
        </p:spPr>
        <p:txBody>
          <a:bodyPr wrap="square" lIns="0" tIns="0" rIns="0" bIns="0" rtlCol="0" anchor="t"/>
          <a:lstStyle/>
          <a:p>
            <a:pPr indent="0" marL="0">
              <a:buNone/>
            </a:pPr>
            <a:r>
              <a:rPr lang="en-US" sz="1250" dirty="0">
                <a:solidFill>
                  <a:schemeClr val="tx1"/>
                </a:solidFill>
              </a:rPr>
              <a:t>Every morning: which students are falling behind, and on which topic.</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AI FOR EVERY STUDENT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A personal tutor for every child — no extra tuition</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a good private tutor does, AI Gurukul does for every student, inside the school system.</a:t>
            </a:r>
            <a:endParaRPr lang="en-US" sz="1600" dirty="0"/>
          </a:p>
        </p:txBody>
      </p:sp>
      <p:sp>
        <p:nvSpPr>
          <p:cNvPr id="5" name="tutor_g frame"/>
          <p:cNvSpPr/>
          <p:nvPr/>
        </p:nvSpPr>
        <p:spPr>
          <a:xfrm>
            <a:off x="630936" y="1755648"/>
            <a:ext cx="7059168" cy="4453128"/>
          </a:xfrm>
          <a:prstGeom prst="roundRect">
            <a:avLst>
              <a:gd name="adj" fmla="val 1643"/>
            </a:avLst>
          </a:prstGeom>
          <a:solidFill>
            <a:schemeClr val="bg1"/>
          </a:solidFill>
          <a:ln w="9525">
            <a:solidFill>
              <a:srgbClr val="DCE3EC"/>
            </a:solidFill>
            <a:prstDash val="solid"/>
          </a:ln>
          <a:effectLst>
            <a:outerShdw sx="100000" sy="100000" kx="0" ky="0" algn="bl" rotWithShape="0" blurRad="127000" dist="38100" dir="5400000">
              <a:srgbClr val="000000">
                <a:alpha val="14000"/>
              </a:srgbClr>
            </a:outerShdw>
          </a:effectLst>
        </p:spPr>
      </p:sp>
      <p:pic>
        <p:nvPicPr>
          <p:cNvPr id="6" name="Image 0" descr="tutor_g screen (UI concept)">    </p:cNvPr>
          <p:cNvPicPr>
            <a:picLocks noChangeAspect="1"/>
          </p:cNvPicPr>
          <p:nvPr/>
        </p:nvPicPr>
        <p:blipFill>
          <a:blip r:embed="rId1"/>
          <a:stretch>
            <a:fillRect/>
          </a:stretch>
        </p:blipFill>
        <p:spPr>
          <a:xfrm>
            <a:off x="685800" y="1810512"/>
            <a:ext cx="6949440" cy="4343400"/>
          </a:xfrm>
          <a:prstGeom prst="rect">
            <a:avLst/>
          </a:prstGeom>
        </p:spPr>
      </p:pic>
      <p:sp>
        <p:nvSpPr>
          <p:cNvPr id="7" name="callout 1"/>
          <p:cNvSpPr/>
          <p:nvPr/>
        </p:nvSpPr>
        <p:spPr>
          <a:xfrm>
            <a:off x="8001000" y="1828800"/>
            <a:ext cx="457200" cy="457200"/>
          </a:xfrm>
          <a:prstGeom prst="ellipse">
            <a:avLst/>
          </a:prstGeom>
          <a:solidFill>
            <a:schemeClr val="accent1"/>
          </a:solidFill>
          <a:ln/>
        </p:spPr>
      </p:sp>
      <p:sp>
        <p:nvSpPr>
          <p:cNvPr id="8" name="Text 5"/>
          <p:cNvSpPr txBox="1"/>
          <p:nvPr/>
        </p:nvSpPr>
        <p:spPr>
          <a:xfrm>
            <a:off x="8001000" y="1828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6"/>
          <p:cNvSpPr txBox="1"/>
          <p:nvPr/>
        </p:nvSpPr>
        <p:spPr>
          <a:xfrm>
            <a:off x="8641080" y="1810512"/>
            <a:ext cx="2999232" cy="457200"/>
          </a:xfrm>
          <a:prstGeom prst="rect">
            <a:avLst/>
          </a:prstGeom>
          <a:noFill/>
          <a:ln/>
        </p:spPr>
        <p:txBody>
          <a:bodyPr wrap="square" lIns="0" tIns="0" rIns="0" bIns="0" rtlCol="0" anchor="ctr"/>
          <a:lstStyle/>
          <a:p>
            <a:pPr indent="0" marL="0">
              <a:buNone/>
            </a:pPr>
            <a:r>
              <a:rPr lang="en-US" sz="1700" b="1" dirty="0">
                <a:solidFill>
                  <a:schemeClr val="tx2"/>
                </a:solidFill>
              </a:rPr>
              <a:t>Doubts solved 24×7</a:t>
            </a:r>
            <a:endParaRPr lang="en-US" sz="1700" dirty="0"/>
          </a:p>
        </p:txBody>
      </p:sp>
      <p:sp>
        <p:nvSpPr>
          <p:cNvPr id="10" name="Text 7"/>
          <p:cNvSpPr txBox="1"/>
          <p:nvPr/>
        </p:nvSpPr>
        <p:spPr>
          <a:xfrm>
            <a:off x="8641080" y="2286000"/>
            <a:ext cx="2999232" cy="777240"/>
          </a:xfrm>
          <a:prstGeom prst="rect">
            <a:avLst/>
          </a:prstGeom>
          <a:noFill/>
          <a:ln/>
        </p:spPr>
        <p:txBody>
          <a:bodyPr wrap="square" lIns="0" tIns="0" rIns="0" bIns="0" rtlCol="0" anchor="t"/>
          <a:lstStyle/>
          <a:p>
            <a:pPr indent="0" marL="0">
              <a:buNone/>
            </a:pPr>
            <a:r>
              <a:rPr lang="en-US" sz="1400" dirty="0">
                <a:solidFill>
                  <a:schemeClr val="tx1"/>
                </a:solidFill>
              </a:rPr>
              <a:t>In the student's own language, from the approved textbook.</a:t>
            </a:r>
            <a:endParaRPr lang="en-US" sz="1400" dirty="0"/>
          </a:p>
        </p:txBody>
      </p:sp>
      <p:sp>
        <p:nvSpPr>
          <p:cNvPr id="11" name="callout 2"/>
          <p:cNvSpPr/>
          <p:nvPr/>
        </p:nvSpPr>
        <p:spPr>
          <a:xfrm>
            <a:off x="8001000" y="3200400"/>
            <a:ext cx="457200" cy="457200"/>
          </a:xfrm>
          <a:prstGeom prst="ellipse">
            <a:avLst/>
          </a:prstGeom>
          <a:solidFill>
            <a:schemeClr val="accent2"/>
          </a:solidFill>
          <a:ln/>
        </p:spPr>
      </p:sp>
      <p:sp>
        <p:nvSpPr>
          <p:cNvPr id="12" name="Text 9"/>
          <p:cNvSpPr txBox="1"/>
          <p:nvPr/>
        </p:nvSpPr>
        <p:spPr>
          <a:xfrm>
            <a:off x="8001000" y="3200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8641080" y="3182112"/>
            <a:ext cx="2999232" cy="457200"/>
          </a:xfrm>
          <a:prstGeom prst="rect">
            <a:avLst/>
          </a:prstGeom>
          <a:noFill/>
          <a:ln/>
        </p:spPr>
        <p:txBody>
          <a:bodyPr wrap="square" lIns="0" tIns="0" rIns="0" bIns="0" rtlCol="0" anchor="ctr"/>
          <a:lstStyle/>
          <a:p>
            <a:pPr indent="0" marL="0">
              <a:buNone/>
            </a:pPr>
            <a:r>
              <a:rPr lang="en-US" sz="1700" b="1" dirty="0">
                <a:solidFill>
                  <a:schemeClr val="tx2"/>
                </a:solidFill>
              </a:rPr>
              <a:t>See it in 3D</a:t>
            </a:r>
            <a:endParaRPr lang="en-US" sz="1700" dirty="0"/>
          </a:p>
        </p:txBody>
      </p:sp>
      <p:sp>
        <p:nvSpPr>
          <p:cNvPr id="14" name="Text 11"/>
          <p:cNvSpPr txBox="1"/>
          <p:nvPr/>
        </p:nvSpPr>
        <p:spPr>
          <a:xfrm>
            <a:off x="8641080" y="3657600"/>
            <a:ext cx="2999232" cy="777240"/>
          </a:xfrm>
          <a:prstGeom prst="rect">
            <a:avLst/>
          </a:prstGeom>
          <a:noFill/>
          <a:ln/>
        </p:spPr>
        <p:txBody>
          <a:bodyPr wrap="square" lIns="0" tIns="0" rIns="0" bIns="0" rtlCol="0" anchor="t"/>
          <a:lstStyle/>
          <a:p>
            <a:pPr indent="0" marL="0">
              <a:buNone/>
            </a:pPr>
            <a:r>
              <a:rPr lang="en-US" sz="1400" dirty="0">
                <a:solidFill>
                  <a:schemeClr val="tx1"/>
                </a:solidFill>
              </a:rPr>
              <a:t>3D models and AI images make hard topics easy — like Newton and gravity.</a:t>
            </a:r>
            <a:endParaRPr lang="en-US" sz="1400" dirty="0"/>
          </a:p>
        </p:txBody>
      </p:sp>
      <p:sp>
        <p:nvSpPr>
          <p:cNvPr id="15" name="callout 3"/>
          <p:cNvSpPr/>
          <p:nvPr/>
        </p:nvSpPr>
        <p:spPr>
          <a:xfrm>
            <a:off x="8001000" y="4572000"/>
            <a:ext cx="457200" cy="457200"/>
          </a:xfrm>
          <a:prstGeom prst="ellipse">
            <a:avLst/>
          </a:prstGeom>
          <a:solidFill>
            <a:schemeClr val="accent3"/>
          </a:solidFill>
          <a:ln/>
        </p:spPr>
      </p:sp>
      <p:sp>
        <p:nvSpPr>
          <p:cNvPr id="16" name="Text 13"/>
          <p:cNvSpPr txBox="1"/>
          <p:nvPr/>
        </p:nvSpPr>
        <p:spPr>
          <a:xfrm>
            <a:off x="8001000" y="4572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4"/>
          <p:cNvSpPr txBox="1"/>
          <p:nvPr/>
        </p:nvSpPr>
        <p:spPr>
          <a:xfrm>
            <a:off x="8641080" y="4553712"/>
            <a:ext cx="2999232" cy="457200"/>
          </a:xfrm>
          <a:prstGeom prst="rect">
            <a:avLst/>
          </a:prstGeom>
          <a:noFill/>
          <a:ln/>
        </p:spPr>
        <p:txBody>
          <a:bodyPr wrap="square" lIns="0" tIns="0" rIns="0" bIns="0" rtlCol="0" anchor="ctr"/>
          <a:lstStyle/>
          <a:p>
            <a:pPr indent="0" marL="0">
              <a:buNone/>
            </a:pPr>
            <a:r>
              <a:rPr lang="en-US" sz="1700" b="1" dirty="0">
                <a:solidFill>
                  <a:schemeClr val="tx2"/>
                </a:solidFill>
              </a:rPr>
              <a:t>A plan for each child</a:t>
            </a:r>
            <a:endParaRPr lang="en-US" sz="1700" dirty="0"/>
          </a:p>
        </p:txBody>
      </p:sp>
      <p:sp>
        <p:nvSpPr>
          <p:cNvPr id="18" name="Text 15"/>
          <p:cNvSpPr txBox="1"/>
          <p:nvPr/>
        </p:nvSpPr>
        <p:spPr>
          <a:xfrm>
            <a:off x="8641080" y="5029200"/>
            <a:ext cx="2999232" cy="777240"/>
          </a:xfrm>
          <a:prstGeom prst="rect">
            <a:avLst/>
          </a:prstGeom>
          <a:noFill/>
          <a:ln/>
        </p:spPr>
        <p:txBody>
          <a:bodyPr wrap="square" lIns="0" tIns="0" rIns="0" bIns="0" rtlCol="0" anchor="t"/>
          <a:lstStyle/>
          <a:p>
            <a:pPr indent="0" marL="0">
              <a:buNone/>
            </a:pPr>
            <a:r>
              <a:rPr lang="en-US" sz="1400" dirty="0">
                <a:solidFill>
                  <a:schemeClr val="tx1"/>
                </a:solidFill>
              </a:rPr>
              <a:t>Practice on weak topics; tracks what was covered and what was really learned.</a:t>
            </a:r>
            <a:endParaRPr lang="en-US" sz="1400" dirty="0"/>
          </a:p>
        </p:txBody>
      </p:sp>
      <p:sp>
        <p:nvSpPr>
          <p:cNvPr id="19" name="Text 16"/>
          <p:cNvSpPr txBox="1"/>
          <p:nvPr/>
        </p:nvSpPr>
        <p:spPr>
          <a:xfrm>
            <a:off x="8001000" y="5897880"/>
            <a:ext cx="3639312" cy="274320"/>
          </a:xfrm>
          <a:prstGeom prst="rect">
            <a:avLst/>
          </a:prstGeom>
          <a:noFill/>
          <a:ln/>
        </p:spPr>
        <p:txBody>
          <a:bodyPr wrap="square" lIns="0" tIns="0" rIns="0" bIns="0" rtlCol="0" anchor="t"/>
          <a:lstStyle/>
          <a:p>
            <a:pPr indent="0" marL="0">
              <a:buNone/>
            </a:pPr>
            <a:r>
              <a:rPr lang="en-US" sz="1100" i="1" dirty="0">
                <a:solidFill>
                  <a:schemeClr val="accent6"/>
                </a:solidFill>
              </a:rPr>
              <a:t>UI concept with demo data</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SKILL INTELLIGENCE</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From school to career: the right path for each child</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AI learns what each student is good at and enjoys — then prepares them for it.</a:t>
            </a:r>
            <a:endParaRPr lang="en-US" sz="1600" dirty="0"/>
          </a:p>
        </p:txBody>
      </p:sp>
      <p:sp>
        <p:nvSpPr>
          <p:cNvPr id="5" name="skill profile"/>
          <p:cNvSpPr/>
          <p:nvPr/>
        </p:nvSpPr>
        <p:spPr>
          <a:xfrm>
            <a:off x="548640" y="1828800"/>
            <a:ext cx="3566160" cy="4023360"/>
          </a:xfrm>
          <a:prstGeom prst="roundRect">
            <a:avLst>
              <a:gd name="adj" fmla="val 307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Text 4"/>
          <p:cNvSpPr txBox="1"/>
          <p:nvPr/>
        </p:nvSpPr>
        <p:spPr>
          <a:xfrm>
            <a:off x="822960" y="1965960"/>
            <a:ext cx="3108960" cy="365760"/>
          </a:xfrm>
          <a:prstGeom prst="rect">
            <a:avLst/>
          </a:prstGeom>
          <a:noFill/>
          <a:ln/>
        </p:spPr>
        <p:txBody>
          <a:bodyPr wrap="square" lIns="0" tIns="0" rIns="0" bIns="0" rtlCol="0" anchor="t"/>
          <a:lstStyle/>
          <a:p>
            <a:pPr indent="0" marL="0">
              <a:buNone/>
            </a:pPr>
            <a:r>
              <a:rPr lang="en-US" sz="1600" b="1" dirty="0">
                <a:solidFill>
                  <a:schemeClr val="tx2"/>
                </a:solidFill>
              </a:rPr>
              <a:t>Skill intelligence profile</a:t>
            </a:r>
            <a:endParaRPr lang="en-US" sz="1600" dirty="0"/>
          </a:p>
        </p:txBody>
      </p:sp>
      <p:sp>
        <p:nvSpPr>
          <p:cNvPr id="7" name="Text 5"/>
          <p:cNvSpPr txBox="1"/>
          <p:nvPr/>
        </p:nvSpPr>
        <p:spPr>
          <a:xfrm>
            <a:off x="822960" y="2304288"/>
            <a:ext cx="3108960" cy="274320"/>
          </a:xfrm>
          <a:prstGeom prst="rect">
            <a:avLst/>
          </a:prstGeom>
          <a:noFill/>
          <a:ln/>
        </p:spPr>
        <p:txBody>
          <a:bodyPr wrap="square" lIns="0" tIns="0" rIns="0" bIns="0" rtlCol="0" anchor="t"/>
          <a:lstStyle/>
          <a:p>
            <a:pPr indent="0" marL="0">
              <a:buNone/>
            </a:pPr>
            <a:r>
              <a:rPr lang="en-US" sz="1200" dirty="0">
                <a:solidFill>
                  <a:schemeClr val="accent6"/>
                </a:solidFill>
              </a:rPr>
              <a:t>Example student</a:t>
            </a:r>
            <a:endParaRPr lang="en-US" sz="1200" dirty="0"/>
          </a:p>
        </p:txBody>
      </p:sp>
      <p:sp>
        <p:nvSpPr>
          <p:cNvPr id="8" name="Text 6"/>
          <p:cNvSpPr txBox="1"/>
          <p:nvPr/>
        </p:nvSpPr>
        <p:spPr>
          <a:xfrm>
            <a:off x="822960" y="2743200"/>
            <a:ext cx="3017520" cy="228600"/>
          </a:xfrm>
          <a:prstGeom prst="rect">
            <a:avLst/>
          </a:prstGeom>
          <a:noFill/>
          <a:ln/>
        </p:spPr>
        <p:txBody>
          <a:bodyPr wrap="square" lIns="0" tIns="0" rIns="0" bIns="0" rtlCol="0" anchor="t"/>
          <a:lstStyle/>
          <a:p>
            <a:pPr indent="0" marL="0">
              <a:buNone/>
            </a:pPr>
            <a:r>
              <a:rPr lang="en-US" sz="1250" dirty="0">
                <a:solidFill>
                  <a:schemeClr val="tx1"/>
                </a:solidFill>
              </a:rPr>
              <a:t>Logical reasoning</a:t>
            </a:r>
            <a:endParaRPr lang="en-US" sz="1250" dirty="0"/>
          </a:p>
        </p:txBody>
      </p:sp>
      <p:sp>
        <p:nvSpPr>
          <p:cNvPr id="9" name="track"/>
          <p:cNvSpPr/>
          <p:nvPr/>
        </p:nvSpPr>
        <p:spPr>
          <a:xfrm>
            <a:off x="822960" y="2990088"/>
            <a:ext cx="3017520" cy="128016"/>
          </a:xfrm>
          <a:prstGeom prst="roundRect">
            <a:avLst>
              <a:gd name="adj" fmla="val 50000"/>
            </a:avLst>
          </a:prstGeom>
          <a:solidFill>
            <a:srgbClr val="DCE3EC"/>
          </a:solidFill>
          <a:ln/>
        </p:spPr>
      </p:sp>
      <p:sp>
        <p:nvSpPr>
          <p:cNvPr id="10" name="Logical reasoning"/>
          <p:cNvSpPr/>
          <p:nvPr/>
        </p:nvSpPr>
        <p:spPr>
          <a:xfrm>
            <a:off x="822960" y="2990088"/>
            <a:ext cx="2595067" cy="128016"/>
          </a:xfrm>
          <a:prstGeom prst="roundRect">
            <a:avLst>
              <a:gd name="adj" fmla="val 50000"/>
            </a:avLst>
          </a:prstGeom>
          <a:solidFill>
            <a:schemeClr val="accent1"/>
          </a:solidFill>
          <a:ln/>
        </p:spPr>
      </p:sp>
      <p:sp>
        <p:nvSpPr>
          <p:cNvPr id="11" name="Text 9"/>
          <p:cNvSpPr txBox="1"/>
          <p:nvPr/>
        </p:nvSpPr>
        <p:spPr>
          <a:xfrm>
            <a:off x="822960" y="3246120"/>
            <a:ext cx="3017520" cy="228600"/>
          </a:xfrm>
          <a:prstGeom prst="rect">
            <a:avLst/>
          </a:prstGeom>
          <a:noFill/>
          <a:ln/>
        </p:spPr>
        <p:txBody>
          <a:bodyPr wrap="square" lIns="0" tIns="0" rIns="0" bIns="0" rtlCol="0" anchor="t"/>
          <a:lstStyle/>
          <a:p>
            <a:pPr indent="0" marL="0">
              <a:buNone/>
            </a:pPr>
            <a:r>
              <a:rPr lang="en-US" sz="1250" dirty="0">
                <a:solidFill>
                  <a:schemeClr val="tx1"/>
                </a:solidFill>
              </a:rPr>
              <a:t>Mathematics</a:t>
            </a:r>
            <a:endParaRPr lang="en-US" sz="1250" dirty="0"/>
          </a:p>
        </p:txBody>
      </p:sp>
      <p:sp>
        <p:nvSpPr>
          <p:cNvPr id="12" name="track"/>
          <p:cNvSpPr/>
          <p:nvPr/>
        </p:nvSpPr>
        <p:spPr>
          <a:xfrm>
            <a:off x="822960" y="3493008"/>
            <a:ext cx="3017520" cy="128016"/>
          </a:xfrm>
          <a:prstGeom prst="roundRect">
            <a:avLst>
              <a:gd name="adj" fmla="val 50000"/>
            </a:avLst>
          </a:prstGeom>
          <a:solidFill>
            <a:srgbClr val="DCE3EC"/>
          </a:solidFill>
          <a:ln/>
        </p:spPr>
      </p:sp>
      <p:sp>
        <p:nvSpPr>
          <p:cNvPr id="13" name="Mathematics"/>
          <p:cNvSpPr/>
          <p:nvPr/>
        </p:nvSpPr>
        <p:spPr>
          <a:xfrm>
            <a:off x="822960" y="3493008"/>
            <a:ext cx="2474366" cy="128016"/>
          </a:xfrm>
          <a:prstGeom prst="roundRect">
            <a:avLst>
              <a:gd name="adj" fmla="val 50000"/>
            </a:avLst>
          </a:prstGeom>
          <a:solidFill>
            <a:schemeClr val="accent1"/>
          </a:solidFill>
          <a:ln/>
        </p:spPr>
      </p:sp>
      <p:sp>
        <p:nvSpPr>
          <p:cNvPr id="14" name="Text 12"/>
          <p:cNvSpPr txBox="1"/>
          <p:nvPr/>
        </p:nvSpPr>
        <p:spPr>
          <a:xfrm>
            <a:off x="822960" y="3749040"/>
            <a:ext cx="3017520" cy="228600"/>
          </a:xfrm>
          <a:prstGeom prst="rect">
            <a:avLst/>
          </a:prstGeom>
          <a:noFill/>
          <a:ln/>
        </p:spPr>
        <p:txBody>
          <a:bodyPr wrap="square" lIns="0" tIns="0" rIns="0" bIns="0" rtlCol="0" anchor="t"/>
          <a:lstStyle/>
          <a:p>
            <a:pPr indent="0" marL="0">
              <a:buNone/>
            </a:pPr>
            <a:r>
              <a:rPr lang="en-US" sz="1250" dirty="0">
                <a:solidFill>
                  <a:schemeClr val="tx1"/>
                </a:solidFill>
              </a:rPr>
              <a:t>Physics</a:t>
            </a:r>
            <a:endParaRPr lang="en-US" sz="1250" dirty="0"/>
          </a:p>
        </p:txBody>
      </p:sp>
      <p:sp>
        <p:nvSpPr>
          <p:cNvPr id="15" name="track"/>
          <p:cNvSpPr/>
          <p:nvPr/>
        </p:nvSpPr>
        <p:spPr>
          <a:xfrm>
            <a:off x="822960" y="3995928"/>
            <a:ext cx="3017520" cy="128016"/>
          </a:xfrm>
          <a:prstGeom prst="roundRect">
            <a:avLst>
              <a:gd name="adj" fmla="val 50000"/>
            </a:avLst>
          </a:prstGeom>
          <a:solidFill>
            <a:srgbClr val="DCE3EC"/>
          </a:solidFill>
          <a:ln/>
        </p:spPr>
      </p:sp>
      <p:sp>
        <p:nvSpPr>
          <p:cNvPr id="16" name="Physics"/>
          <p:cNvSpPr/>
          <p:nvPr/>
        </p:nvSpPr>
        <p:spPr>
          <a:xfrm>
            <a:off x="822960" y="3995928"/>
            <a:ext cx="2353666" cy="128016"/>
          </a:xfrm>
          <a:prstGeom prst="roundRect">
            <a:avLst>
              <a:gd name="adj" fmla="val 50000"/>
            </a:avLst>
          </a:prstGeom>
          <a:solidFill>
            <a:schemeClr val="accent1"/>
          </a:solidFill>
          <a:ln/>
        </p:spPr>
      </p:sp>
      <p:sp>
        <p:nvSpPr>
          <p:cNvPr id="17" name="Text 15"/>
          <p:cNvSpPr txBox="1"/>
          <p:nvPr/>
        </p:nvSpPr>
        <p:spPr>
          <a:xfrm>
            <a:off x="822960" y="4251960"/>
            <a:ext cx="3017520" cy="228600"/>
          </a:xfrm>
          <a:prstGeom prst="rect">
            <a:avLst/>
          </a:prstGeom>
          <a:noFill/>
          <a:ln/>
        </p:spPr>
        <p:txBody>
          <a:bodyPr wrap="square" lIns="0" tIns="0" rIns="0" bIns="0" rtlCol="0" anchor="t"/>
          <a:lstStyle/>
          <a:p>
            <a:pPr indent="0" marL="0">
              <a:buNone/>
            </a:pPr>
            <a:r>
              <a:rPr lang="en-US" sz="1250" dirty="0">
                <a:solidFill>
                  <a:schemeClr val="tx1"/>
                </a:solidFill>
              </a:rPr>
              <a:t>Biology</a:t>
            </a:r>
            <a:endParaRPr lang="en-US" sz="1250" dirty="0"/>
          </a:p>
        </p:txBody>
      </p:sp>
      <p:sp>
        <p:nvSpPr>
          <p:cNvPr id="18" name="track"/>
          <p:cNvSpPr/>
          <p:nvPr/>
        </p:nvSpPr>
        <p:spPr>
          <a:xfrm>
            <a:off x="822960" y="4498848"/>
            <a:ext cx="3017520" cy="128016"/>
          </a:xfrm>
          <a:prstGeom prst="roundRect">
            <a:avLst>
              <a:gd name="adj" fmla="val 50000"/>
            </a:avLst>
          </a:prstGeom>
          <a:solidFill>
            <a:srgbClr val="DCE3EC"/>
          </a:solidFill>
          <a:ln/>
        </p:spPr>
      </p:sp>
      <p:sp>
        <p:nvSpPr>
          <p:cNvPr id="19" name="Biology"/>
          <p:cNvSpPr/>
          <p:nvPr/>
        </p:nvSpPr>
        <p:spPr>
          <a:xfrm>
            <a:off x="822960" y="4498848"/>
            <a:ext cx="1750162" cy="128016"/>
          </a:xfrm>
          <a:prstGeom prst="roundRect">
            <a:avLst>
              <a:gd name="adj" fmla="val 50000"/>
            </a:avLst>
          </a:prstGeom>
          <a:solidFill>
            <a:schemeClr val="accent6"/>
          </a:solidFill>
          <a:ln/>
        </p:spPr>
      </p:sp>
      <p:sp>
        <p:nvSpPr>
          <p:cNvPr id="20" name="Text 18"/>
          <p:cNvSpPr txBox="1"/>
          <p:nvPr/>
        </p:nvSpPr>
        <p:spPr>
          <a:xfrm>
            <a:off x="822960" y="4754880"/>
            <a:ext cx="3017520" cy="228600"/>
          </a:xfrm>
          <a:prstGeom prst="rect">
            <a:avLst/>
          </a:prstGeom>
          <a:noFill/>
          <a:ln/>
        </p:spPr>
        <p:txBody>
          <a:bodyPr wrap="square" lIns="0" tIns="0" rIns="0" bIns="0" rtlCol="0" anchor="t"/>
          <a:lstStyle/>
          <a:p>
            <a:pPr indent="0" marL="0">
              <a:buNone/>
            </a:pPr>
            <a:r>
              <a:rPr lang="en-US" sz="1250" dirty="0">
                <a:solidFill>
                  <a:schemeClr val="tx1"/>
                </a:solidFill>
              </a:rPr>
              <a:t>Creativity</a:t>
            </a:r>
            <a:endParaRPr lang="en-US" sz="1250" dirty="0"/>
          </a:p>
        </p:txBody>
      </p:sp>
      <p:sp>
        <p:nvSpPr>
          <p:cNvPr id="21" name="track"/>
          <p:cNvSpPr/>
          <p:nvPr/>
        </p:nvSpPr>
        <p:spPr>
          <a:xfrm>
            <a:off x="822960" y="5001768"/>
            <a:ext cx="3017520" cy="128016"/>
          </a:xfrm>
          <a:prstGeom prst="roundRect">
            <a:avLst>
              <a:gd name="adj" fmla="val 50000"/>
            </a:avLst>
          </a:prstGeom>
          <a:solidFill>
            <a:srgbClr val="DCE3EC"/>
          </a:solidFill>
          <a:ln/>
        </p:spPr>
      </p:sp>
      <p:sp>
        <p:nvSpPr>
          <p:cNvPr id="22" name="Creativity"/>
          <p:cNvSpPr/>
          <p:nvPr/>
        </p:nvSpPr>
        <p:spPr>
          <a:xfrm>
            <a:off x="822960" y="5001768"/>
            <a:ext cx="2112264" cy="128016"/>
          </a:xfrm>
          <a:prstGeom prst="roundRect">
            <a:avLst>
              <a:gd name="adj" fmla="val 50000"/>
            </a:avLst>
          </a:prstGeom>
          <a:solidFill>
            <a:schemeClr val="accent6"/>
          </a:solidFill>
          <a:ln/>
        </p:spPr>
      </p:sp>
      <p:sp>
        <p:nvSpPr>
          <p:cNvPr id="23" name="Text 21"/>
          <p:cNvSpPr txBox="1"/>
          <p:nvPr/>
        </p:nvSpPr>
        <p:spPr>
          <a:xfrm>
            <a:off x="822960" y="5257800"/>
            <a:ext cx="3017520" cy="228600"/>
          </a:xfrm>
          <a:prstGeom prst="rect">
            <a:avLst/>
          </a:prstGeom>
          <a:noFill/>
          <a:ln/>
        </p:spPr>
        <p:txBody>
          <a:bodyPr wrap="square" lIns="0" tIns="0" rIns="0" bIns="0" rtlCol="0" anchor="t"/>
          <a:lstStyle/>
          <a:p>
            <a:pPr indent="0" marL="0">
              <a:buNone/>
            </a:pPr>
            <a:r>
              <a:rPr lang="en-US" sz="1250" dirty="0">
                <a:solidFill>
                  <a:schemeClr val="tx1"/>
                </a:solidFill>
              </a:rPr>
              <a:t>Communication</a:t>
            </a:r>
            <a:endParaRPr lang="en-US" sz="1250" dirty="0"/>
          </a:p>
        </p:txBody>
      </p:sp>
      <p:sp>
        <p:nvSpPr>
          <p:cNvPr id="24" name="track"/>
          <p:cNvSpPr/>
          <p:nvPr/>
        </p:nvSpPr>
        <p:spPr>
          <a:xfrm>
            <a:off x="822960" y="5504688"/>
            <a:ext cx="3017520" cy="128016"/>
          </a:xfrm>
          <a:prstGeom prst="roundRect">
            <a:avLst>
              <a:gd name="adj" fmla="val 50000"/>
            </a:avLst>
          </a:prstGeom>
          <a:solidFill>
            <a:srgbClr val="DCE3EC"/>
          </a:solidFill>
          <a:ln/>
        </p:spPr>
      </p:sp>
      <p:sp>
        <p:nvSpPr>
          <p:cNvPr id="25" name="Communication"/>
          <p:cNvSpPr/>
          <p:nvPr/>
        </p:nvSpPr>
        <p:spPr>
          <a:xfrm>
            <a:off x="822960" y="5504688"/>
            <a:ext cx="1931213" cy="128016"/>
          </a:xfrm>
          <a:prstGeom prst="roundRect">
            <a:avLst>
              <a:gd name="adj" fmla="val 50000"/>
            </a:avLst>
          </a:prstGeom>
          <a:solidFill>
            <a:schemeClr val="accent6"/>
          </a:solidFill>
          <a:ln/>
        </p:spPr>
      </p:sp>
      <p:sp>
        <p:nvSpPr>
          <p:cNvPr id="26" name="leads to circle"/>
          <p:cNvSpPr/>
          <p:nvPr/>
        </p:nvSpPr>
        <p:spPr>
          <a:xfrm>
            <a:off x="4343400" y="3520440"/>
            <a:ext cx="594360" cy="594360"/>
          </a:xfrm>
          <a:prstGeom prst="ellipse">
            <a:avLst/>
          </a:prstGeom>
          <a:solidFill>
            <a:schemeClr val="tx2"/>
          </a:solidFill>
          <a:ln/>
        </p:spPr>
      </p:sp>
      <p:pic>
        <p:nvPicPr>
          <p:cNvPr id="27" name="leads to icon" descr="leads to">    </p:cNvPr>
          <p:cNvPicPr>
            <a:picLocks noChangeAspect="1"/>
          </p:cNvPicPr>
          <p:nvPr/>
        </p:nvPicPr>
        <p:blipFill>
          <a:blip r:embed="rId1"/>
          <a:stretch>
            <a:fillRect/>
          </a:stretch>
        </p:blipFill>
        <p:spPr>
          <a:xfrm>
            <a:off x="4491990" y="3669030"/>
            <a:ext cx="297180" cy="297180"/>
          </a:xfrm>
          <a:prstGeom prst="rect">
            <a:avLst/>
          </a:prstGeom>
        </p:spPr>
      </p:pic>
      <p:sp>
        <p:nvSpPr>
          <p:cNvPr id="28" name="Text 25"/>
          <p:cNvSpPr txBox="1"/>
          <p:nvPr/>
        </p:nvSpPr>
        <p:spPr>
          <a:xfrm>
            <a:off x="5166360" y="1828800"/>
            <a:ext cx="6400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EXAM PREPARATION — CHOSEN BY INTEREST</a:t>
            </a:r>
            <a:endParaRPr lang="en-US" sz="1200" dirty="0"/>
          </a:p>
        </p:txBody>
      </p:sp>
      <p:sp>
        <p:nvSpPr>
          <p:cNvPr id="29" name="JEE"/>
          <p:cNvSpPr/>
          <p:nvPr/>
        </p:nvSpPr>
        <p:spPr>
          <a:xfrm>
            <a:off x="5166360" y="2194560"/>
            <a:ext cx="1536192" cy="457200"/>
          </a:xfrm>
          <a:prstGeom prst="roundRect">
            <a:avLst>
              <a:gd name="adj" fmla="val 20000"/>
            </a:avLst>
          </a:prstGeom>
          <a:solidFill>
            <a:schemeClr val="accent1"/>
          </a:solidFill>
          <a:ln/>
        </p:spPr>
      </p:sp>
      <p:sp>
        <p:nvSpPr>
          <p:cNvPr id="30" name="Text 27"/>
          <p:cNvSpPr txBox="1"/>
          <p:nvPr/>
        </p:nvSpPr>
        <p:spPr>
          <a:xfrm>
            <a:off x="5166360" y="2194560"/>
            <a:ext cx="1536192" cy="457200"/>
          </a:xfrm>
          <a:prstGeom prst="rect">
            <a:avLst/>
          </a:prstGeom>
          <a:noFill/>
          <a:ln/>
        </p:spPr>
        <p:txBody>
          <a:bodyPr wrap="square" lIns="0" tIns="0" rIns="0" bIns="0" rtlCol="0" anchor="ctr"/>
          <a:lstStyle/>
          <a:p>
            <a:pPr algn="ctr" indent="0" marL="0">
              <a:buNone/>
            </a:pPr>
            <a:r>
              <a:rPr lang="en-US" sz="1300" b="1" dirty="0">
                <a:solidFill>
                  <a:schemeClr val="bg1"/>
                </a:solidFill>
              </a:rPr>
              <a:t>JEE</a:t>
            </a:r>
            <a:endParaRPr lang="en-US" sz="1300" dirty="0"/>
          </a:p>
        </p:txBody>
      </p:sp>
      <p:sp>
        <p:nvSpPr>
          <p:cNvPr id="31" name="NEET"/>
          <p:cNvSpPr/>
          <p:nvPr/>
        </p:nvSpPr>
        <p:spPr>
          <a:xfrm>
            <a:off x="6812280" y="2194560"/>
            <a:ext cx="1536192" cy="457200"/>
          </a:xfrm>
          <a:prstGeom prst="roundRect">
            <a:avLst>
              <a:gd name="adj" fmla="val 20000"/>
            </a:avLst>
          </a:prstGeom>
          <a:solidFill>
            <a:schemeClr val="accent1"/>
          </a:solidFill>
          <a:ln/>
        </p:spPr>
      </p:sp>
      <p:sp>
        <p:nvSpPr>
          <p:cNvPr id="32" name="Text 29"/>
          <p:cNvSpPr txBox="1"/>
          <p:nvPr/>
        </p:nvSpPr>
        <p:spPr>
          <a:xfrm>
            <a:off x="6812280" y="2194560"/>
            <a:ext cx="1536192" cy="457200"/>
          </a:xfrm>
          <a:prstGeom prst="rect">
            <a:avLst/>
          </a:prstGeom>
          <a:noFill/>
          <a:ln/>
        </p:spPr>
        <p:txBody>
          <a:bodyPr wrap="square" lIns="0" tIns="0" rIns="0" bIns="0" rtlCol="0" anchor="ctr"/>
          <a:lstStyle/>
          <a:p>
            <a:pPr algn="ctr" indent="0" marL="0">
              <a:buNone/>
            </a:pPr>
            <a:r>
              <a:rPr lang="en-US" sz="1300" b="1" dirty="0">
                <a:solidFill>
                  <a:schemeClr val="bg1"/>
                </a:solidFill>
              </a:rPr>
              <a:t>NEET</a:t>
            </a:r>
            <a:endParaRPr lang="en-US" sz="1300" dirty="0"/>
          </a:p>
        </p:txBody>
      </p:sp>
      <p:sp>
        <p:nvSpPr>
          <p:cNvPr id="33" name="CUET"/>
          <p:cNvSpPr/>
          <p:nvPr/>
        </p:nvSpPr>
        <p:spPr>
          <a:xfrm>
            <a:off x="8458200" y="2194560"/>
            <a:ext cx="1536192" cy="457200"/>
          </a:xfrm>
          <a:prstGeom prst="roundRect">
            <a:avLst>
              <a:gd name="adj" fmla="val 20000"/>
            </a:avLst>
          </a:prstGeom>
          <a:solidFill>
            <a:schemeClr val="accent1">
              <a:alpha val="15000"/>
            </a:schemeClr>
          </a:solidFill>
          <a:ln/>
        </p:spPr>
      </p:sp>
      <p:sp>
        <p:nvSpPr>
          <p:cNvPr id="34" name="Text 31"/>
          <p:cNvSpPr txBox="1"/>
          <p:nvPr/>
        </p:nvSpPr>
        <p:spPr>
          <a:xfrm>
            <a:off x="8458200" y="2194560"/>
            <a:ext cx="1536192" cy="457200"/>
          </a:xfrm>
          <a:prstGeom prst="rect">
            <a:avLst/>
          </a:prstGeom>
          <a:noFill/>
          <a:ln/>
        </p:spPr>
        <p:txBody>
          <a:bodyPr wrap="square" lIns="0" tIns="0" rIns="0" bIns="0" rtlCol="0" anchor="ctr"/>
          <a:lstStyle/>
          <a:p>
            <a:pPr algn="ctr" indent="0" marL="0">
              <a:buNone/>
            </a:pPr>
            <a:r>
              <a:rPr lang="en-US" sz="1300" b="1" dirty="0">
                <a:solidFill>
                  <a:schemeClr val="accent1"/>
                </a:solidFill>
              </a:rPr>
              <a:t>CUET</a:t>
            </a:r>
            <a:endParaRPr lang="en-US" sz="1300" dirty="0"/>
          </a:p>
        </p:txBody>
      </p:sp>
      <p:sp>
        <p:nvSpPr>
          <p:cNvPr id="35" name="Olympiads"/>
          <p:cNvSpPr/>
          <p:nvPr/>
        </p:nvSpPr>
        <p:spPr>
          <a:xfrm>
            <a:off x="10104120" y="2194560"/>
            <a:ext cx="1536192" cy="457200"/>
          </a:xfrm>
          <a:prstGeom prst="roundRect">
            <a:avLst>
              <a:gd name="adj" fmla="val 20000"/>
            </a:avLst>
          </a:prstGeom>
          <a:solidFill>
            <a:schemeClr val="accent1">
              <a:alpha val="15000"/>
            </a:schemeClr>
          </a:solidFill>
          <a:ln/>
        </p:spPr>
      </p:sp>
      <p:sp>
        <p:nvSpPr>
          <p:cNvPr id="36" name="Text 33"/>
          <p:cNvSpPr txBox="1"/>
          <p:nvPr/>
        </p:nvSpPr>
        <p:spPr>
          <a:xfrm>
            <a:off x="10104120" y="2194560"/>
            <a:ext cx="1536192" cy="457200"/>
          </a:xfrm>
          <a:prstGeom prst="rect">
            <a:avLst/>
          </a:prstGeom>
          <a:noFill/>
          <a:ln/>
        </p:spPr>
        <p:txBody>
          <a:bodyPr wrap="square" lIns="0" tIns="0" rIns="0" bIns="0" rtlCol="0" anchor="ctr"/>
          <a:lstStyle/>
          <a:p>
            <a:pPr algn="ctr" indent="0" marL="0">
              <a:buNone/>
            </a:pPr>
            <a:r>
              <a:rPr lang="en-US" sz="1300" b="1" dirty="0">
                <a:solidFill>
                  <a:schemeClr val="accent1"/>
                </a:solidFill>
              </a:rPr>
              <a:t>Olympiads</a:t>
            </a:r>
            <a:endParaRPr lang="en-US" sz="1300" dirty="0"/>
          </a:p>
        </p:txBody>
      </p:sp>
      <p:sp>
        <p:nvSpPr>
          <p:cNvPr id="37" name="NDA"/>
          <p:cNvSpPr/>
          <p:nvPr/>
        </p:nvSpPr>
        <p:spPr>
          <a:xfrm>
            <a:off x="5166360" y="2761488"/>
            <a:ext cx="1536192" cy="457200"/>
          </a:xfrm>
          <a:prstGeom prst="roundRect">
            <a:avLst>
              <a:gd name="adj" fmla="val 20000"/>
            </a:avLst>
          </a:prstGeom>
          <a:solidFill>
            <a:schemeClr val="accent1">
              <a:alpha val="15000"/>
            </a:schemeClr>
          </a:solidFill>
          <a:ln/>
        </p:spPr>
      </p:sp>
      <p:sp>
        <p:nvSpPr>
          <p:cNvPr id="38" name="Text 35"/>
          <p:cNvSpPr txBox="1"/>
          <p:nvPr/>
        </p:nvSpPr>
        <p:spPr>
          <a:xfrm>
            <a:off x="5166360" y="2761488"/>
            <a:ext cx="1536192" cy="457200"/>
          </a:xfrm>
          <a:prstGeom prst="rect">
            <a:avLst/>
          </a:prstGeom>
          <a:noFill/>
          <a:ln/>
        </p:spPr>
        <p:txBody>
          <a:bodyPr wrap="square" lIns="0" tIns="0" rIns="0" bIns="0" rtlCol="0" anchor="ctr"/>
          <a:lstStyle/>
          <a:p>
            <a:pPr algn="ctr" indent="0" marL="0">
              <a:buNone/>
            </a:pPr>
            <a:r>
              <a:rPr lang="en-US" sz="1300" b="1" dirty="0">
                <a:solidFill>
                  <a:schemeClr val="accent1"/>
                </a:solidFill>
              </a:rPr>
              <a:t>NDA</a:t>
            </a:r>
            <a:endParaRPr lang="en-US" sz="1300" dirty="0"/>
          </a:p>
        </p:txBody>
      </p:sp>
      <p:sp>
        <p:nvSpPr>
          <p:cNvPr id="39" name="CLAT"/>
          <p:cNvSpPr/>
          <p:nvPr/>
        </p:nvSpPr>
        <p:spPr>
          <a:xfrm>
            <a:off x="6812280" y="2761488"/>
            <a:ext cx="1536192" cy="457200"/>
          </a:xfrm>
          <a:prstGeom prst="roundRect">
            <a:avLst>
              <a:gd name="adj" fmla="val 20000"/>
            </a:avLst>
          </a:prstGeom>
          <a:solidFill>
            <a:schemeClr val="accent1">
              <a:alpha val="15000"/>
            </a:schemeClr>
          </a:solidFill>
          <a:ln/>
        </p:spPr>
      </p:sp>
      <p:sp>
        <p:nvSpPr>
          <p:cNvPr id="40" name="Text 37"/>
          <p:cNvSpPr txBox="1"/>
          <p:nvPr/>
        </p:nvSpPr>
        <p:spPr>
          <a:xfrm>
            <a:off x="6812280" y="2761488"/>
            <a:ext cx="1536192" cy="457200"/>
          </a:xfrm>
          <a:prstGeom prst="rect">
            <a:avLst/>
          </a:prstGeom>
          <a:noFill/>
          <a:ln/>
        </p:spPr>
        <p:txBody>
          <a:bodyPr wrap="square" lIns="0" tIns="0" rIns="0" bIns="0" rtlCol="0" anchor="ctr"/>
          <a:lstStyle/>
          <a:p>
            <a:pPr algn="ctr" indent="0" marL="0">
              <a:buNone/>
            </a:pPr>
            <a:r>
              <a:rPr lang="en-US" sz="1300" b="1" dirty="0">
                <a:solidFill>
                  <a:schemeClr val="accent1"/>
                </a:solidFill>
              </a:rPr>
              <a:t>CLAT</a:t>
            </a:r>
            <a:endParaRPr lang="en-US" sz="1300" dirty="0"/>
          </a:p>
        </p:txBody>
      </p:sp>
      <p:sp>
        <p:nvSpPr>
          <p:cNvPr id="41" name="Civil services foundation"/>
          <p:cNvSpPr/>
          <p:nvPr/>
        </p:nvSpPr>
        <p:spPr>
          <a:xfrm>
            <a:off x="8458200" y="2761488"/>
            <a:ext cx="1536192" cy="457200"/>
          </a:xfrm>
          <a:prstGeom prst="roundRect">
            <a:avLst>
              <a:gd name="adj" fmla="val 20000"/>
            </a:avLst>
          </a:prstGeom>
          <a:solidFill>
            <a:schemeClr val="accent1">
              <a:alpha val="15000"/>
            </a:schemeClr>
          </a:solidFill>
          <a:ln/>
        </p:spPr>
      </p:sp>
      <p:sp>
        <p:nvSpPr>
          <p:cNvPr id="42" name="Text 39"/>
          <p:cNvSpPr txBox="1"/>
          <p:nvPr/>
        </p:nvSpPr>
        <p:spPr>
          <a:xfrm>
            <a:off x="8458200" y="2761488"/>
            <a:ext cx="1536192" cy="457200"/>
          </a:xfrm>
          <a:prstGeom prst="rect">
            <a:avLst/>
          </a:prstGeom>
          <a:noFill/>
          <a:ln/>
        </p:spPr>
        <p:txBody>
          <a:bodyPr wrap="square" lIns="0" tIns="0" rIns="0" bIns="0" rtlCol="0" anchor="ctr"/>
          <a:lstStyle/>
          <a:p>
            <a:pPr algn="ctr" indent="0" marL="0">
              <a:buNone/>
            </a:pPr>
            <a:r>
              <a:rPr lang="en-US" sz="1100" b="1" dirty="0">
                <a:solidFill>
                  <a:schemeClr val="accent1"/>
                </a:solidFill>
              </a:rPr>
              <a:t>Civil services foundation</a:t>
            </a:r>
            <a:endParaRPr lang="en-US" sz="1100" dirty="0"/>
          </a:p>
        </p:txBody>
      </p:sp>
      <p:sp>
        <p:nvSpPr>
          <p:cNvPr id="43" name="SAT and international"/>
          <p:cNvSpPr/>
          <p:nvPr/>
        </p:nvSpPr>
        <p:spPr>
          <a:xfrm>
            <a:off x="10104120" y="2761488"/>
            <a:ext cx="1536192" cy="457200"/>
          </a:xfrm>
          <a:prstGeom prst="roundRect">
            <a:avLst>
              <a:gd name="adj" fmla="val 20000"/>
            </a:avLst>
          </a:prstGeom>
          <a:solidFill>
            <a:schemeClr val="accent1">
              <a:alpha val="15000"/>
            </a:schemeClr>
          </a:solidFill>
          <a:ln/>
        </p:spPr>
      </p:sp>
      <p:sp>
        <p:nvSpPr>
          <p:cNvPr id="44" name="Text 41"/>
          <p:cNvSpPr txBox="1"/>
          <p:nvPr/>
        </p:nvSpPr>
        <p:spPr>
          <a:xfrm>
            <a:off x="10104120" y="2761488"/>
            <a:ext cx="1536192" cy="457200"/>
          </a:xfrm>
          <a:prstGeom prst="rect">
            <a:avLst/>
          </a:prstGeom>
          <a:noFill/>
          <a:ln/>
        </p:spPr>
        <p:txBody>
          <a:bodyPr wrap="square" lIns="0" tIns="0" rIns="0" bIns="0" rtlCol="0" anchor="ctr"/>
          <a:lstStyle/>
          <a:p>
            <a:pPr algn="ctr" indent="0" marL="0">
              <a:buNone/>
            </a:pPr>
            <a:r>
              <a:rPr lang="en-US" sz="1100" b="1" dirty="0">
                <a:solidFill>
                  <a:schemeClr val="accent1"/>
                </a:solidFill>
              </a:rPr>
              <a:t>SAT and international</a:t>
            </a:r>
            <a:endParaRPr lang="en-US" sz="1100" dirty="0"/>
          </a:p>
        </p:txBody>
      </p:sp>
      <p:sp>
        <p:nvSpPr>
          <p:cNvPr id="45" name="Text 42"/>
          <p:cNvSpPr txBox="1"/>
          <p:nvPr/>
        </p:nvSpPr>
        <p:spPr>
          <a:xfrm>
            <a:off x="5166360" y="3520440"/>
            <a:ext cx="64008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PROFESSIONAL AND SKILL COURSES</a:t>
            </a:r>
            <a:endParaRPr lang="en-US" sz="1200" dirty="0"/>
          </a:p>
        </p:txBody>
      </p:sp>
      <p:sp>
        <p:nvSpPr>
          <p:cNvPr id="46" name="Coding and AI"/>
          <p:cNvSpPr/>
          <p:nvPr/>
        </p:nvSpPr>
        <p:spPr>
          <a:xfrm>
            <a:off x="5166360" y="3886200"/>
            <a:ext cx="2075688" cy="457200"/>
          </a:xfrm>
          <a:prstGeom prst="roundRect">
            <a:avLst>
              <a:gd name="adj" fmla="val 20000"/>
            </a:avLst>
          </a:prstGeom>
          <a:solidFill>
            <a:schemeClr val="accent5">
              <a:alpha val="15000"/>
            </a:schemeClr>
          </a:solidFill>
          <a:ln/>
        </p:spPr>
      </p:sp>
      <p:sp>
        <p:nvSpPr>
          <p:cNvPr id="47" name="Text 44"/>
          <p:cNvSpPr txBox="1"/>
          <p:nvPr/>
        </p:nvSpPr>
        <p:spPr>
          <a:xfrm>
            <a:off x="5166360" y="3886200"/>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Coding and AI</a:t>
            </a:r>
            <a:endParaRPr lang="en-US" sz="1300" dirty="0"/>
          </a:p>
        </p:txBody>
      </p:sp>
      <p:sp>
        <p:nvSpPr>
          <p:cNvPr id="48" name="Data and analytics"/>
          <p:cNvSpPr/>
          <p:nvPr/>
        </p:nvSpPr>
        <p:spPr>
          <a:xfrm>
            <a:off x="7351776" y="3886200"/>
            <a:ext cx="2075688" cy="457200"/>
          </a:xfrm>
          <a:prstGeom prst="roundRect">
            <a:avLst>
              <a:gd name="adj" fmla="val 20000"/>
            </a:avLst>
          </a:prstGeom>
          <a:solidFill>
            <a:schemeClr val="accent5">
              <a:alpha val="15000"/>
            </a:schemeClr>
          </a:solidFill>
          <a:ln/>
        </p:spPr>
      </p:sp>
      <p:sp>
        <p:nvSpPr>
          <p:cNvPr id="49" name="Text 46"/>
          <p:cNvSpPr txBox="1"/>
          <p:nvPr/>
        </p:nvSpPr>
        <p:spPr>
          <a:xfrm>
            <a:off x="7351776" y="3886200"/>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Data and analytics</a:t>
            </a:r>
            <a:endParaRPr lang="en-US" sz="1300" dirty="0"/>
          </a:p>
        </p:txBody>
      </p:sp>
      <p:sp>
        <p:nvSpPr>
          <p:cNvPr id="50" name="Design"/>
          <p:cNvSpPr/>
          <p:nvPr/>
        </p:nvSpPr>
        <p:spPr>
          <a:xfrm>
            <a:off x="9537192" y="3886200"/>
            <a:ext cx="2075688" cy="457200"/>
          </a:xfrm>
          <a:prstGeom prst="roundRect">
            <a:avLst>
              <a:gd name="adj" fmla="val 20000"/>
            </a:avLst>
          </a:prstGeom>
          <a:solidFill>
            <a:schemeClr val="accent5">
              <a:alpha val="15000"/>
            </a:schemeClr>
          </a:solidFill>
          <a:ln/>
        </p:spPr>
      </p:sp>
      <p:sp>
        <p:nvSpPr>
          <p:cNvPr id="51" name="Text 48"/>
          <p:cNvSpPr txBox="1"/>
          <p:nvPr/>
        </p:nvSpPr>
        <p:spPr>
          <a:xfrm>
            <a:off x="9537192" y="3886200"/>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Design</a:t>
            </a:r>
            <a:endParaRPr lang="en-US" sz="1300" dirty="0"/>
          </a:p>
        </p:txBody>
      </p:sp>
      <p:sp>
        <p:nvSpPr>
          <p:cNvPr id="52" name="Finance basics"/>
          <p:cNvSpPr/>
          <p:nvPr/>
        </p:nvSpPr>
        <p:spPr>
          <a:xfrm>
            <a:off x="5166360" y="4453128"/>
            <a:ext cx="2075688" cy="457200"/>
          </a:xfrm>
          <a:prstGeom prst="roundRect">
            <a:avLst>
              <a:gd name="adj" fmla="val 20000"/>
            </a:avLst>
          </a:prstGeom>
          <a:solidFill>
            <a:schemeClr val="accent5">
              <a:alpha val="15000"/>
            </a:schemeClr>
          </a:solidFill>
          <a:ln/>
        </p:spPr>
      </p:sp>
      <p:sp>
        <p:nvSpPr>
          <p:cNvPr id="53" name="Text 50"/>
          <p:cNvSpPr txBox="1"/>
          <p:nvPr/>
        </p:nvSpPr>
        <p:spPr>
          <a:xfrm>
            <a:off x="5166360" y="4453128"/>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Finance basics</a:t>
            </a:r>
            <a:endParaRPr lang="en-US" sz="1300" dirty="0"/>
          </a:p>
        </p:txBody>
      </p:sp>
      <p:sp>
        <p:nvSpPr>
          <p:cNvPr id="54" name="Spoken English"/>
          <p:cNvSpPr/>
          <p:nvPr/>
        </p:nvSpPr>
        <p:spPr>
          <a:xfrm>
            <a:off x="7351776" y="4453128"/>
            <a:ext cx="2075688" cy="457200"/>
          </a:xfrm>
          <a:prstGeom prst="roundRect">
            <a:avLst>
              <a:gd name="adj" fmla="val 20000"/>
            </a:avLst>
          </a:prstGeom>
          <a:solidFill>
            <a:schemeClr val="accent5">
              <a:alpha val="15000"/>
            </a:schemeClr>
          </a:solidFill>
          <a:ln/>
        </p:spPr>
      </p:sp>
      <p:sp>
        <p:nvSpPr>
          <p:cNvPr id="55" name="Text 52"/>
          <p:cNvSpPr txBox="1"/>
          <p:nvPr/>
        </p:nvSpPr>
        <p:spPr>
          <a:xfrm>
            <a:off x="7351776" y="4453128"/>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Spoken English</a:t>
            </a:r>
            <a:endParaRPr lang="en-US" sz="1300" dirty="0"/>
          </a:p>
        </p:txBody>
      </p:sp>
      <p:sp>
        <p:nvSpPr>
          <p:cNvPr id="56" name="Entrepreneurship"/>
          <p:cNvSpPr/>
          <p:nvPr/>
        </p:nvSpPr>
        <p:spPr>
          <a:xfrm>
            <a:off x="9537192" y="4453128"/>
            <a:ext cx="2075688" cy="457200"/>
          </a:xfrm>
          <a:prstGeom prst="roundRect">
            <a:avLst>
              <a:gd name="adj" fmla="val 20000"/>
            </a:avLst>
          </a:prstGeom>
          <a:solidFill>
            <a:schemeClr val="accent5">
              <a:alpha val="15000"/>
            </a:schemeClr>
          </a:solidFill>
          <a:ln/>
        </p:spPr>
      </p:sp>
      <p:sp>
        <p:nvSpPr>
          <p:cNvPr id="57" name="Text 54"/>
          <p:cNvSpPr txBox="1"/>
          <p:nvPr/>
        </p:nvSpPr>
        <p:spPr>
          <a:xfrm>
            <a:off x="9537192" y="4453128"/>
            <a:ext cx="2075688" cy="457200"/>
          </a:xfrm>
          <a:prstGeom prst="rect">
            <a:avLst/>
          </a:prstGeom>
          <a:noFill/>
          <a:ln/>
        </p:spPr>
        <p:txBody>
          <a:bodyPr wrap="square" lIns="0" tIns="0" rIns="0" bIns="0" rtlCol="0" anchor="ctr"/>
          <a:lstStyle/>
          <a:p>
            <a:pPr algn="ctr" indent="0" marL="0">
              <a:buNone/>
            </a:pPr>
            <a:r>
              <a:rPr lang="en-US" sz="1300" b="1" dirty="0">
                <a:solidFill>
                  <a:schemeClr val="accent5"/>
                </a:solidFill>
              </a:rPr>
              <a:t>Entrepreneurship</a:t>
            </a:r>
            <a:endParaRPr lang="en-US" sz="1300" dirty="0"/>
          </a:p>
        </p:txBody>
      </p:sp>
      <p:sp>
        <p:nvSpPr>
          <p:cNvPr id="58" name="message"/>
          <p:cNvSpPr/>
          <p:nvPr/>
        </p:nvSpPr>
        <p:spPr>
          <a:xfrm>
            <a:off x="5166360" y="5166360"/>
            <a:ext cx="6473952" cy="685800"/>
          </a:xfrm>
          <a:prstGeom prst="roundRect">
            <a:avLst>
              <a:gd name="adj" fmla="val 16000"/>
            </a:avLst>
          </a:prstGeom>
          <a:solidFill>
            <a:schemeClr val="accent2">
              <a:alpha val="15000"/>
            </a:schemeClr>
          </a:solidFill>
          <a:ln/>
        </p:spPr>
      </p:sp>
      <p:sp>
        <p:nvSpPr>
          <p:cNvPr id="59" name="Text 56"/>
          <p:cNvSpPr txBox="1"/>
          <p:nvPr/>
        </p:nvSpPr>
        <p:spPr>
          <a:xfrm>
            <a:off x="5349240" y="5166360"/>
            <a:ext cx="6126480" cy="685800"/>
          </a:xfrm>
          <a:prstGeom prst="rect">
            <a:avLst/>
          </a:prstGeom>
          <a:noFill/>
          <a:ln/>
        </p:spPr>
        <p:txBody>
          <a:bodyPr wrap="square" lIns="0" tIns="0" rIns="0" bIns="0" rtlCol="0" anchor="ctr"/>
          <a:lstStyle/>
          <a:p>
            <a:pPr indent="0" marL="0">
              <a:buNone/>
            </a:pPr>
            <a:r>
              <a:rPr lang="en-US" sz="1400" b="1" dirty="0">
                <a:solidFill>
                  <a:schemeClr val="tx2"/>
                </a:solidFill>
              </a:rPr>
              <a:t>Not one exam for everyone. </a:t>
            </a:r>
            <a:pPr indent="0" marL="0">
              <a:buNone/>
            </a:pPr>
            <a:r>
              <a:rPr lang="en-US" sz="1400" dirty="0">
                <a:solidFill>
                  <a:schemeClr val="tx1"/>
                </a:solidFill>
              </a:rPr>
              <a:t>This student is guided towards JEE — another may be guided to NEET, design or coding.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TEACHER ABSENT?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No class is ever lost</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Three levels of backup, tried in order — the student always gets the planned lesson.</a:t>
            </a:r>
            <a:endParaRPr lang="en-US" sz="1600" dirty="0"/>
          </a:p>
        </p:txBody>
      </p:sp>
      <p:sp>
        <p:nvSpPr>
          <p:cNvPr id="5" name="Text 3"/>
          <p:cNvSpPr txBox="1"/>
          <p:nvPr/>
        </p:nvSpPr>
        <p:spPr>
          <a:xfrm>
            <a:off x="548640" y="1874520"/>
            <a:ext cx="2011680" cy="320040"/>
          </a:xfrm>
          <a:prstGeom prst="rect">
            <a:avLst/>
          </a:prstGeom>
          <a:noFill/>
          <a:ln/>
        </p:spPr>
        <p:txBody>
          <a:bodyPr wrap="square" lIns="0" tIns="0" rIns="0" bIns="0" rtlCol="0" anchor="t"/>
          <a:lstStyle/>
          <a:p>
            <a:pPr indent="0" marL="0">
              <a:buNone/>
            </a:pPr>
            <a:r>
              <a:rPr lang="en-US" sz="1200" b="1" spc="100" kern="0" dirty="0">
                <a:solidFill>
                  <a:schemeClr val="accent3"/>
                </a:solidFill>
              </a:rPr>
              <a:t>TEACHER ABSENT</a:t>
            </a:r>
            <a:endParaRPr lang="en-US" sz="1200" dirty="0"/>
          </a:p>
        </p:txBody>
      </p:sp>
      <p:sp>
        <p:nvSpPr>
          <p:cNvPr id="6" name="teacher absent circle"/>
          <p:cNvSpPr/>
          <p:nvPr/>
        </p:nvSpPr>
        <p:spPr>
          <a:xfrm>
            <a:off x="960120" y="2331720"/>
            <a:ext cx="1005840" cy="1005840"/>
          </a:xfrm>
          <a:prstGeom prst="ellipse">
            <a:avLst/>
          </a:prstGeom>
          <a:solidFill>
            <a:schemeClr val="accent3"/>
          </a:solidFill>
          <a:ln/>
        </p:spPr>
      </p:sp>
      <p:pic>
        <p:nvPicPr>
          <p:cNvPr id="7" name="teacher absent icon" descr="teacher absent">    </p:cNvPr>
          <p:cNvPicPr>
            <a:picLocks noChangeAspect="1"/>
          </p:cNvPicPr>
          <p:nvPr/>
        </p:nvPicPr>
        <p:blipFill>
          <a:blip r:embed="rId1"/>
          <a:stretch>
            <a:fillRect/>
          </a:stretch>
        </p:blipFill>
        <p:spPr>
          <a:xfrm>
            <a:off x="1211580" y="2583180"/>
            <a:ext cx="502920" cy="502920"/>
          </a:xfrm>
          <a:prstGeom prst="rect">
            <a:avLst/>
          </a:prstGeom>
        </p:spPr>
      </p:pic>
      <p:sp>
        <p:nvSpPr>
          <p:cNvPr id="8" name="1. Substitute teacher"/>
          <p:cNvSpPr/>
          <p:nvPr/>
        </p:nvSpPr>
        <p:spPr>
          <a:xfrm>
            <a:off x="2606040" y="1828800"/>
            <a:ext cx="2834640" cy="3108960"/>
          </a:xfrm>
          <a:prstGeom prst="roundRect">
            <a:avLst>
              <a:gd name="adj" fmla="val 3871"/>
            </a:avLst>
          </a:prstGeom>
          <a:solidFill>
            <a:schemeClr val="accent1">
              <a:alpha val="12000"/>
            </a:schemeClr>
          </a:solidFill>
          <a:ln/>
        </p:spPr>
      </p:sp>
      <p:sp>
        <p:nvSpPr>
          <p:cNvPr id="9" name="1. Substitute teacher circle"/>
          <p:cNvSpPr/>
          <p:nvPr/>
        </p:nvSpPr>
        <p:spPr>
          <a:xfrm>
            <a:off x="2880360" y="2057400"/>
            <a:ext cx="777240" cy="777240"/>
          </a:xfrm>
          <a:prstGeom prst="ellipse">
            <a:avLst/>
          </a:prstGeom>
          <a:solidFill>
            <a:schemeClr val="accent1"/>
          </a:solidFill>
          <a:ln/>
        </p:spPr>
      </p:sp>
      <p:pic>
        <p:nvPicPr>
          <p:cNvPr id="10" name="1. Substitute teacher icon" descr="1. Substitute teacher">    </p:cNvPr>
          <p:cNvPicPr>
            <a:picLocks noChangeAspect="1"/>
          </p:cNvPicPr>
          <p:nvPr/>
        </p:nvPicPr>
        <p:blipFill>
          <a:blip r:embed="rId2"/>
          <a:stretch>
            <a:fillRect/>
          </a:stretch>
        </p:blipFill>
        <p:spPr>
          <a:xfrm>
            <a:off x="3074670" y="2251710"/>
            <a:ext cx="388620" cy="388620"/>
          </a:xfrm>
          <a:prstGeom prst="rect">
            <a:avLst/>
          </a:prstGeom>
        </p:spPr>
      </p:pic>
      <p:sp>
        <p:nvSpPr>
          <p:cNvPr id="11" name="Text 7"/>
          <p:cNvSpPr txBox="1"/>
          <p:nvPr/>
        </p:nvSpPr>
        <p:spPr>
          <a:xfrm>
            <a:off x="2880360" y="2971800"/>
            <a:ext cx="2377440" cy="685800"/>
          </a:xfrm>
          <a:prstGeom prst="rect">
            <a:avLst/>
          </a:prstGeom>
          <a:noFill/>
          <a:ln/>
        </p:spPr>
        <p:txBody>
          <a:bodyPr wrap="square" lIns="0" tIns="0" rIns="0" bIns="0" rtlCol="0" anchor="t"/>
          <a:lstStyle/>
          <a:p>
            <a:pPr indent="0" marL="0">
              <a:buNone/>
            </a:pPr>
            <a:r>
              <a:rPr lang="en-US" sz="1700" b="1" dirty="0">
                <a:solidFill>
                  <a:schemeClr val="tx2"/>
                </a:solidFill>
              </a:rPr>
              <a:t>1. Substitute teacher</a:t>
            </a:r>
            <a:endParaRPr lang="en-US" sz="1700" dirty="0"/>
          </a:p>
        </p:txBody>
      </p:sp>
      <p:sp>
        <p:nvSpPr>
          <p:cNvPr id="12" name="Text 8"/>
          <p:cNvSpPr txBox="1"/>
          <p:nvPr/>
        </p:nvSpPr>
        <p:spPr>
          <a:xfrm>
            <a:off x="2880360" y="3657600"/>
            <a:ext cx="2377440" cy="1188720"/>
          </a:xfrm>
          <a:prstGeom prst="rect">
            <a:avLst/>
          </a:prstGeom>
          <a:noFill/>
          <a:ln/>
        </p:spPr>
        <p:txBody>
          <a:bodyPr wrap="square" lIns="0" tIns="0" rIns="0" bIns="0" rtlCol="0" anchor="t"/>
          <a:lstStyle/>
          <a:p>
            <a:pPr indent="0" marL="0">
              <a:buNone/>
            </a:pPr>
            <a:r>
              <a:rPr lang="en-US" sz="1350" dirty="0">
                <a:solidFill>
                  <a:schemeClr val="tx1"/>
                </a:solidFill>
              </a:rPr>
              <a:t>AI finds the best free teacher in the school for the same subject and approves with the principal.</a:t>
            </a:r>
            <a:endParaRPr lang="en-US" sz="1350" dirty="0"/>
          </a:p>
        </p:txBody>
      </p:sp>
      <p:pic>
        <p:nvPicPr>
          <p:cNvPr id="13" name="Image 2" descr="if not available">    </p:cNvPr>
          <p:cNvPicPr>
            <a:picLocks noChangeAspect="1"/>
          </p:cNvPicPr>
          <p:nvPr/>
        </p:nvPicPr>
        <p:blipFill>
          <a:blip r:embed="rId3"/>
          <a:stretch>
            <a:fillRect/>
          </a:stretch>
        </p:blipFill>
        <p:spPr>
          <a:xfrm>
            <a:off x="2331720" y="3246120"/>
            <a:ext cx="219456" cy="219456"/>
          </a:xfrm>
          <a:prstGeom prst="rect">
            <a:avLst/>
          </a:prstGeom>
        </p:spPr>
      </p:pic>
      <p:sp>
        <p:nvSpPr>
          <p:cNvPr id="14" name="2. Live class from a nearby school"/>
          <p:cNvSpPr/>
          <p:nvPr/>
        </p:nvSpPr>
        <p:spPr>
          <a:xfrm>
            <a:off x="5669280" y="1828800"/>
            <a:ext cx="2834640" cy="3108960"/>
          </a:xfrm>
          <a:prstGeom prst="roundRect">
            <a:avLst>
              <a:gd name="adj" fmla="val 3871"/>
            </a:avLst>
          </a:prstGeom>
          <a:solidFill>
            <a:schemeClr val="accent2">
              <a:alpha val="12000"/>
            </a:schemeClr>
          </a:solidFill>
          <a:ln/>
        </p:spPr>
      </p:sp>
      <p:sp>
        <p:nvSpPr>
          <p:cNvPr id="15" name="2. Live class from a nearby school circle"/>
          <p:cNvSpPr/>
          <p:nvPr/>
        </p:nvSpPr>
        <p:spPr>
          <a:xfrm>
            <a:off x="5943600" y="2057400"/>
            <a:ext cx="777240" cy="777240"/>
          </a:xfrm>
          <a:prstGeom prst="ellipse">
            <a:avLst/>
          </a:prstGeom>
          <a:solidFill>
            <a:schemeClr val="accent2"/>
          </a:solidFill>
          <a:ln/>
        </p:spPr>
      </p:sp>
      <p:pic>
        <p:nvPicPr>
          <p:cNvPr id="16" name="2. Live class from a nearby school icon" descr="2. Live class from a nearby school">    </p:cNvPr>
          <p:cNvPicPr>
            <a:picLocks noChangeAspect="1"/>
          </p:cNvPicPr>
          <p:nvPr/>
        </p:nvPicPr>
        <p:blipFill>
          <a:blip r:embed="rId4"/>
          <a:stretch>
            <a:fillRect/>
          </a:stretch>
        </p:blipFill>
        <p:spPr>
          <a:xfrm>
            <a:off x="6137910" y="2251710"/>
            <a:ext cx="388620" cy="388620"/>
          </a:xfrm>
          <a:prstGeom prst="rect">
            <a:avLst/>
          </a:prstGeom>
        </p:spPr>
      </p:pic>
      <p:sp>
        <p:nvSpPr>
          <p:cNvPr id="17" name="Text 11"/>
          <p:cNvSpPr txBox="1"/>
          <p:nvPr/>
        </p:nvSpPr>
        <p:spPr>
          <a:xfrm>
            <a:off x="5943600" y="2971800"/>
            <a:ext cx="2377440" cy="685800"/>
          </a:xfrm>
          <a:prstGeom prst="rect">
            <a:avLst/>
          </a:prstGeom>
          <a:noFill/>
          <a:ln/>
        </p:spPr>
        <p:txBody>
          <a:bodyPr wrap="square" lIns="0" tIns="0" rIns="0" bIns="0" rtlCol="0" anchor="t"/>
          <a:lstStyle/>
          <a:p>
            <a:pPr indent="0" marL="0">
              <a:buNone/>
            </a:pPr>
            <a:r>
              <a:rPr lang="en-US" sz="1700" b="1" dirty="0">
                <a:solidFill>
                  <a:schemeClr val="tx2"/>
                </a:solidFill>
              </a:rPr>
              <a:t>2. Live class from a nearby school</a:t>
            </a:r>
            <a:endParaRPr lang="en-US" sz="1700" dirty="0"/>
          </a:p>
        </p:txBody>
      </p:sp>
      <p:sp>
        <p:nvSpPr>
          <p:cNvPr id="18" name="Text 12"/>
          <p:cNvSpPr txBox="1"/>
          <p:nvPr/>
        </p:nvSpPr>
        <p:spPr>
          <a:xfrm>
            <a:off x="5943600" y="3657600"/>
            <a:ext cx="2377440" cy="1188720"/>
          </a:xfrm>
          <a:prstGeom prst="rect">
            <a:avLst/>
          </a:prstGeom>
          <a:noFill/>
          <a:ln/>
        </p:spPr>
        <p:txBody>
          <a:bodyPr wrap="square" lIns="0" tIns="0" rIns="0" bIns="0" rtlCol="0" anchor="t"/>
          <a:lstStyle/>
          <a:p>
            <a:pPr indent="0" marL="0">
              <a:buNone/>
            </a:pPr>
            <a:r>
              <a:rPr lang="en-US" sz="1350" dirty="0">
                <a:solidFill>
                  <a:schemeClr val="tx1"/>
                </a:solidFill>
              </a:rPr>
              <a:t>Students join a live class on the same subject and the same topic, happening right now in another school.</a:t>
            </a:r>
            <a:endParaRPr lang="en-US" sz="1350" dirty="0"/>
          </a:p>
        </p:txBody>
      </p:sp>
      <p:pic>
        <p:nvPicPr>
          <p:cNvPr id="19" name="Image 4" descr="if not available">    </p:cNvPr>
          <p:cNvPicPr>
            <a:picLocks noChangeAspect="1"/>
          </p:cNvPicPr>
          <p:nvPr/>
        </p:nvPicPr>
        <p:blipFill>
          <a:blip r:embed="rId5"/>
          <a:stretch>
            <a:fillRect/>
          </a:stretch>
        </p:blipFill>
        <p:spPr>
          <a:xfrm>
            <a:off x="5394960" y="3246120"/>
            <a:ext cx="219456" cy="219456"/>
          </a:xfrm>
          <a:prstGeom prst="rect">
            <a:avLst/>
          </a:prstGeom>
        </p:spPr>
      </p:pic>
      <p:sp>
        <p:nvSpPr>
          <p:cNvPr id="20" name="3. AI avatar teaches"/>
          <p:cNvSpPr/>
          <p:nvPr/>
        </p:nvSpPr>
        <p:spPr>
          <a:xfrm>
            <a:off x="8732520" y="1828800"/>
            <a:ext cx="2834640" cy="3108960"/>
          </a:xfrm>
          <a:prstGeom prst="roundRect">
            <a:avLst>
              <a:gd name="adj" fmla="val 3871"/>
            </a:avLst>
          </a:prstGeom>
          <a:solidFill>
            <a:schemeClr val="accent5">
              <a:alpha val="12000"/>
            </a:schemeClr>
          </a:solidFill>
          <a:ln/>
        </p:spPr>
      </p:sp>
      <p:sp>
        <p:nvSpPr>
          <p:cNvPr id="21" name="3. AI avatar teaches circle"/>
          <p:cNvSpPr/>
          <p:nvPr/>
        </p:nvSpPr>
        <p:spPr>
          <a:xfrm>
            <a:off x="9006840" y="2057400"/>
            <a:ext cx="777240" cy="777240"/>
          </a:xfrm>
          <a:prstGeom prst="ellipse">
            <a:avLst/>
          </a:prstGeom>
          <a:solidFill>
            <a:schemeClr val="accent5"/>
          </a:solidFill>
          <a:ln/>
        </p:spPr>
      </p:sp>
      <p:pic>
        <p:nvPicPr>
          <p:cNvPr id="22" name="3. AI avatar teaches icon" descr="3. AI avatar teaches">    </p:cNvPr>
          <p:cNvPicPr>
            <a:picLocks noChangeAspect="1"/>
          </p:cNvPicPr>
          <p:nvPr/>
        </p:nvPicPr>
        <p:blipFill>
          <a:blip r:embed="rId6"/>
          <a:stretch>
            <a:fillRect/>
          </a:stretch>
        </p:blipFill>
        <p:spPr>
          <a:xfrm>
            <a:off x="9201150" y="2251710"/>
            <a:ext cx="388620" cy="388620"/>
          </a:xfrm>
          <a:prstGeom prst="rect">
            <a:avLst/>
          </a:prstGeom>
        </p:spPr>
      </p:pic>
      <p:sp>
        <p:nvSpPr>
          <p:cNvPr id="23" name="Text 15"/>
          <p:cNvSpPr txBox="1"/>
          <p:nvPr/>
        </p:nvSpPr>
        <p:spPr>
          <a:xfrm>
            <a:off x="9006840" y="2971800"/>
            <a:ext cx="2377440" cy="685800"/>
          </a:xfrm>
          <a:prstGeom prst="rect">
            <a:avLst/>
          </a:prstGeom>
          <a:noFill/>
          <a:ln/>
        </p:spPr>
        <p:txBody>
          <a:bodyPr wrap="square" lIns="0" tIns="0" rIns="0" bIns="0" rtlCol="0" anchor="t"/>
          <a:lstStyle/>
          <a:p>
            <a:pPr indent="0" marL="0">
              <a:buNone/>
            </a:pPr>
            <a:r>
              <a:rPr lang="en-US" sz="1700" b="1" dirty="0">
                <a:solidFill>
                  <a:schemeClr val="tx2"/>
                </a:solidFill>
              </a:rPr>
              <a:t>3. AI avatar teaches</a:t>
            </a:r>
            <a:endParaRPr lang="en-US" sz="1700" dirty="0"/>
          </a:p>
        </p:txBody>
      </p:sp>
      <p:sp>
        <p:nvSpPr>
          <p:cNvPr id="24" name="Text 16"/>
          <p:cNvSpPr txBox="1"/>
          <p:nvPr/>
        </p:nvSpPr>
        <p:spPr>
          <a:xfrm>
            <a:off x="9006840" y="3657600"/>
            <a:ext cx="2377440" cy="1188720"/>
          </a:xfrm>
          <a:prstGeom prst="rect">
            <a:avLst/>
          </a:prstGeom>
          <a:noFill/>
          <a:ln/>
        </p:spPr>
        <p:txBody>
          <a:bodyPr wrap="square" lIns="0" tIns="0" rIns="0" bIns="0" rtlCol="0" anchor="t"/>
          <a:lstStyle/>
          <a:p>
            <a:pPr indent="0" marL="0">
              <a:buNone/>
            </a:pPr>
            <a:r>
              <a:rPr lang="en-US" sz="1350" dirty="0">
                <a:solidFill>
                  <a:schemeClr val="tx1"/>
                </a:solidFill>
              </a:rPr>
              <a:t>If no live class is available, an AI avatar teaches the planned topic with 3D models, doubt-solving and practice.</a:t>
            </a:r>
            <a:endParaRPr lang="en-US" sz="1350" dirty="0"/>
          </a:p>
        </p:txBody>
      </p:sp>
      <p:pic>
        <p:nvPicPr>
          <p:cNvPr id="25" name="Image 6" descr="if not available">    </p:cNvPr>
          <p:cNvPicPr>
            <a:picLocks noChangeAspect="1"/>
          </p:cNvPicPr>
          <p:nvPr/>
        </p:nvPicPr>
        <p:blipFill>
          <a:blip r:embed="rId7"/>
          <a:stretch>
            <a:fillRect/>
          </a:stretch>
        </p:blipFill>
        <p:spPr>
          <a:xfrm>
            <a:off x="8458200" y="3246120"/>
            <a:ext cx="219456" cy="219456"/>
          </a:xfrm>
          <a:prstGeom prst="rect">
            <a:avLst/>
          </a:prstGeom>
        </p:spPr>
      </p:pic>
      <p:sp>
        <p:nvSpPr>
          <p:cNvPr id="26" name="recorded"/>
          <p:cNvSpPr/>
          <p:nvPr/>
        </p:nvSpPr>
        <p:spPr>
          <a:xfrm>
            <a:off x="548640" y="5349240"/>
            <a:ext cx="11094415" cy="594360"/>
          </a:xfrm>
          <a:prstGeom prst="roundRect">
            <a:avLst>
              <a:gd name="adj" fmla="val 18462"/>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7" name="Text 18"/>
          <p:cNvSpPr txBox="1"/>
          <p:nvPr/>
        </p:nvSpPr>
        <p:spPr>
          <a:xfrm>
            <a:off x="822960" y="5349240"/>
            <a:ext cx="10545775" cy="594360"/>
          </a:xfrm>
          <a:prstGeom prst="rect">
            <a:avLst/>
          </a:prstGeom>
          <a:noFill/>
          <a:ln/>
        </p:spPr>
        <p:txBody>
          <a:bodyPr wrap="square" lIns="0" tIns="0" rIns="0" bIns="0" rtlCol="0" anchor="ctr"/>
          <a:lstStyle/>
          <a:p>
            <a:pPr indent="0" marL="0">
              <a:buNone/>
            </a:pPr>
            <a:r>
              <a:rPr lang="en-US" sz="1500" b="1" dirty="0">
                <a:solidFill>
                  <a:schemeClr val="accent1"/>
                </a:solidFill>
              </a:rPr>
              <a:t>Always: </a:t>
            </a:r>
            <a:pPr indent="0" marL="0">
              <a:buNone/>
            </a:pPr>
            <a:r>
              <a:rPr lang="en-US" sz="1500" dirty="0">
                <a:solidFill>
                  <a:schemeClr val="tx1"/>
                </a:solidFill>
              </a:rPr>
              <a:t>attendance and learning are recorded, and the syllabus plan updates itself — no gap reaches the exam.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CLEAR DATA FOR LEADERS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Every leader sees the truth — live</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From one classroom to a whole district or school group, with complete student records.</a:t>
            </a:r>
            <a:endParaRPr lang="en-US" sz="1600" dirty="0"/>
          </a:p>
        </p:txBody>
      </p:sp>
      <p:sp>
        <p:nvSpPr>
          <p:cNvPr id="5" name="principal_g frame"/>
          <p:cNvSpPr/>
          <p:nvPr/>
        </p:nvSpPr>
        <p:spPr>
          <a:xfrm>
            <a:off x="493776" y="1755648"/>
            <a:ext cx="6876288" cy="3976817"/>
          </a:xfrm>
          <a:prstGeom prst="roundRect">
            <a:avLst>
              <a:gd name="adj" fmla="val 1839"/>
            </a:avLst>
          </a:prstGeom>
          <a:solidFill>
            <a:schemeClr val="bg1"/>
          </a:solidFill>
          <a:ln w="9525">
            <a:solidFill>
              <a:srgbClr val="DCE3EC"/>
            </a:solidFill>
            <a:prstDash val="solid"/>
          </a:ln>
          <a:effectLst>
            <a:outerShdw sx="100000" sy="100000" kx="0" ky="0" algn="bl" rotWithShape="0" blurRad="127000" dist="38100" dir="5400000">
              <a:srgbClr val="000000">
                <a:alpha val="14000"/>
              </a:srgbClr>
            </a:outerShdw>
          </a:effectLst>
        </p:spPr>
      </p:sp>
      <p:pic>
        <p:nvPicPr>
          <p:cNvPr id="6" name="Image 0" descr="principal_g screen (UI concept)">    </p:cNvPr>
          <p:cNvPicPr>
            <a:picLocks noChangeAspect="1"/>
          </p:cNvPicPr>
          <p:nvPr/>
        </p:nvPicPr>
        <p:blipFill>
          <a:blip r:embed="rId1"/>
          <a:stretch>
            <a:fillRect/>
          </a:stretch>
        </p:blipFill>
        <p:spPr>
          <a:xfrm>
            <a:off x="548640" y="1810512"/>
            <a:ext cx="6766560" cy="3867089"/>
          </a:xfrm>
          <a:prstGeom prst="rect">
            <a:avLst/>
          </a:prstGeom>
        </p:spPr>
      </p:pic>
      <p:sp>
        <p:nvSpPr>
          <p:cNvPr id="7" name="Principal or school owner circle"/>
          <p:cNvSpPr/>
          <p:nvPr/>
        </p:nvSpPr>
        <p:spPr>
          <a:xfrm>
            <a:off x="7589520" y="1828800"/>
            <a:ext cx="502920" cy="502920"/>
          </a:xfrm>
          <a:prstGeom prst="ellipse">
            <a:avLst/>
          </a:prstGeom>
          <a:solidFill>
            <a:schemeClr val="accent1"/>
          </a:solidFill>
          <a:ln/>
        </p:spPr>
      </p:sp>
      <p:pic>
        <p:nvPicPr>
          <p:cNvPr id="8" name="Principal or school owner icon" descr="Principal or school owner">    </p:cNvPr>
          <p:cNvPicPr>
            <a:picLocks noChangeAspect="1"/>
          </p:cNvPicPr>
          <p:nvPr/>
        </p:nvPicPr>
        <p:blipFill>
          <a:blip r:embed="rId2"/>
          <a:stretch>
            <a:fillRect/>
          </a:stretch>
        </p:blipFill>
        <p:spPr>
          <a:xfrm>
            <a:off x="7715250" y="1954530"/>
            <a:ext cx="251460" cy="251460"/>
          </a:xfrm>
          <a:prstGeom prst="rect">
            <a:avLst/>
          </a:prstGeom>
        </p:spPr>
      </p:pic>
      <p:sp>
        <p:nvSpPr>
          <p:cNvPr id="9" name="Text 5"/>
          <p:cNvSpPr txBox="1"/>
          <p:nvPr/>
        </p:nvSpPr>
        <p:spPr>
          <a:xfrm>
            <a:off x="8229600" y="1792224"/>
            <a:ext cx="3429000" cy="365760"/>
          </a:xfrm>
          <a:prstGeom prst="rect">
            <a:avLst/>
          </a:prstGeom>
          <a:noFill/>
          <a:ln/>
        </p:spPr>
        <p:txBody>
          <a:bodyPr wrap="square" lIns="0" tIns="0" rIns="0" bIns="0" rtlCol="0" anchor="t"/>
          <a:lstStyle/>
          <a:p>
            <a:pPr indent="0" marL="0">
              <a:buNone/>
            </a:pPr>
            <a:r>
              <a:rPr lang="en-US" sz="1450" b="1" dirty="0">
                <a:solidFill>
                  <a:schemeClr val="tx2"/>
                </a:solidFill>
              </a:rPr>
              <a:t>Principal or school owner</a:t>
            </a:r>
            <a:endParaRPr lang="en-US" sz="1450" dirty="0"/>
          </a:p>
        </p:txBody>
      </p:sp>
      <p:sp>
        <p:nvSpPr>
          <p:cNvPr id="10" name="Text 6"/>
          <p:cNvSpPr txBox="1"/>
          <p:nvPr/>
        </p:nvSpPr>
        <p:spPr>
          <a:xfrm>
            <a:off x="8229600" y="2157984"/>
            <a:ext cx="3429000" cy="640080"/>
          </a:xfrm>
          <a:prstGeom prst="rect">
            <a:avLst/>
          </a:prstGeom>
          <a:noFill/>
          <a:ln/>
        </p:spPr>
        <p:txBody>
          <a:bodyPr wrap="square" lIns="0" tIns="0" rIns="0" bIns="0" rtlCol="0" anchor="t"/>
          <a:lstStyle/>
          <a:p>
            <a:pPr indent="0" marL="0">
              <a:buNone/>
            </a:pPr>
            <a:r>
              <a:rPr lang="en-US" sz="1250" dirty="0">
                <a:solidFill>
                  <a:schemeClr val="tx1"/>
                </a:solidFill>
              </a:rPr>
              <a:t>Attendance, syllabus progress, learning levels and teacher cover — today.</a:t>
            </a:r>
            <a:endParaRPr lang="en-US" sz="1250" dirty="0"/>
          </a:p>
        </p:txBody>
      </p:sp>
      <p:sp>
        <p:nvSpPr>
          <p:cNvPr id="11" name="Block and district officers (BEO / DEO) circle"/>
          <p:cNvSpPr/>
          <p:nvPr/>
        </p:nvSpPr>
        <p:spPr>
          <a:xfrm>
            <a:off x="7589520" y="2898648"/>
            <a:ext cx="502920" cy="502920"/>
          </a:xfrm>
          <a:prstGeom prst="ellipse">
            <a:avLst/>
          </a:prstGeom>
          <a:solidFill>
            <a:schemeClr val="accent2"/>
          </a:solidFill>
          <a:ln/>
        </p:spPr>
      </p:sp>
      <p:pic>
        <p:nvPicPr>
          <p:cNvPr id="12" name="Block and district officers (BEO / DEO) icon" descr="Block and district officers (BEO / DEO)">    </p:cNvPr>
          <p:cNvPicPr>
            <a:picLocks noChangeAspect="1"/>
          </p:cNvPicPr>
          <p:nvPr/>
        </p:nvPicPr>
        <p:blipFill>
          <a:blip r:embed="rId3"/>
          <a:stretch>
            <a:fillRect/>
          </a:stretch>
        </p:blipFill>
        <p:spPr>
          <a:xfrm>
            <a:off x="7715250" y="3024378"/>
            <a:ext cx="251460" cy="251460"/>
          </a:xfrm>
          <a:prstGeom prst="rect">
            <a:avLst/>
          </a:prstGeom>
        </p:spPr>
      </p:pic>
      <p:sp>
        <p:nvSpPr>
          <p:cNvPr id="13" name="Text 8"/>
          <p:cNvSpPr txBox="1"/>
          <p:nvPr/>
        </p:nvSpPr>
        <p:spPr>
          <a:xfrm>
            <a:off x="8229600" y="2862072"/>
            <a:ext cx="3429000" cy="365760"/>
          </a:xfrm>
          <a:prstGeom prst="rect">
            <a:avLst/>
          </a:prstGeom>
          <a:noFill/>
          <a:ln/>
        </p:spPr>
        <p:txBody>
          <a:bodyPr wrap="square" lIns="0" tIns="0" rIns="0" bIns="0" rtlCol="0" anchor="t"/>
          <a:lstStyle/>
          <a:p>
            <a:pPr indent="0" marL="0">
              <a:buNone/>
            </a:pPr>
            <a:r>
              <a:rPr lang="en-US" sz="1450" b="1" dirty="0">
                <a:solidFill>
                  <a:schemeClr val="tx2"/>
                </a:solidFill>
              </a:rPr>
              <a:t>Block and district officers (BEO / DEO)</a:t>
            </a:r>
            <a:endParaRPr lang="en-US" sz="1450" dirty="0"/>
          </a:p>
        </p:txBody>
      </p:sp>
      <p:sp>
        <p:nvSpPr>
          <p:cNvPr id="14" name="Text 9"/>
          <p:cNvSpPr txBox="1"/>
          <p:nvPr/>
        </p:nvSpPr>
        <p:spPr>
          <a:xfrm>
            <a:off x="8229600" y="3227832"/>
            <a:ext cx="3429000" cy="640080"/>
          </a:xfrm>
          <a:prstGeom prst="rect">
            <a:avLst/>
          </a:prstGeom>
          <a:noFill/>
          <a:ln/>
        </p:spPr>
        <p:txBody>
          <a:bodyPr wrap="square" lIns="0" tIns="0" rIns="0" bIns="0" rtlCol="0" anchor="t"/>
          <a:lstStyle/>
          <a:p>
            <a:pPr indent="0" marL="0">
              <a:buNone/>
            </a:pPr>
            <a:r>
              <a:rPr lang="en-US" sz="1250" dirty="0">
                <a:solidFill>
                  <a:schemeClr val="tx1"/>
                </a:solidFill>
              </a:rPr>
              <a:t>Compare schools; see which need support first, and why.</a:t>
            </a:r>
            <a:endParaRPr lang="en-US" sz="1250" dirty="0"/>
          </a:p>
        </p:txBody>
      </p:sp>
      <p:sp>
        <p:nvSpPr>
          <p:cNvPr id="15" name="State, school group or edtech admin circle"/>
          <p:cNvSpPr/>
          <p:nvPr/>
        </p:nvSpPr>
        <p:spPr>
          <a:xfrm>
            <a:off x="7589520" y="3968496"/>
            <a:ext cx="502920" cy="502920"/>
          </a:xfrm>
          <a:prstGeom prst="ellipse">
            <a:avLst/>
          </a:prstGeom>
          <a:solidFill>
            <a:schemeClr val="accent4"/>
          </a:solidFill>
          <a:ln/>
        </p:spPr>
      </p:sp>
      <p:pic>
        <p:nvPicPr>
          <p:cNvPr id="16" name="State, school group or edtech admin icon" descr="State, school group or edtech admin">    </p:cNvPr>
          <p:cNvPicPr>
            <a:picLocks noChangeAspect="1"/>
          </p:cNvPicPr>
          <p:nvPr/>
        </p:nvPicPr>
        <p:blipFill>
          <a:blip r:embed="rId4"/>
          <a:stretch>
            <a:fillRect/>
          </a:stretch>
        </p:blipFill>
        <p:spPr>
          <a:xfrm>
            <a:off x="7715250" y="4094226"/>
            <a:ext cx="251460" cy="251460"/>
          </a:xfrm>
          <a:prstGeom prst="rect">
            <a:avLst/>
          </a:prstGeom>
        </p:spPr>
      </p:pic>
      <p:sp>
        <p:nvSpPr>
          <p:cNvPr id="17" name="Text 11"/>
          <p:cNvSpPr txBox="1"/>
          <p:nvPr/>
        </p:nvSpPr>
        <p:spPr>
          <a:xfrm>
            <a:off x="8229600" y="3931920"/>
            <a:ext cx="3429000" cy="365760"/>
          </a:xfrm>
          <a:prstGeom prst="rect">
            <a:avLst/>
          </a:prstGeom>
          <a:noFill/>
          <a:ln/>
        </p:spPr>
        <p:txBody>
          <a:bodyPr wrap="square" lIns="0" tIns="0" rIns="0" bIns="0" rtlCol="0" anchor="t"/>
          <a:lstStyle/>
          <a:p>
            <a:pPr indent="0" marL="0">
              <a:buNone/>
            </a:pPr>
            <a:r>
              <a:rPr lang="en-US" sz="1450" b="1" dirty="0">
                <a:solidFill>
                  <a:schemeClr val="tx2"/>
                </a:solidFill>
              </a:rPr>
              <a:t>State, school group or edtech admin</a:t>
            </a:r>
            <a:endParaRPr lang="en-US" sz="1450" dirty="0"/>
          </a:p>
        </p:txBody>
      </p:sp>
      <p:sp>
        <p:nvSpPr>
          <p:cNvPr id="18" name="Text 12"/>
          <p:cNvSpPr txBox="1"/>
          <p:nvPr/>
        </p:nvSpPr>
        <p:spPr>
          <a:xfrm>
            <a:off x="8229600" y="4297680"/>
            <a:ext cx="3429000" cy="640080"/>
          </a:xfrm>
          <a:prstGeom prst="rect">
            <a:avLst/>
          </a:prstGeom>
          <a:noFill/>
          <a:ln/>
        </p:spPr>
        <p:txBody>
          <a:bodyPr wrap="square" lIns="0" tIns="0" rIns="0" bIns="0" rtlCol="0" anchor="t"/>
          <a:lstStyle/>
          <a:p>
            <a:pPr indent="0" marL="0">
              <a:buNone/>
            </a:pPr>
            <a:r>
              <a:rPr lang="en-US" sz="1250" dirty="0">
                <a:solidFill>
                  <a:schemeClr val="tx1"/>
                </a:solidFill>
              </a:rPr>
              <a:t>Trends across every school, in one view.</a:t>
            </a:r>
            <a:endParaRPr lang="en-US" sz="1250" dirty="0"/>
          </a:p>
        </p:txBody>
      </p:sp>
      <p:sp>
        <p:nvSpPr>
          <p:cNvPr id="19" name="Complete student record circle"/>
          <p:cNvSpPr/>
          <p:nvPr/>
        </p:nvSpPr>
        <p:spPr>
          <a:xfrm>
            <a:off x="7589520" y="5038344"/>
            <a:ext cx="502920" cy="502920"/>
          </a:xfrm>
          <a:prstGeom prst="ellipse">
            <a:avLst/>
          </a:prstGeom>
          <a:solidFill>
            <a:schemeClr val="accent5"/>
          </a:solidFill>
          <a:ln/>
        </p:spPr>
      </p:sp>
      <p:pic>
        <p:nvPicPr>
          <p:cNvPr id="20" name="Complete student record icon" descr="Complete student record">    </p:cNvPr>
          <p:cNvPicPr>
            <a:picLocks noChangeAspect="1"/>
          </p:cNvPicPr>
          <p:nvPr/>
        </p:nvPicPr>
        <p:blipFill>
          <a:blip r:embed="rId5"/>
          <a:stretch>
            <a:fillRect/>
          </a:stretch>
        </p:blipFill>
        <p:spPr>
          <a:xfrm>
            <a:off x="7715250" y="5164074"/>
            <a:ext cx="251460" cy="251460"/>
          </a:xfrm>
          <a:prstGeom prst="rect">
            <a:avLst/>
          </a:prstGeom>
        </p:spPr>
      </p:pic>
      <p:sp>
        <p:nvSpPr>
          <p:cNvPr id="21" name="Text 14"/>
          <p:cNvSpPr txBox="1"/>
          <p:nvPr/>
        </p:nvSpPr>
        <p:spPr>
          <a:xfrm>
            <a:off x="8229600" y="5001768"/>
            <a:ext cx="3429000" cy="365760"/>
          </a:xfrm>
          <a:prstGeom prst="rect">
            <a:avLst/>
          </a:prstGeom>
          <a:noFill/>
          <a:ln/>
        </p:spPr>
        <p:txBody>
          <a:bodyPr wrap="square" lIns="0" tIns="0" rIns="0" bIns="0" rtlCol="0" anchor="t"/>
          <a:lstStyle/>
          <a:p>
            <a:pPr indent="0" marL="0">
              <a:buNone/>
            </a:pPr>
            <a:r>
              <a:rPr lang="en-US" sz="1450" b="1" dirty="0">
                <a:solidFill>
                  <a:schemeClr val="tx2"/>
                </a:solidFill>
              </a:rPr>
              <a:t>Complete student record</a:t>
            </a:r>
            <a:endParaRPr lang="en-US" sz="1450" dirty="0"/>
          </a:p>
        </p:txBody>
      </p:sp>
      <p:sp>
        <p:nvSpPr>
          <p:cNvPr id="22" name="Text 15"/>
          <p:cNvSpPr txBox="1"/>
          <p:nvPr/>
        </p:nvSpPr>
        <p:spPr>
          <a:xfrm>
            <a:off x="8229600" y="5367528"/>
            <a:ext cx="3429000" cy="640080"/>
          </a:xfrm>
          <a:prstGeom prst="rect">
            <a:avLst/>
          </a:prstGeom>
          <a:noFill/>
          <a:ln/>
        </p:spPr>
        <p:txBody>
          <a:bodyPr wrap="square" lIns="0" tIns="0" rIns="0" bIns="0" rtlCol="0" anchor="t"/>
          <a:lstStyle/>
          <a:p>
            <a:pPr indent="0" marL="0">
              <a:buNone/>
            </a:pPr>
            <a:r>
              <a:rPr lang="en-US" sz="1250" dirty="0">
                <a:solidFill>
                  <a:schemeClr val="tx1"/>
                </a:solidFill>
              </a:rPr>
              <a:t>From admission to graduation: attendance, marks, skills and progress.</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BUILT FOR VILLAGES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Every village problem has an answer</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same platform that serves a city school is designed first for the hardest village school.</a:t>
            </a:r>
            <a:endParaRPr lang="en-US" sz="1600" dirty="0"/>
          </a:p>
        </p:txBody>
      </p:sp>
      <p:sp>
        <p:nvSpPr>
          <p:cNvPr id="5" name="Text 3"/>
          <p:cNvSpPr txBox="1"/>
          <p:nvPr/>
        </p:nvSpPr>
        <p:spPr>
          <a:xfrm>
            <a:off x="1234440" y="1783080"/>
            <a:ext cx="36576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VILLAGE PROBLEM</a:t>
            </a:r>
            <a:endParaRPr lang="en-US" sz="1200" dirty="0"/>
          </a:p>
        </p:txBody>
      </p:sp>
      <p:sp>
        <p:nvSpPr>
          <p:cNvPr id="6" name="Text 4"/>
          <p:cNvSpPr txBox="1"/>
          <p:nvPr/>
        </p:nvSpPr>
        <p:spPr>
          <a:xfrm>
            <a:off x="5852160" y="1783080"/>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HOW AI GURUKUL SOLVES IT</a:t>
            </a:r>
            <a:endParaRPr lang="en-US" sz="1200" dirty="0"/>
          </a:p>
        </p:txBody>
      </p:sp>
      <p:sp>
        <p:nvSpPr>
          <p:cNvPr id="7" name="One teacher, many classes"/>
          <p:cNvSpPr/>
          <p:nvPr/>
        </p:nvSpPr>
        <p:spPr>
          <a:xfrm>
            <a:off x="548640" y="2121408"/>
            <a:ext cx="4526280" cy="566928"/>
          </a:xfrm>
          <a:prstGeom prst="roundRect">
            <a:avLst>
              <a:gd name="adj" fmla="val 19355"/>
            </a:avLst>
          </a:prstGeom>
          <a:solidFill>
            <a:schemeClr val="accent3">
              <a:alpha val="9000"/>
            </a:schemeClr>
          </a:solidFill>
          <a:ln/>
        </p:spPr>
      </p:sp>
      <p:sp>
        <p:nvSpPr>
          <p:cNvPr id="8" name="One teacher, many classes circle"/>
          <p:cNvSpPr/>
          <p:nvPr/>
        </p:nvSpPr>
        <p:spPr>
          <a:xfrm>
            <a:off x="658368" y="2194560"/>
            <a:ext cx="420624" cy="420624"/>
          </a:xfrm>
          <a:prstGeom prst="ellipse">
            <a:avLst/>
          </a:prstGeom>
          <a:solidFill>
            <a:schemeClr val="accent3"/>
          </a:solidFill>
          <a:ln/>
        </p:spPr>
      </p:sp>
      <p:pic>
        <p:nvPicPr>
          <p:cNvPr id="9" name="One teacher, many classes icon" descr="One teacher, many classes">    </p:cNvPr>
          <p:cNvPicPr>
            <a:picLocks noChangeAspect="1"/>
          </p:cNvPicPr>
          <p:nvPr/>
        </p:nvPicPr>
        <p:blipFill>
          <a:blip r:embed="rId1"/>
          <a:stretch>
            <a:fillRect/>
          </a:stretch>
        </p:blipFill>
        <p:spPr>
          <a:xfrm>
            <a:off x="763524" y="2299716"/>
            <a:ext cx="210312" cy="210312"/>
          </a:xfrm>
          <a:prstGeom prst="rect">
            <a:avLst/>
          </a:prstGeom>
        </p:spPr>
      </p:pic>
      <p:sp>
        <p:nvSpPr>
          <p:cNvPr id="10" name="Text 7"/>
          <p:cNvSpPr txBox="1"/>
          <p:nvPr/>
        </p:nvSpPr>
        <p:spPr>
          <a:xfrm>
            <a:off x="1234440" y="2121408"/>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One teacher, many classes</a:t>
            </a:r>
            <a:endParaRPr lang="en-US" sz="1500" dirty="0"/>
          </a:p>
        </p:txBody>
      </p:sp>
      <p:pic>
        <p:nvPicPr>
          <p:cNvPr id="11" name="Image 1" descr="solved by">    </p:cNvPr>
          <p:cNvPicPr>
            <a:picLocks noChangeAspect="1"/>
          </p:cNvPicPr>
          <p:nvPr/>
        </p:nvPicPr>
        <p:blipFill>
          <a:blip r:embed="rId2"/>
          <a:stretch>
            <a:fillRect/>
          </a:stretch>
        </p:blipFill>
        <p:spPr>
          <a:xfrm>
            <a:off x="5193792" y="2295144"/>
            <a:ext cx="219456" cy="219456"/>
          </a:xfrm>
          <a:prstGeom prst="rect">
            <a:avLst/>
          </a:prstGeom>
        </p:spPr>
      </p:pic>
      <p:sp>
        <p:nvSpPr>
          <p:cNvPr id="12" name="solution 1"/>
          <p:cNvSpPr/>
          <p:nvPr/>
        </p:nvSpPr>
        <p:spPr>
          <a:xfrm>
            <a:off x="5577840" y="2121408"/>
            <a:ext cx="6062472" cy="566928"/>
          </a:xfrm>
          <a:prstGeom prst="roundRect">
            <a:avLst>
              <a:gd name="adj" fmla="val 19355"/>
            </a:avLst>
          </a:prstGeom>
          <a:solidFill>
            <a:schemeClr val="accent1">
              <a:alpha val="11000"/>
            </a:schemeClr>
          </a:solidFill>
          <a:ln/>
        </p:spPr>
      </p:sp>
      <p:sp>
        <p:nvSpPr>
          <p:cNvPr id="13" name="solution circle"/>
          <p:cNvSpPr/>
          <p:nvPr/>
        </p:nvSpPr>
        <p:spPr>
          <a:xfrm>
            <a:off x="5687568" y="2194560"/>
            <a:ext cx="420624" cy="420624"/>
          </a:xfrm>
          <a:prstGeom prst="ellipse">
            <a:avLst/>
          </a:prstGeom>
          <a:solidFill>
            <a:schemeClr val="accent1"/>
          </a:solidFill>
          <a:ln/>
        </p:spPr>
      </p:sp>
      <p:pic>
        <p:nvPicPr>
          <p:cNvPr id="14" name="solution icon" descr="solution">    </p:cNvPr>
          <p:cNvPicPr>
            <a:picLocks noChangeAspect="1"/>
          </p:cNvPicPr>
          <p:nvPr/>
        </p:nvPicPr>
        <p:blipFill>
          <a:blip r:embed="rId3"/>
          <a:stretch>
            <a:fillRect/>
          </a:stretch>
        </p:blipFill>
        <p:spPr>
          <a:xfrm>
            <a:off x="5792724" y="2299716"/>
            <a:ext cx="210312" cy="210312"/>
          </a:xfrm>
          <a:prstGeom prst="rect">
            <a:avLst/>
          </a:prstGeom>
        </p:spPr>
      </p:pic>
      <p:sp>
        <p:nvSpPr>
          <p:cNvPr id="15" name="Text 10"/>
          <p:cNvSpPr txBox="1"/>
          <p:nvPr/>
        </p:nvSpPr>
        <p:spPr>
          <a:xfrm>
            <a:off x="6263640" y="2121408"/>
            <a:ext cx="5303520" cy="566928"/>
          </a:xfrm>
          <a:prstGeom prst="rect">
            <a:avLst/>
          </a:prstGeom>
          <a:noFill/>
          <a:ln/>
        </p:spPr>
        <p:txBody>
          <a:bodyPr wrap="square" lIns="0" tIns="0" rIns="0" bIns="0" rtlCol="0" anchor="ctr"/>
          <a:lstStyle/>
          <a:p>
            <a:pPr indent="0" marL="0">
              <a:buNone/>
            </a:pPr>
            <a:r>
              <a:rPr lang="en-US" sz="1350" dirty="0">
                <a:solidFill>
                  <a:schemeClr val="tx1"/>
                </a:solidFill>
              </a:rPr>
              <a:t>AI co-teacher plans multi-grade lessons; AI tutor gives each child their own practice</a:t>
            </a:r>
            <a:endParaRPr lang="en-US" sz="1350" dirty="0"/>
          </a:p>
        </p:txBody>
      </p:sp>
      <p:sp>
        <p:nvSpPr>
          <p:cNvPr id="16" name="Teacher absent"/>
          <p:cNvSpPr/>
          <p:nvPr/>
        </p:nvSpPr>
        <p:spPr>
          <a:xfrm>
            <a:off x="548640" y="2788920"/>
            <a:ext cx="4526280" cy="566928"/>
          </a:xfrm>
          <a:prstGeom prst="roundRect">
            <a:avLst>
              <a:gd name="adj" fmla="val 19355"/>
            </a:avLst>
          </a:prstGeom>
          <a:solidFill>
            <a:schemeClr val="accent3">
              <a:alpha val="9000"/>
            </a:schemeClr>
          </a:solidFill>
          <a:ln/>
        </p:spPr>
      </p:sp>
      <p:sp>
        <p:nvSpPr>
          <p:cNvPr id="17" name="Teacher absent circle"/>
          <p:cNvSpPr/>
          <p:nvPr/>
        </p:nvSpPr>
        <p:spPr>
          <a:xfrm>
            <a:off x="658368" y="2862072"/>
            <a:ext cx="420624" cy="420624"/>
          </a:xfrm>
          <a:prstGeom prst="ellipse">
            <a:avLst/>
          </a:prstGeom>
          <a:solidFill>
            <a:schemeClr val="accent3"/>
          </a:solidFill>
          <a:ln/>
        </p:spPr>
      </p:sp>
      <p:pic>
        <p:nvPicPr>
          <p:cNvPr id="18" name="Teacher absent icon" descr="Teacher absent">    </p:cNvPr>
          <p:cNvPicPr>
            <a:picLocks noChangeAspect="1"/>
          </p:cNvPicPr>
          <p:nvPr/>
        </p:nvPicPr>
        <p:blipFill>
          <a:blip r:embed="rId4"/>
          <a:stretch>
            <a:fillRect/>
          </a:stretch>
        </p:blipFill>
        <p:spPr>
          <a:xfrm>
            <a:off x="763524" y="2967228"/>
            <a:ext cx="210312" cy="210312"/>
          </a:xfrm>
          <a:prstGeom prst="rect">
            <a:avLst/>
          </a:prstGeom>
        </p:spPr>
      </p:pic>
      <p:sp>
        <p:nvSpPr>
          <p:cNvPr id="19" name="Text 13"/>
          <p:cNvSpPr txBox="1"/>
          <p:nvPr/>
        </p:nvSpPr>
        <p:spPr>
          <a:xfrm>
            <a:off x="1234440" y="2788920"/>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Teacher absent</a:t>
            </a:r>
            <a:endParaRPr lang="en-US" sz="1500" dirty="0"/>
          </a:p>
        </p:txBody>
      </p:sp>
      <p:pic>
        <p:nvPicPr>
          <p:cNvPr id="20" name="Image 4" descr="solved by">    </p:cNvPr>
          <p:cNvPicPr>
            <a:picLocks noChangeAspect="1"/>
          </p:cNvPicPr>
          <p:nvPr/>
        </p:nvPicPr>
        <p:blipFill>
          <a:blip r:embed="rId5"/>
          <a:stretch>
            <a:fillRect/>
          </a:stretch>
        </p:blipFill>
        <p:spPr>
          <a:xfrm>
            <a:off x="5193792" y="2962656"/>
            <a:ext cx="219456" cy="219456"/>
          </a:xfrm>
          <a:prstGeom prst="rect">
            <a:avLst/>
          </a:prstGeom>
        </p:spPr>
      </p:pic>
      <p:sp>
        <p:nvSpPr>
          <p:cNvPr id="21" name="solution 2"/>
          <p:cNvSpPr/>
          <p:nvPr/>
        </p:nvSpPr>
        <p:spPr>
          <a:xfrm>
            <a:off x="5577840" y="2788920"/>
            <a:ext cx="6062472" cy="566928"/>
          </a:xfrm>
          <a:prstGeom prst="roundRect">
            <a:avLst>
              <a:gd name="adj" fmla="val 19355"/>
            </a:avLst>
          </a:prstGeom>
          <a:solidFill>
            <a:schemeClr val="accent1">
              <a:alpha val="11000"/>
            </a:schemeClr>
          </a:solidFill>
          <a:ln/>
        </p:spPr>
      </p:sp>
      <p:sp>
        <p:nvSpPr>
          <p:cNvPr id="22" name="solution circle"/>
          <p:cNvSpPr/>
          <p:nvPr/>
        </p:nvSpPr>
        <p:spPr>
          <a:xfrm>
            <a:off x="5687568" y="2862072"/>
            <a:ext cx="420624" cy="420624"/>
          </a:xfrm>
          <a:prstGeom prst="ellipse">
            <a:avLst/>
          </a:prstGeom>
          <a:solidFill>
            <a:schemeClr val="accent1"/>
          </a:solidFill>
          <a:ln/>
        </p:spPr>
      </p:sp>
      <p:pic>
        <p:nvPicPr>
          <p:cNvPr id="23" name="solution icon" descr="solution">    </p:cNvPr>
          <p:cNvPicPr>
            <a:picLocks noChangeAspect="1"/>
          </p:cNvPicPr>
          <p:nvPr/>
        </p:nvPicPr>
        <p:blipFill>
          <a:blip r:embed="rId6"/>
          <a:stretch>
            <a:fillRect/>
          </a:stretch>
        </p:blipFill>
        <p:spPr>
          <a:xfrm>
            <a:off x="5792724" y="2967228"/>
            <a:ext cx="210312" cy="210312"/>
          </a:xfrm>
          <a:prstGeom prst="rect">
            <a:avLst/>
          </a:prstGeom>
        </p:spPr>
      </p:pic>
      <p:sp>
        <p:nvSpPr>
          <p:cNvPr id="24" name="Text 16"/>
          <p:cNvSpPr txBox="1"/>
          <p:nvPr/>
        </p:nvSpPr>
        <p:spPr>
          <a:xfrm>
            <a:off x="6263640" y="2788920"/>
            <a:ext cx="5303520" cy="566928"/>
          </a:xfrm>
          <a:prstGeom prst="rect">
            <a:avLst/>
          </a:prstGeom>
          <a:noFill/>
          <a:ln/>
        </p:spPr>
        <p:txBody>
          <a:bodyPr wrap="square" lIns="0" tIns="0" rIns="0" bIns="0" rtlCol="0" anchor="ctr"/>
          <a:lstStyle/>
          <a:p>
            <a:pPr indent="0" marL="0">
              <a:buNone/>
            </a:pPr>
            <a:r>
              <a:rPr lang="en-US" sz="1350" dirty="0">
                <a:solidFill>
                  <a:schemeClr val="tx1"/>
                </a:solidFill>
              </a:rPr>
              <a:t>Live class from a nearby school on the same topic — or an AI avatar teaches</a:t>
            </a:r>
            <a:endParaRPr lang="en-US" sz="1350" dirty="0"/>
          </a:p>
        </p:txBody>
      </p:sp>
      <p:sp>
        <p:nvSpPr>
          <p:cNvPr id="25" name="No or weak internet"/>
          <p:cNvSpPr/>
          <p:nvPr/>
        </p:nvSpPr>
        <p:spPr>
          <a:xfrm>
            <a:off x="548640" y="3456432"/>
            <a:ext cx="4526280" cy="566928"/>
          </a:xfrm>
          <a:prstGeom prst="roundRect">
            <a:avLst>
              <a:gd name="adj" fmla="val 19355"/>
            </a:avLst>
          </a:prstGeom>
          <a:solidFill>
            <a:schemeClr val="accent3">
              <a:alpha val="9000"/>
            </a:schemeClr>
          </a:solidFill>
          <a:ln/>
        </p:spPr>
      </p:sp>
      <p:sp>
        <p:nvSpPr>
          <p:cNvPr id="26" name="No or weak internet circle"/>
          <p:cNvSpPr/>
          <p:nvPr/>
        </p:nvSpPr>
        <p:spPr>
          <a:xfrm>
            <a:off x="658368" y="3529584"/>
            <a:ext cx="420624" cy="420624"/>
          </a:xfrm>
          <a:prstGeom prst="ellipse">
            <a:avLst/>
          </a:prstGeom>
          <a:solidFill>
            <a:schemeClr val="accent3"/>
          </a:solidFill>
          <a:ln/>
        </p:spPr>
      </p:sp>
      <p:pic>
        <p:nvPicPr>
          <p:cNvPr id="27" name="No or weak internet icon" descr="No or weak internet">    </p:cNvPr>
          <p:cNvPicPr>
            <a:picLocks noChangeAspect="1"/>
          </p:cNvPicPr>
          <p:nvPr/>
        </p:nvPicPr>
        <p:blipFill>
          <a:blip r:embed="rId7"/>
          <a:stretch>
            <a:fillRect/>
          </a:stretch>
        </p:blipFill>
        <p:spPr>
          <a:xfrm>
            <a:off x="763524" y="3634740"/>
            <a:ext cx="210312" cy="210312"/>
          </a:xfrm>
          <a:prstGeom prst="rect">
            <a:avLst/>
          </a:prstGeom>
        </p:spPr>
      </p:pic>
      <p:sp>
        <p:nvSpPr>
          <p:cNvPr id="28" name="Text 19"/>
          <p:cNvSpPr txBox="1"/>
          <p:nvPr/>
        </p:nvSpPr>
        <p:spPr>
          <a:xfrm>
            <a:off x="1234440" y="3456432"/>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No or weak internet</a:t>
            </a:r>
            <a:endParaRPr lang="en-US" sz="1500" dirty="0"/>
          </a:p>
        </p:txBody>
      </p:sp>
      <p:pic>
        <p:nvPicPr>
          <p:cNvPr id="29" name="Image 7" descr="solved by">    </p:cNvPr>
          <p:cNvPicPr>
            <a:picLocks noChangeAspect="1"/>
          </p:cNvPicPr>
          <p:nvPr/>
        </p:nvPicPr>
        <p:blipFill>
          <a:blip r:embed="rId8"/>
          <a:stretch>
            <a:fillRect/>
          </a:stretch>
        </p:blipFill>
        <p:spPr>
          <a:xfrm>
            <a:off x="5193792" y="3630168"/>
            <a:ext cx="219456" cy="219456"/>
          </a:xfrm>
          <a:prstGeom prst="rect">
            <a:avLst/>
          </a:prstGeom>
        </p:spPr>
      </p:pic>
      <p:sp>
        <p:nvSpPr>
          <p:cNvPr id="30" name="solution 3"/>
          <p:cNvSpPr/>
          <p:nvPr/>
        </p:nvSpPr>
        <p:spPr>
          <a:xfrm>
            <a:off x="5577840" y="3456432"/>
            <a:ext cx="6062472" cy="566928"/>
          </a:xfrm>
          <a:prstGeom prst="roundRect">
            <a:avLst>
              <a:gd name="adj" fmla="val 19355"/>
            </a:avLst>
          </a:prstGeom>
          <a:solidFill>
            <a:schemeClr val="accent1">
              <a:alpha val="11000"/>
            </a:schemeClr>
          </a:solidFill>
          <a:ln/>
        </p:spPr>
      </p:sp>
      <p:sp>
        <p:nvSpPr>
          <p:cNvPr id="31" name="solution circle"/>
          <p:cNvSpPr/>
          <p:nvPr/>
        </p:nvSpPr>
        <p:spPr>
          <a:xfrm>
            <a:off x="5687568" y="3529584"/>
            <a:ext cx="420624" cy="420624"/>
          </a:xfrm>
          <a:prstGeom prst="ellipse">
            <a:avLst/>
          </a:prstGeom>
          <a:solidFill>
            <a:schemeClr val="accent1"/>
          </a:solidFill>
          <a:ln/>
        </p:spPr>
      </p:sp>
      <p:pic>
        <p:nvPicPr>
          <p:cNvPr id="32" name="solution icon" descr="solution">    </p:cNvPr>
          <p:cNvPicPr>
            <a:picLocks noChangeAspect="1"/>
          </p:cNvPicPr>
          <p:nvPr/>
        </p:nvPicPr>
        <p:blipFill>
          <a:blip r:embed="rId9"/>
          <a:stretch>
            <a:fillRect/>
          </a:stretch>
        </p:blipFill>
        <p:spPr>
          <a:xfrm>
            <a:off x="5792724" y="3634740"/>
            <a:ext cx="210312" cy="210312"/>
          </a:xfrm>
          <a:prstGeom prst="rect">
            <a:avLst/>
          </a:prstGeom>
        </p:spPr>
      </p:pic>
      <p:sp>
        <p:nvSpPr>
          <p:cNvPr id="33" name="Text 22"/>
          <p:cNvSpPr txBox="1"/>
          <p:nvPr/>
        </p:nvSpPr>
        <p:spPr>
          <a:xfrm>
            <a:off x="6263640" y="3456432"/>
            <a:ext cx="5303520" cy="566928"/>
          </a:xfrm>
          <a:prstGeom prst="rect">
            <a:avLst/>
          </a:prstGeom>
          <a:noFill/>
          <a:ln/>
        </p:spPr>
        <p:txBody>
          <a:bodyPr wrap="square" lIns="0" tIns="0" rIns="0" bIns="0" rtlCol="0" anchor="ctr"/>
          <a:lstStyle/>
          <a:p>
            <a:pPr indent="0" marL="0">
              <a:buNone/>
            </a:pPr>
            <a:r>
              <a:rPr lang="en-US" sz="1350" dirty="0">
                <a:solidFill>
                  <a:schemeClr val="tx1"/>
                </a:solidFill>
              </a:rPr>
              <a:t>Offline app and school hub; syncs when signal returns</a:t>
            </a:r>
            <a:endParaRPr lang="en-US" sz="1350" dirty="0"/>
          </a:p>
        </p:txBody>
      </p:sp>
      <p:sp>
        <p:nvSpPr>
          <p:cNvPr id="34" name="Many home languages"/>
          <p:cNvSpPr/>
          <p:nvPr/>
        </p:nvSpPr>
        <p:spPr>
          <a:xfrm>
            <a:off x="548640" y="4123944"/>
            <a:ext cx="4526280" cy="566928"/>
          </a:xfrm>
          <a:prstGeom prst="roundRect">
            <a:avLst>
              <a:gd name="adj" fmla="val 19355"/>
            </a:avLst>
          </a:prstGeom>
          <a:solidFill>
            <a:schemeClr val="accent3">
              <a:alpha val="9000"/>
            </a:schemeClr>
          </a:solidFill>
          <a:ln/>
        </p:spPr>
      </p:sp>
      <p:sp>
        <p:nvSpPr>
          <p:cNvPr id="35" name="Many home languages circle"/>
          <p:cNvSpPr/>
          <p:nvPr/>
        </p:nvSpPr>
        <p:spPr>
          <a:xfrm>
            <a:off x="658368" y="4197096"/>
            <a:ext cx="420624" cy="420624"/>
          </a:xfrm>
          <a:prstGeom prst="ellipse">
            <a:avLst/>
          </a:prstGeom>
          <a:solidFill>
            <a:schemeClr val="accent3"/>
          </a:solidFill>
          <a:ln/>
        </p:spPr>
      </p:sp>
      <p:pic>
        <p:nvPicPr>
          <p:cNvPr id="36" name="Many home languages icon" descr="Many home languages">    </p:cNvPr>
          <p:cNvPicPr>
            <a:picLocks noChangeAspect="1"/>
          </p:cNvPicPr>
          <p:nvPr/>
        </p:nvPicPr>
        <p:blipFill>
          <a:blip r:embed="rId10"/>
          <a:stretch>
            <a:fillRect/>
          </a:stretch>
        </p:blipFill>
        <p:spPr>
          <a:xfrm>
            <a:off x="763524" y="4302252"/>
            <a:ext cx="210312" cy="210312"/>
          </a:xfrm>
          <a:prstGeom prst="rect">
            <a:avLst/>
          </a:prstGeom>
        </p:spPr>
      </p:pic>
      <p:sp>
        <p:nvSpPr>
          <p:cNvPr id="37" name="Text 25"/>
          <p:cNvSpPr txBox="1"/>
          <p:nvPr/>
        </p:nvSpPr>
        <p:spPr>
          <a:xfrm>
            <a:off x="1234440" y="4123944"/>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Many home languages</a:t>
            </a:r>
            <a:endParaRPr lang="en-US" sz="1500" dirty="0"/>
          </a:p>
        </p:txBody>
      </p:sp>
      <p:pic>
        <p:nvPicPr>
          <p:cNvPr id="38" name="Image 10" descr="solved by">    </p:cNvPr>
          <p:cNvPicPr>
            <a:picLocks noChangeAspect="1"/>
          </p:cNvPicPr>
          <p:nvPr/>
        </p:nvPicPr>
        <p:blipFill>
          <a:blip r:embed="rId11"/>
          <a:stretch>
            <a:fillRect/>
          </a:stretch>
        </p:blipFill>
        <p:spPr>
          <a:xfrm>
            <a:off x="5193792" y="4297680"/>
            <a:ext cx="219456" cy="219456"/>
          </a:xfrm>
          <a:prstGeom prst="rect">
            <a:avLst/>
          </a:prstGeom>
        </p:spPr>
      </p:pic>
      <p:sp>
        <p:nvSpPr>
          <p:cNvPr id="39" name="solution 4"/>
          <p:cNvSpPr/>
          <p:nvPr/>
        </p:nvSpPr>
        <p:spPr>
          <a:xfrm>
            <a:off x="5577840" y="4123944"/>
            <a:ext cx="6062472" cy="566928"/>
          </a:xfrm>
          <a:prstGeom prst="roundRect">
            <a:avLst>
              <a:gd name="adj" fmla="val 19355"/>
            </a:avLst>
          </a:prstGeom>
          <a:solidFill>
            <a:schemeClr val="accent1">
              <a:alpha val="11000"/>
            </a:schemeClr>
          </a:solidFill>
          <a:ln/>
        </p:spPr>
      </p:sp>
      <p:sp>
        <p:nvSpPr>
          <p:cNvPr id="40" name="solution circle"/>
          <p:cNvSpPr/>
          <p:nvPr/>
        </p:nvSpPr>
        <p:spPr>
          <a:xfrm>
            <a:off x="5687568" y="4197096"/>
            <a:ext cx="420624" cy="420624"/>
          </a:xfrm>
          <a:prstGeom prst="ellipse">
            <a:avLst/>
          </a:prstGeom>
          <a:solidFill>
            <a:schemeClr val="accent1"/>
          </a:solidFill>
          <a:ln/>
        </p:spPr>
      </p:sp>
      <p:pic>
        <p:nvPicPr>
          <p:cNvPr id="41" name="solution icon" descr="solution">    </p:cNvPr>
          <p:cNvPicPr>
            <a:picLocks noChangeAspect="1"/>
          </p:cNvPicPr>
          <p:nvPr/>
        </p:nvPicPr>
        <p:blipFill>
          <a:blip r:embed="rId12"/>
          <a:stretch>
            <a:fillRect/>
          </a:stretch>
        </p:blipFill>
        <p:spPr>
          <a:xfrm>
            <a:off x="5792724" y="4302252"/>
            <a:ext cx="210312" cy="210312"/>
          </a:xfrm>
          <a:prstGeom prst="rect">
            <a:avLst/>
          </a:prstGeom>
        </p:spPr>
      </p:pic>
      <p:sp>
        <p:nvSpPr>
          <p:cNvPr id="42" name="Text 28"/>
          <p:cNvSpPr txBox="1"/>
          <p:nvPr/>
        </p:nvSpPr>
        <p:spPr>
          <a:xfrm>
            <a:off x="6263640" y="4123944"/>
            <a:ext cx="5303520" cy="566928"/>
          </a:xfrm>
          <a:prstGeom prst="rect">
            <a:avLst/>
          </a:prstGeom>
          <a:noFill/>
          <a:ln/>
        </p:spPr>
        <p:txBody>
          <a:bodyPr wrap="square" lIns="0" tIns="0" rIns="0" bIns="0" rtlCol="0" anchor="ctr"/>
          <a:lstStyle/>
          <a:p>
            <a:pPr indent="0" marL="0">
              <a:buNone/>
            </a:pPr>
            <a:r>
              <a:rPr lang="en-US" sz="1350" dirty="0">
                <a:solidFill>
                  <a:schemeClr val="tx1"/>
                </a:solidFill>
              </a:rPr>
              <a:t>Explains in the child's own language, with the textbook alongside</a:t>
            </a:r>
            <a:endParaRPr lang="en-US" sz="1350" dirty="0"/>
          </a:p>
        </p:txBody>
      </p:sp>
      <p:sp>
        <p:nvSpPr>
          <p:cNvPr id="43" name="No coaching nearby"/>
          <p:cNvSpPr/>
          <p:nvPr/>
        </p:nvSpPr>
        <p:spPr>
          <a:xfrm>
            <a:off x="548640" y="4791456"/>
            <a:ext cx="4526280" cy="566928"/>
          </a:xfrm>
          <a:prstGeom prst="roundRect">
            <a:avLst>
              <a:gd name="adj" fmla="val 19355"/>
            </a:avLst>
          </a:prstGeom>
          <a:solidFill>
            <a:schemeClr val="accent3">
              <a:alpha val="9000"/>
            </a:schemeClr>
          </a:solidFill>
          <a:ln/>
        </p:spPr>
      </p:sp>
      <p:sp>
        <p:nvSpPr>
          <p:cNvPr id="44" name="No coaching nearby circle"/>
          <p:cNvSpPr/>
          <p:nvPr/>
        </p:nvSpPr>
        <p:spPr>
          <a:xfrm>
            <a:off x="658368" y="4864608"/>
            <a:ext cx="420624" cy="420624"/>
          </a:xfrm>
          <a:prstGeom prst="ellipse">
            <a:avLst/>
          </a:prstGeom>
          <a:solidFill>
            <a:schemeClr val="accent3"/>
          </a:solidFill>
          <a:ln/>
        </p:spPr>
      </p:sp>
      <p:pic>
        <p:nvPicPr>
          <p:cNvPr id="45" name="No coaching nearby icon" descr="No coaching nearby">    </p:cNvPr>
          <p:cNvPicPr>
            <a:picLocks noChangeAspect="1"/>
          </p:cNvPicPr>
          <p:nvPr/>
        </p:nvPicPr>
        <p:blipFill>
          <a:blip r:embed="rId13"/>
          <a:stretch>
            <a:fillRect/>
          </a:stretch>
        </p:blipFill>
        <p:spPr>
          <a:xfrm>
            <a:off x="763524" y="4969764"/>
            <a:ext cx="210312" cy="210312"/>
          </a:xfrm>
          <a:prstGeom prst="rect">
            <a:avLst/>
          </a:prstGeom>
        </p:spPr>
      </p:pic>
      <p:sp>
        <p:nvSpPr>
          <p:cNvPr id="46" name="Text 31"/>
          <p:cNvSpPr txBox="1"/>
          <p:nvPr/>
        </p:nvSpPr>
        <p:spPr>
          <a:xfrm>
            <a:off x="1234440" y="4791456"/>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No coaching nearby</a:t>
            </a:r>
            <a:endParaRPr lang="en-US" sz="1500" dirty="0"/>
          </a:p>
        </p:txBody>
      </p:sp>
      <p:pic>
        <p:nvPicPr>
          <p:cNvPr id="47" name="Image 13" descr="solved by">    </p:cNvPr>
          <p:cNvPicPr>
            <a:picLocks noChangeAspect="1"/>
          </p:cNvPicPr>
          <p:nvPr/>
        </p:nvPicPr>
        <p:blipFill>
          <a:blip r:embed="rId14"/>
          <a:stretch>
            <a:fillRect/>
          </a:stretch>
        </p:blipFill>
        <p:spPr>
          <a:xfrm>
            <a:off x="5193792" y="4965192"/>
            <a:ext cx="219456" cy="219456"/>
          </a:xfrm>
          <a:prstGeom prst="rect">
            <a:avLst/>
          </a:prstGeom>
        </p:spPr>
      </p:pic>
      <p:sp>
        <p:nvSpPr>
          <p:cNvPr id="48" name="solution 5"/>
          <p:cNvSpPr/>
          <p:nvPr/>
        </p:nvSpPr>
        <p:spPr>
          <a:xfrm>
            <a:off x="5577840" y="4791456"/>
            <a:ext cx="6062472" cy="566928"/>
          </a:xfrm>
          <a:prstGeom prst="roundRect">
            <a:avLst>
              <a:gd name="adj" fmla="val 19355"/>
            </a:avLst>
          </a:prstGeom>
          <a:solidFill>
            <a:schemeClr val="accent1">
              <a:alpha val="11000"/>
            </a:schemeClr>
          </a:solidFill>
          <a:ln/>
        </p:spPr>
      </p:sp>
      <p:sp>
        <p:nvSpPr>
          <p:cNvPr id="49" name="solution circle"/>
          <p:cNvSpPr/>
          <p:nvPr/>
        </p:nvSpPr>
        <p:spPr>
          <a:xfrm>
            <a:off x="5687568" y="4864608"/>
            <a:ext cx="420624" cy="420624"/>
          </a:xfrm>
          <a:prstGeom prst="ellipse">
            <a:avLst/>
          </a:prstGeom>
          <a:solidFill>
            <a:schemeClr val="accent1"/>
          </a:solidFill>
          <a:ln/>
        </p:spPr>
      </p:sp>
      <p:pic>
        <p:nvPicPr>
          <p:cNvPr id="50" name="solution icon" descr="solution">    </p:cNvPr>
          <p:cNvPicPr>
            <a:picLocks noChangeAspect="1"/>
          </p:cNvPicPr>
          <p:nvPr/>
        </p:nvPicPr>
        <p:blipFill>
          <a:blip r:embed="rId15"/>
          <a:stretch>
            <a:fillRect/>
          </a:stretch>
        </p:blipFill>
        <p:spPr>
          <a:xfrm>
            <a:off x="5792724" y="4969764"/>
            <a:ext cx="210312" cy="210312"/>
          </a:xfrm>
          <a:prstGeom prst="rect">
            <a:avLst/>
          </a:prstGeom>
        </p:spPr>
      </p:pic>
      <p:sp>
        <p:nvSpPr>
          <p:cNvPr id="51" name="Text 34"/>
          <p:cNvSpPr txBox="1"/>
          <p:nvPr/>
        </p:nvSpPr>
        <p:spPr>
          <a:xfrm>
            <a:off x="6263640" y="4791456"/>
            <a:ext cx="5303520" cy="566928"/>
          </a:xfrm>
          <a:prstGeom prst="rect">
            <a:avLst/>
          </a:prstGeom>
          <a:noFill/>
          <a:ln/>
        </p:spPr>
        <p:txBody>
          <a:bodyPr wrap="square" lIns="0" tIns="0" rIns="0" bIns="0" rtlCol="0" anchor="ctr"/>
          <a:lstStyle/>
          <a:p>
            <a:pPr indent="0" marL="0">
              <a:buNone/>
            </a:pPr>
            <a:r>
              <a:rPr lang="en-US" sz="1350" dirty="0">
                <a:solidFill>
                  <a:schemeClr val="tx1"/>
                </a:solidFill>
              </a:rPr>
              <a:t>JEE, NEET and skill courses inside the village school</a:t>
            </a:r>
            <a:endParaRPr lang="en-US" sz="1350" dirty="0"/>
          </a:p>
        </p:txBody>
      </p:sp>
      <p:sp>
        <p:nvSpPr>
          <p:cNvPr id="52" name="Days lost to closures"/>
          <p:cNvSpPr/>
          <p:nvPr/>
        </p:nvSpPr>
        <p:spPr>
          <a:xfrm>
            <a:off x="548640" y="5458968"/>
            <a:ext cx="4526280" cy="566928"/>
          </a:xfrm>
          <a:prstGeom prst="roundRect">
            <a:avLst>
              <a:gd name="adj" fmla="val 19355"/>
            </a:avLst>
          </a:prstGeom>
          <a:solidFill>
            <a:schemeClr val="accent3">
              <a:alpha val="9000"/>
            </a:schemeClr>
          </a:solidFill>
          <a:ln/>
        </p:spPr>
      </p:sp>
      <p:sp>
        <p:nvSpPr>
          <p:cNvPr id="53" name="Days lost to closures circle"/>
          <p:cNvSpPr/>
          <p:nvPr/>
        </p:nvSpPr>
        <p:spPr>
          <a:xfrm>
            <a:off x="658368" y="5532120"/>
            <a:ext cx="420624" cy="420624"/>
          </a:xfrm>
          <a:prstGeom prst="ellipse">
            <a:avLst/>
          </a:prstGeom>
          <a:solidFill>
            <a:schemeClr val="accent3"/>
          </a:solidFill>
          <a:ln/>
        </p:spPr>
      </p:sp>
      <p:pic>
        <p:nvPicPr>
          <p:cNvPr id="54" name="Days lost to closures icon" descr="Days lost to closures">    </p:cNvPr>
          <p:cNvPicPr>
            <a:picLocks noChangeAspect="1"/>
          </p:cNvPicPr>
          <p:nvPr/>
        </p:nvPicPr>
        <p:blipFill>
          <a:blip r:embed="rId16"/>
          <a:stretch>
            <a:fillRect/>
          </a:stretch>
        </p:blipFill>
        <p:spPr>
          <a:xfrm>
            <a:off x="763524" y="5637276"/>
            <a:ext cx="210312" cy="210312"/>
          </a:xfrm>
          <a:prstGeom prst="rect">
            <a:avLst/>
          </a:prstGeom>
        </p:spPr>
      </p:pic>
      <p:sp>
        <p:nvSpPr>
          <p:cNvPr id="55" name="Text 37"/>
          <p:cNvSpPr txBox="1"/>
          <p:nvPr/>
        </p:nvSpPr>
        <p:spPr>
          <a:xfrm>
            <a:off x="1234440" y="5458968"/>
            <a:ext cx="3749040" cy="566928"/>
          </a:xfrm>
          <a:prstGeom prst="rect">
            <a:avLst/>
          </a:prstGeom>
          <a:noFill/>
          <a:ln/>
        </p:spPr>
        <p:txBody>
          <a:bodyPr wrap="square" lIns="0" tIns="0" rIns="0" bIns="0" rtlCol="0" anchor="ctr"/>
          <a:lstStyle/>
          <a:p>
            <a:pPr indent="0" marL="0">
              <a:buNone/>
            </a:pPr>
            <a:r>
              <a:rPr lang="en-US" sz="1500" b="1" dirty="0">
                <a:solidFill>
                  <a:schemeClr val="tx2"/>
                </a:solidFill>
              </a:rPr>
              <a:t>Days lost to closures</a:t>
            </a:r>
            <a:endParaRPr lang="en-US" sz="1500" dirty="0"/>
          </a:p>
        </p:txBody>
      </p:sp>
      <p:pic>
        <p:nvPicPr>
          <p:cNvPr id="56" name="Image 16" descr="solved by">    </p:cNvPr>
          <p:cNvPicPr>
            <a:picLocks noChangeAspect="1"/>
          </p:cNvPicPr>
          <p:nvPr/>
        </p:nvPicPr>
        <p:blipFill>
          <a:blip r:embed="rId17"/>
          <a:stretch>
            <a:fillRect/>
          </a:stretch>
        </p:blipFill>
        <p:spPr>
          <a:xfrm>
            <a:off x="5193792" y="5632704"/>
            <a:ext cx="219456" cy="219456"/>
          </a:xfrm>
          <a:prstGeom prst="rect">
            <a:avLst/>
          </a:prstGeom>
        </p:spPr>
      </p:pic>
      <p:sp>
        <p:nvSpPr>
          <p:cNvPr id="57" name="solution 6"/>
          <p:cNvSpPr/>
          <p:nvPr/>
        </p:nvSpPr>
        <p:spPr>
          <a:xfrm>
            <a:off x="5577840" y="5458968"/>
            <a:ext cx="6062472" cy="566928"/>
          </a:xfrm>
          <a:prstGeom prst="roundRect">
            <a:avLst>
              <a:gd name="adj" fmla="val 19355"/>
            </a:avLst>
          </a:prstGeom>
          <a:solidFill>
            <a:schemeClr val="accent1">
              <a:alpha val="11000"/>
            </a:schemeClr>
          </a:solidFill>
          <a:ln/>
        </p:spPr>
      </p:sp>
      <p:sp>
        <p:nvSpPr>
          <p:cNvPr id="58" name="solution circle"/>
          <p:cNvSpPr/>
          <p:nvPr/>
        </p:nvSpPr>
        <p:spPr>
          <a:xfrm>
            <a:off x="5687568" y="5532120"/>
            <a:ext cx="420624" cy="420624"/>
          </a:xfrm>
          <a:prstGeom prst="ellipse">
            <a:avLst/>
          </a:prstGeom>
          <a:solidFill>
            <a:schemeClr val="accent1"/>
          </a:solidFill>
          <a:ln/>
        </p:spPr>
      </p:sp>
      <p:pic>
        <p:nvPicPr>
          <p:cNvPr id="59" name="solution icon" descr="solution">    </p:cNvPr>
          <p:cNvPicPr>
            <a:picLocks noChangeAspect="1"/>
          </p:cNvPicPr>
          <p:nvPr/>
        </p:nvPicPr>
        <p:blipFill>
          <a:blip r:embed="rId18"/>
          <a:stretch>
            <a:fillRect/>
          </a:stretch>
        </p:blipFill>
        <p:spPr>
          <a:xfrm>
            <a:off x="5792724" y="5637276"/>
            <a:ext cx="210312" cy="210312"/>
          </a:xfrm>
          <a:prstGeom prst="rect">
            <a:avLst/>
          </a:prstGeom>
        </p:spPr>
      </p:pic>
      <p:sp>
        <p:nvSpPr>
          <p:cNvPr id="60" name="Text 40"/>
          <p:cNvSpPr txBox="1"/>
          <p:nvPr/>
        </p:nvSpPr>
        <p:spPr>
          <a:xfrm>
            <a:off x="6263640" y="5458968"/>
            <a:ext cx="5303520" cy="566928"/>
          </a:xfrm>
          <a:prstGeom prst="rect">
            <a:avLst/>
          </a:prstGeom>
          <a:noFill/>
          <a:ln/>
        </p:spPr>
        <p:txBody>
          <a:bodyPr wrap="square" lIns="0" tIns="0" rIns="0" bIns="0" rtlCol="0" anchor="ctr"/>
          <a:lstStyle/>
          <a:p>
            <a:pPr indent="0" marL="0">
              <a:buNone/>
            </a:pPr>
            <a:r>
              <a:rPr lang="en-US" sz="1350" dirty="0">
                <a:solidFill>
                  <a:schemeClr val="tx1"/>
                </a:solidFill>
              </a:rPr>
              <a:t>Syllabus re-plans itself; lessons sent home by app, SMS and phone call</a:t>
            </a:r>
            <a:endParaRPr lang="en-US" sz="13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BUILT FOR VILLAGES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Learning that works even without internet</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Content lives close to the student — the internet is only needed to sync.</a:t>
            </a:r>
            <a:endParaRPr lang="en-US" sz="1600" dirty="0"/>
          </a:p>
        </p:txBody>
      </p:sp>
      <p:sp>
        <p:nvSpPr>
          <p:cNvPr id="5" name="cloud"/>
          <p:cNvSpPr/>
          <p:nvPr/>
        </p:nvSpPr>
        <p:spPr>
          <a:xfrm>
            <a:off x="548640" y="1874520"/>
            <a:ext cx="2514600" cy="1737360"/>
          </a:xfrm>
          <a:prstGeom prst="roundRect">
            <a:avLst>
              <a:gd name="adj" fmla="val 631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6" name="cloud circle"/>
          <p:cNvSpPr/>
          <p:nvPr/>
        </p:nvSpPr>
        <p:spPr>
          <a:xfrm>
            <a:off x="731520" y="2075688"/>
            <a:ext cx="566928" cy="566928"/>
          </a:xfrm>
          <a:prstGeom prst="ellipse">
            <a:avLst/>
          </a:prstGeom>
          <a:solidFill>
            <a:schemeClr val="accent4"/>
          </a:solidFill>
          <a:ln/>
        </p:spPr>
      </p:sp>
      <p:pic>
        <p:nvPicPr>
          <p:cNvPr id="7" name="cloud icon" descr="cloud">    </p:cNvPr>
          <p:cNvPicPr>
            <a:picLocks noChangeAspect="1"/>
          </p:cNvPicPr>
          <p:nvPr/>
        </p:nvPicPr>
        <p:blipFill>
          <a:blip r:embed="rId1"/>
          <a:stretch>
            <a:fillRect/>
          </a:stretch>
        </p:blipFill>
        <p:spPr>
          <a:xfrm>
            <a:off x="873252" y="2217420"/>
            <a:ext cx="283464" cy="283464"/>
          </a:xfrm>
          <a:prstGeom prst="rect">
            <a:avLst/>
          </a:prstGeom>
        </p:spPr>
      </p:pic>
      <p:sp>
        <p:nvSpPr>
          <p:cNvPr id="8" name="Text 5"/>
          <p:cNvSpPr txBox="1"/>
          <p:nvPr/>
        </p:nvSpPr>
        <p:spPr>
          <a:xfrm>
            <a:off x="1417320" y="2057400"/>
            <a:ext cx="1508760" cy="603504"/>
          </a:xfrm>
          <a:prstGeom prst="rect">
            <a:avLst/>
          </a:prstGeom>
          <a:noFill/>
          <a:ln/>
        </p:spPr>
        <p:txBody>
          <a:bodyPr wrap="square" lIns="0" tIns="0" rIns="0" bIns="0" rtlCol="0" anchor="ctr"/>
          <a:lstStyle/>
          <a:p>
            <a:pPr indent="0" marL="0">
              <a:buNone/>
            </a:pPr>
            <a:r>
              <a:rPr lang="en-US" sz="1500" b="1" dirty="0">
                <a:solidFill>
                  <a:schemeClr val="tx2"/>
                </a:solidFill>
              </a:rPr>
              <a:t>AI Gurukul cloud</a:t>
            </a:r>
            <a:endParaRPr lang="en-US" sz="1500" dirty="0"/>
          </a:p>
        </p:txBody>
      </p:sp>
      <p:sp>
        <p:nvSpPr>
          <p:cNvPr id="9" name="Text 6"/>
          <p:cNvSpPr txBox="1"/>
          <p:nvPr/>
        </p:nvSpPr>
        <p:spPr>
          <a:xfrm>
            <a:off x="731520" y="2743200"/>
            <a:ext cx="2148840" cy="777240"/>
          </a:xfrm>
          <a:prstGeom prst="rect">
            <a:avLst/>
          </a:prstGeom>
          <a:noFill/>
          <a:ln/>
        </p:spPr>
        <p:txBody>
          <a:bodyPr wrap="square" lIns="0" tIns="0" rIns="0" bIns="0" rtlCol="0" anchor="t"/>
          <a:lstStyle/>
          <a:p>
            <a:pPr indent="0" marL="0">
              <a:buNone/>
            </a:pPr>
            <a:r>
              <a:rPr lang="en-US" sz="1250" dirty="0">
                <a:solidFill>
                  <a:schemeClr val="tx1"/>
                </a:solidFill>
              </a:rPr>
              <a:t>Hosted in your country. Lessons, AI, reports and backups.</a:t>
            </a:r>
            <a:endParaRPr lang="en-US" sz="1250" dirty="0"/>
          </a:p>
        </p:txBody>
      </p:sp>
      <p:sp>
        <p:nvSpPr>
          <p:cNvPr id="10" name="hub"/>
          <p:cNvSpPr/>
          <p:nvPr/>
        </p:nvSpPr>
        <p:spPr>
          <a:xfrm>
            <a:off x="4160520" y="1874520"/>
            <a:ext cx="3291840" cy="1737360"/>
          </a:xfrm>
          <a:prstGeom prst="roundRect">
            <a:avLst>
              <a:gd name="adj" fmla="val 631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1" name="hub circle"/>
          <p:cNvSpPr/>
          <p:nvPr/>
        </p:nvSpPr>
        <p:spPr>
          <a:xfrm>
            <a:off x="4343400" y="2075688"/>
            <a:ext cx="566928" cy="566928"/>
          </a:xfrm>
          <a:prstGeom prst="ellipse">
            <a:avLst/>
          </a:prstGeom>
          <a:solidFill>
            <a:schemeClr val="accent1"/>
          </a:solidFill>
          <a:ln/>
        </p:spPr>
      </p:sp>
      <p:pic>
        <p:nvPicPr>
          <p:cNvPr id="12" name="hub icon" descr="hub">    </p:cNvPr>
          <p:cNvPicPr>
            <a:picLocks noChangeAspect="1"/>
          </p:cNvPicPr>
          <p:nvPr/>
        </p:nvPicPr>
        <p:blipFill>
          <a:blip r:embed="rId2"/>
          <a:stretch>
            <a:fillRect/>
          </a:stretch>
        </p:blipFill>
        <p:spPr>
          <a:xfrm>
            <a:off x="4485132" y="2217420"/>
            <a:ext cx="283464" cy="283464"/>
          </a:xfrm>
          <a:prstGeom prst="rect">
            <a:avLst/>
          </a:prstGeom>
        </p:spPr>
      </p:pic>
      <p:sp>
        <p:nvSpPr>
          <p:cNvPr id="13" name="Text 9"/>
          <p:cNvSpPr txBox="1"/>
          <p:nvPr/>
        </p:nvSpPr>
        <p:spPr>
          <a:xfrm>
            <a:off x="5029200" y="205740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School hub ("Gurukul Box")</a:t>
            </a:r>
            <a:endParaRPr lang="en-US" sz="1500" dirty="0"/>
          </a:p>
        </p:txBody>
      </p:sp>
      <p:sp>
        <p:nvSpPr>
          <p:cNvPr id="14" name="Text 10"/>
          <p:cNvSpPr txBox="1"/>
          <p:nvPr/>
        </p:nvSpPr>
        <p:spPr>
          <a:xfrm>
            <a:off x="4343400" y="2743200"/>
            <a:ext cx="2926080" cy="777240"/>
          </a:xfrm>
          <a:prstGeom prst="rect">
            <a:avLst/>
          </a:prstGeom>
          <a:noFill/>
          <a:ln/>
        </p:spPr>
        <p:txBody>
          <a:bodyPr wrap="square" lIns="0" tIns="0" rIns="0" bIns="0" rtlCol="0" anchor="t"/>
          <a:lstStyle/>
          <a:p>
            <a:pPr indent="0" marL="0">
              <a:buNone/>
            </a:pPr>
            <a:r>
              <a:rPr lang="en-US" sz="1250" dirty="0">
                <a:solidFill>
                  <a:schemeClr val="tx1"/>
                </a:solidFill>
              </a:rPr>
              <a:t>Small offline server in the school with all lessons, videos and 3D models. Serves them over local Wi-Fi.</a:t>
            </a:r>
            <a:endParaRPr lang="en-US" sz="1250" dirty="0"/>
          </a:p>
        </p:txBody>
      </p:sp>
      <p:sp>
        <p:nvSpPr>
          <p:cNvPr id="15" name="classroom"/>
          <p:cNvSpPr/>
          <p:nvPr/>
        </p:nvSpPr>
        <p:spPr>
          <a:xfrm>
            <a:off x="8348472" y="1874520"/>
            <a:ext cx="3291840" cy="1737360"/>
          </a:xfrm>
          <a:prstGeom prst="roundRect">
            <a:avLst>
              <a:gd name="adj" fmla="val 6316"/>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16" name="classroom circle"/>
          <p:cNvSpPr/>
          <p:nvPr/>
        </p:nvSpPr>
        <p:spPr>
          <a:xfrm>
            <a:off x="8531352" y="2075688"/>
            <a:ext cx="566928" cy="566928"/>
          </a:xfrm>
          <a:prstGeom prst="ellipse">
            <a:avLst/>
          </a:prstGeom>
          <a:solidFill>
            <a:schemeClr val="accent2"/>
          </a:solidFill>
          <a:ln/>
        </p:spPr>
      </p:sp>
      <p:pic>
        <p:nvPicPr>
          <p:cNvPr id="17" name="classroom icon" descr="classroom">    </p:cNvPr>
          <p:cNvPicPr>
            <a:picLocks noChangeAspect="1"/>
          </p:cNvPicPr>
          <p:nvPr/>
        </p:nvPicPr>
        <p:blipFill>
          <a:blip r:embed="rId3"/>
          <a:stretch>
            <a:fillRect/>
          </a:stretch>
        </p:blipFill>
        <p:spPr>
          <a:xfrm>
            <a:off x="8673084" y="2217420"/>
            <a:ext cx="283464" cy="283464"/>
          </a:xfrm>
          <a:prstGeom prst="rect">
            <a:avLst/>
          </a:prstGeom>
        </p:spPr>
      </p:pic>
      <p:sp>
        <p:nvSpPr>
          <p:cNvPr id="18" name="Text 13"/>
          <p:cNvSpPr txBox="1"/>
          <p:nvPr/>
        </p:nvSpPr>
        <p:spPr>
          <a:xfrm>
            <a:off x="9217152" y="205740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Classroom devices</a:t>
            </a:r>
            <a:endParaRPr lang="en-US" sz="1500" dirty="0"/>
          </a:p>
        </p:txBody>
      </p:sp>
      <p:sp>
        <p:nvSpPr>
          <p:cNvPr id="19" name="Text 14"/>
          <p:cNvSpPr txBox="1"/>
          <p:nvPr/>
        </p:nvSpPr>
        <p:spPr>
          <a:xfrm>
            <a:off x="8531352" y="2743200"/>
            <a:ext cx="2926080" cy="777240"/>
          </a:xfrm>
          <a:prstGeom prst="rect">
            <a:avLst/>
          </a:prstGeom>
          <a:noFill/>
          <a:ln/>
        </p:spPr>
        <p:txBody>
          <a:bodyPr wrap="square" lIns="0" tIns="0" rIns="0" bIns="0" rtlCol="0" anchor="t"/>
          <a:lstStyle/>
          <a:p>
            <a:pPr indent="0" marL="0">
              <a:buNone/>
            </a:pPr>
            <a:r>
              <a:rPr lang="en-US" sz="1250" dirty="0">
                <a:solidFill>
                  <a:schemeClr val="tx1"/>
                </a:solidFill>
              </a:rPr>
              <a:t>Smart class, ICT lab, tablets and teacher phones — full speed with no internet at all.</a:t>
            </a:r>
            <a:endParaRPr lang="en-US" sz="1250" dirty="0"/>
          </a:p>
        </p:txBody>
      </p:sp>
      <p:sp>
        <p:nvSpPr>
          <p:cNvPr id="20" name="home phones"/>
          <p:cNvSpPr/>
          <p:nvPr/>
        </p:nvSpPr>
        <p:spPr>
          <a:xfrm>
            <a:off x="4160520" y="4160520"/>
            <a:ext cx="3291840" cy="1600200"/>
          </a:xfrm>
          <a:prstGeom prst="roundRect">
            <a:avLst>
              <a:gd name="adj" fmla="val 685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1" name="home phones circle"/>
          <p:cNvSpPr/>
          <p:nvPr/>
        </p:nvSpPr>
        <p:spPr>
          <a:xfrm>
            <a:off x="4343400" y="4361688"/>
            <a:ext cx="566928" cy="566928"/>
          </a:xfrm>
          <a:prstGeom prst="ellipse">
            <a:avLst/>
          </a:prstGeom>
          <a:solidFill>
            <a:schemeClr val="accent3"/>
          </a:solidFill>
          <a:ln/>
        </p:spPr>
      </p:sp>
      <p:pic>
        <p:nvPicPr>
          <p:cNvPr id="22" name="home phones icon" descr="home phones">    </p:cNvPr>
          <p:cNvPicPr>
            <a:picLocks noChangeAspect="1"/>
          </p:cNvPicPr>
          <p:nvPr/>
        </p:nvPicPr>
        <p:blipFill>
          <a:blip r:embed="rId4"/>
          <a:stretch>
            <a:fillRect/>
          </a:stretch>
        </p:blipFill>
        <p:spPr>
          <a:xfrm>
            <a:off x="4485132" y="4503420"/>
            <a:ext cx="283464" cy="283464"/>
          </a:xfrm>
          <a:prstGeom prst="rect">
            <a:avLst/>
          </a:prstGeom>
        </p:spPr>
      </p:pic>
      <p:sp>
        <p:nvSpPr>
          <p:cNvPr id="23" name="Text 17"/>
          <p:cNvSpPr txBox="1"/>
          <p:nvPr/>
        </p:nvSpPr>
        <p:spPr>
          <a:xfrm>
            <a:off x="5029200" y="434340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Phones at home</a:t>
            </a:r>
            <a:endParaRPr lang="en-US" sz="1500" dirty="0"/>
          </a:p>
        </p:txBody>
      </p:sp>
      <p:sp>
        <p:nvSpPr>
          <p:cNvPr id="24" name="Text 18"/>
          <p:cNvSpPr txBox="1"/>
          <p:nvPr/>
        </p:nvSpPr>
        <p:spPr>
          <a:xfrm>
            <a:off x="4343400" y="5029200"/>
            <a:ext cx="2926080" cy="640080"/>
          </a:xfrm>
          <a:prstGeom prst="rect">
            <a:avLst/>
          </a:prstGeom>
          <a:noFill/>
          <a:ln/>
        </p:spPr>
        <p:txBody>
          <a:bodyPr wrap="square" lIns="0" tIns="0" rIns="0" bIns="0" rtlCol="0" anchor="t"/>
          <a:lstStyle/>
          <a:p>
            <a:pPr indent="0" marL="0">
              <a:buNone/>
            </a:pPr>
            <a:r>
              <a:rPr lang="en-US" sz="1250" dirty="0">
                <a:solidFill>
                  <a:schemeClr val="tx1"/>
                </a:solidFill>
              </a:rPr>
              <a:t>Offline app with downloaded lesson packs; answers saved and synced later.</a:t>
            </a:r>
            <a:endParaRPr lang="en-US" sz="1250" dirty="0"/>
          </a:p>
        </p:txBody>
      </p:sp>
      <p:sp>
        <p:nvSpPr>
          <p:cNvPr id="25" name="basic phones"/>
          <p:cNvSpPr/>
          <p:nvPr/>
        </p:nvSpPr>
        <p:spPr>
          <a:xfrm>
            <a:off x="8348472" y="4160520"/>
            <a:ext cx="3291840" cy="1600200"/>
          </a:xfrm>
          <a:prstGeom prst="roundRect">
            <a:avLst>
              <a:gd name="adj" fmla="val 6857"/>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6" name="basic phones circle"/>
          <p:cNvSpPr/>
          <p:nvPr/>
        </p:nvSpPr>
        <p:spPr>
          <a:xfrm>
            <a:off x="8531352" y="4361688"/>
            <a:ext cx="566928" cy="566928"/>
          </a:xfrm>
          <a:prstGeom prst="ellipse">
            <a:avLst/>
          </a:prstGeom>
          <a:solidFill>
            <a:schemeClr val="accent5"/>
          </a:solidFill>
          <a:ln/>
        </p:spPr>
      </p:sp>
      <p:pic>
        <p:nvPicPr>
          <p:cNvPr id="27" name="basic phones icon" descr="basic phones">    </p:cNvPr>
          <p:cNvPicPr>
            <a:picLocks noChangeAspect="1"/>
          </p:cNvPicPr>
          <p:nvPr/>
        </p:nvPicPr>
        <p:blipFill>
          <a:blip r:embed="rId5"/>
          <a:stretch>
            <a:fillRect/>
          </a:stretch>
        </p:blipFill>
        <p:spPr>
          <a:xfrm>
            <a:off x="8673084" y="4503420"/>
            <a:ext cx="283464" cy="283464"/>
          </a:xfrm>
          <a:prstGeom prst="rect">
            <a:avLst/>
          </a:prstGeom>
        </p:spPr>
      </p:pic>
      <p:sp>
        <p:nvSpPr>
          <p:cNvPr id="28" name="Text 21"/>
          <p:cNvSpPr txBox="1"/>
          <p:nvPr/>
        </p:nvSpPr>
        <p:spPr>
          <a:xfrm>
            <a:off x="9217152" y="4343400"/>
            <a:ext cx="2286000" cy="603504"/>
          </a:xfrm>
          <a:prstGeom prst="rect">
            <a:avLst/>
          </a:prstGeom>
          <a:noFill/>
          <a:ln/>
        </p:spPr>
        <p:txBody>
          <a:bodyPr wrap="square" lIns="0" tIns="0" rIns="0" bIns="0" rtlCol="0" anchor="ctr"/>
          <a:lstStyle/>
          <a:p>
            <a:pPr indent="0" marL="0">
              <a:buNone/>
            </a:pPr>
            <a:r>
              <a:rPr lang="en-US" sz="1500" b="1" dirty="0">
                <a:solidFill>
                  <a:schemeClr val="tx2"/>
                </a:solidFill>
              </a:rPr>
              <a:t>Basic phones</a:t>
            </a:r>
            <a:endParaRPr lang="en-US" sz="1500" dirty="0"/>
          </a:p>
        </p:txBody>
      </p:sp>
      <p:sp>
        <p:nvSpPr>
          <p:cNvPr id="29" name="Text 22"/>
          <p:cNvSpPr txBox="1"/>
          <p:nvPr/>
        </p:nvSpPr>
        <p:spPr>
          <a:xfrm>
            <a:off x="8531352" y="5029200"/>
            <a:ext cx="2926080" cy="640080"/>
          </a:xfrm>
          <a:prstGeom prst="rect">
            <a:avLst/>
          </a:prstGeom>
          <a:noFill/>
          <a:ln/>
        </p:spPr>
        <p:txBody>
          <a:bodyPr wrap="square" lIns="0" tIns="0" rIns="0" bIns="0" rtlCol="0" anchor="t"/>
          <a:lstStyle/>
          <a:p>
            <a:pPr indent="0" marL="0">
              <a:buNone/>
            </a:pPr>
            <a:r>
              <a:rPr lang="en-US" sz="1250" dirty="0">
                <a:solidFill>
                  <a:schemeClr val="tx1"/>
                </a:solidFill>
              </a:rPr>
              <a:t>SMS alerts and audio lessons by phone call (IVR) in the local language.</a:t>
            </a:r>
            <a:endParaRPr lang="en-US" sz="1250" dirty="0"/>
          </a:p>
        </p:txBody>
      </p:sp>
      <p:sp>
        <p:nvSpPr>
          <p:cNvPr id="30" name="link"/>
          <p:cNvSpPr/>
          <p:nvPr/>
        </p:nvSpPr>
        <p:spPr>
          <a:xfrm>
            <a:off x="3108960" y="2743200"/>
            <a:ext cx="1005840" cy="0"/>
          </a:xfrm>
          <a:prstGeom prst="line">
            <a:avLst/>
          </a:prstGeom>
          <a:noFill/>
          <a:ln w="22225">
            <a:solidFill>
              <a:srgbClr val="5E6B7D"/>
            </a:solidFill>
            <a:prstDash val="solid"/>
            <a:headEnd type="triangle"/>
            <a:tailEnd type="triangle"/>
          </a:ln>
        </p:spPr>
      </p:sp>
      <p:sp>
        <p:nvSpPr>
          <p:cNvPr id="31" name="Text 24"/>
          <p:cNvSpPr txBox="1"/>
          <p:nvPr/>
        </p:nvSpPr>
        <p:spPr>
          <a:xfrm>
            <a:off x="0" y="0"/>
            <a:ext cx="91440" cy="457200"/>
          </a:xfrm>
          <a:prstGeom prst="rect">
            <a:avLst/>
          </a:prstGeom>
          <a:noFill/>
          <a:ln/>
        </p:spPr>
        <p:txBody>
          <a:bodyPr wrap="square" lIns="0" tIns="0" rIns="0" bIns="0" rtlCol="0" anchor="t"/>
          <a:lstStyle/>
          <a:p>
            <a:pPr algn="ctr" indent="0" marL="0">
              <a:buNone/>
            </a:pPr>
            <a:endParaRPr lang="en-US" sz="1100" dirty="0"/>
          </a:p>
        </p:txBody>
      </p:sp>
      <p:sp>
        <p:nvSpPr>
          <p:cNvPr id="32" name="Text 25"/>
          <p:cNvSpPr txBox="1"/>
          <p:nvPr/>
        </p:nvSpPr>
        <p:spPr>
          <a:xfrm>
            <a:off x="3044952" y="2121408"/>
            <a:ext cx="1143000" cy="548640"/>
          </a:xfrm>
          <a:prstGeom prst="rect">
            <a:avLst/>
          </a:prstGeom>
          <a:noFill/>
          <a:ln/>
        </p:spPr>
        <p:txBody>
          <a:bodyPr wrap="square" lIns="0" tIns="0" rIns="0" bIns="0" rtlCol="0" anchor="t"/>
          <a:lstStyle/>
          <a:p>
            <a:pPr algn="ctr" indent="0" marL="0">
              <a:buNone/>
            </a:pPr>
            <a:r>
              <a:rPr lang="en-US" sz="1050" i="1" dirty="0">
                <a:solidFill>
                  <a:schemeClr val="accent6"/>
                </a:solidFill>
              </a:rPr>
              <a:t>Broadband / 4G</a:t>
            </a:r>
            <a:endParaRPr lang="en-US" sz="1050" dirty="0"/>
          </a:p>
          <a:p>
            <a:pPr algn="ctr" indent="0" marL="0">
              <a:buNone/>
            </a:pPr>
            <a:r>
              <a:rPr lang="en-US" sz="1050" i="1" dirty="0">
                <a:solidFill>
                  <a:schemeClr val="accent6"/>
                </a:solidFill>
              </a:rPr>
              <a:t>sync at night</a:t>
            </a:r>
            <a:endParaRPr lang="en-US" sz="1050" dirty="0"/>
          </a:p>
        </p:txBody>
      </p:sp>
      <p:sp>
        <p:nvSpPr>
          <p:cNvPr id="33" name="link"/>
          <p:cNvSpPr/>
          <p:nvPr/>
        </p:nvSpPr>
        <p:spPr>
          <a:xfrm>
            <a:off x="7498080" y="2743200"/>
            <a:ext cx="804672" cy="0"/>
          </a:xfrm>
          <a:prstGeom prst="line">
            <a:avLst/>
          </a:prstGeom>
          <a:noFill/>
          <a:ln w="22225">
            <a:solidFill>
              <a:srgbClr val="5E6B7D"/>
            </a:solidFill>
            <a:prstDash val="solid"/>
            <a:headEnd type="triangle"/>
            <a:tailEnd type="triangle"/>
          </a:ln>
        </p:spPr>
      </p:sp>
      <p:sp>
        <p:nvSpPr>
          <p:cNvPr id="34" name="Text 27"/>
          <p:cNvSpPr txBox="1"/>
          <p:nvPr/>
        </p:nvSpPr>
        <p:spPr>
          <a:xfrm>
            <a:off x="0" y="0"/>
            <a:ext cx="91440" cy="457200"/>
          </a:xfrm>
          <a:prstGeom prst="rect">
            <a:avLst/>
          </a:prstGeom>
          <a:noFill/>
          <a:ln/>
        </p:spPr>
        <p:txBody>
          <a:bodyPr wrap="square" lIns="0" tIns="0" rIns="0" bIns="0" rtlCol="0" anchor="t"/>
          <a:lstStyle/>
          <a:p>
            <a:pPr algn="ctr" indent="0" marL="0">
              <a:buNone/>
            </a:pPr>
            <a:endParaRPr lang="en-US" sz="1100" dirty="0"/>
          </a:p>
        </p:txBody>
      </p:sp>
      <p:sp>
        <p:nvSpPr>
          <p:cNvPr id="35" name="Text 28"/>
          <p:cNvSpPr txBox="1"/>
          <p:nvPr/>
        </p:nvSpPr>
        <p:spPr>
          <a:xfrm>
            <a:off x="7443216" y="2121408"/>
            <a:ext cx="914400" cy="548640"/>
          </a:xfrm>
          <a:prstGeom prst="rect">
            <a:avLst/>
          </a:prstGeom>
          <a:noFill/>
          <a:ln/>
        </p:spPr>
        <p:txBody>
          <a:bodyPr wrap="square" lIns="0" tIns="0" rIns="0" bIns="0" rtlCol="0" anchor="t"/>
          <a:lstStyle/>
          <a:p>
            <a:pPr algn="ctr" indent="0" marL="0">
              <a:buNone/>
            </a:pPr>
            <a:r>
              <a:rPr lang="en-US" sz="1050" i="1" dirty="0">
                <a:solidFill>
                  <a:schemeClr val="accent6"/>
                </a:solidFill>
              </a:rPr>
              <a:t>school</a:t>
            </a:r>
            <a:endParaRPr lang="en-US" sz="1050" dirty="0"/>
          </a:p>
          <a:p>
            <a:pPr algn="ctr" indent="0" marL="0">
              <a:buNone/>
            </a:pPr>
            <a:r>
              <a:rPr lang="en-US" sz="1050" i="1" dirty="0">
                <a:solidFill>
                  <a:schemeClr val="accent6"/>
                </a:solidFill>
              </a:rPr>
              <a:t>Wi-Fi</a:t>
            </a:r>
            <a:endParaRPr lang="en-US" sz="1050" dirty="0"/>
          </a:p>
        </p:txBody>
      </p:sp>
      <p:sp>
        <p:nvSpPr>
          <p:cNvPr id="36" name="link"/>
          <p:cNvSpPr/>
          <p:nvPr/>
        </p:nvSpPr>
        <p:spPr>
          <a:xfrm>
            <a:off x="1828800" y="3657600"/>
            <a:ext cx="2286000" cy="1234440"/>
          </a:xfrm>
          <a:prstGeom prst="line">
            <a:avLst/>
          </a:prstGeom>
          <a:noFill/>
          <a:ln w="22225">
            <a:solidFill>
              <a:srgbClr val="5E6B7D"/>
            </a:solidFill>
            <a:prstDash val="dash"/>
            <a:headEnd type="triangle"/>
            <a:tailEnd type="triangle"/>
          </a:ln>
        </p:spPr>
      </p:sp>
      <p:sp>
        <p:nvSpPr>
          <p:cNvPr id="37" name="Text 30"/>
          <p:cNvSpPr txBox="1"/>
          <p:nvPr/>
        </p:nvSpPr>
        <p:spPr>
          <a:xfrm>
            <a:off x="0" y="0"/>
            <a:ext cx="91440" cy="457200"/>
          </a:xfrm>
          <a:prstGeom prst="rect">
            <a:avLst/>
          </a:prstGeom>
          <a:noFill/>
          <a:ln/>
        </p:spPr>
        <p:txBody>
          <a:bodyPr wrap="square" lIns="0" tIns="0" rIns="0" bIns="0" rtlCol="0" anchor="t"/>
          <a:lstStyle/>
          <a:p>
            <a:pPr algn="ctr" indent="0" marL="0">
              <a:buNone/>
            </a:pPr>
            <a:endParaRPr lang="en-US" sz="1100" dirty="0"/>
          </a:p>
        </p:txBody>
      </p:sp>
      <p:sp>
        <p:nvSpPr>
          <p:cNvPr id="38" name="Text 31"/>
          <p:cNvSpPr txBox="1"/>
          <p:nvPr/>
        </p:nvSpPr>
        <p:spPr>
          <a:xfrm>
            <a:off x="1463040" y="4526280"/>
            <a:ext cx="1737360" cy="548640"/>
          </a:xfrm>
          <a:prstGeom prst="rect">
            <a:avLst/>
          </a:prstGeom>
          <a:noFill/>
          <a:ln/>
        </p:spPr>
        <p:txBody>
          <a:bodyPr wrap="square" lIns="0" tIns="0" rIns="0" bIns="0" rtlCol="0" anchor="t"/>
          <a:lstStyle/>
          <a:p>
            <a:pPr algn="ctr" indent="0" marL="0">
              <a:buNone/>
            </a:pPr>
            <a:r>
              <a:rPr lang="en-US" sz="1050" i="1" dirty="0">
                <a:solidFill>
                  <a:schemeClr val="accent6"/>
                </a:solidFill>
              </a:rPr>
              <a:t>mobile data,</a:t>
            </a:r>
            <a:endParaRPr lang="en-US" sz="1050" dirty="0"/>
          </a:p>
          <a:p>
            <a:pPr algn="ctr" indent="0" marL="0">
              <a:buNone/>
            </a:pPr>
            <a:r>
              <a:rPr lang="en-US" sz="1050" i="1" dirty="0">
                <a:solidFill>
                  <a:schemeClr val="accent6"/>
                </a:solidFill>
              </a:rPr>
              <a:t>when available</a:t>
            </a:r>
            <a:endParaRPr lang="en-US" sz="1050" dirty="0"/>
          </a:p>
        </p:txBody>
      </p:sp>
      <p:sp>
        <p:nvSpPr>
          <p:cNvPr id="39" name="link"/>
          <p:cNvSpPr/>
          <p:nvPr/>
        </p:nvSpPr>
        <p:spPr>
          <a:xfrm>
            <a:off x="5806440" y="3657600"/>
            <a:ext cx="0" cy="457200"/>
          </a:xfrm>
          <a:prstGeom prst="line">
            <a:avLst/>
          </a:prstGeom>
          <a:noFill/>
          <a:ln w="22225">
            <a:solidFill>
              <a:srgbClr val="5E6B7D"/>
            </a:solidFill>
            <a:prstDash val="dash"/>
            <a:headEnd type="triangle"/>
            <a:tailEnd type="triangle"/>
          </a:ln>
        </p:spPr>
      </p:sp>
      <p:sp>
        <p:nvSpPr>
          <p:cNvPr id="40" name="Text 33"/>
          <p:cNvSpPr txBox="1"/>
          <p:nvPr/>
        </p:nvSpPr>
        <p:spPr>
          <a:xfrm>
            <a:off x="0" y="0"/>
            <a:ext cx="91440" cy="457200"/>
          </a:xfrm>
          <a:prstGeom prst="rect">
            <a:avLst/>
          </a:prstGeom>
          <a:noFill/>
          <a:ln/>
        </p:spPr>
        <p:txBody>
          <a:bodyPr wrap="square" lIns="0" tIns="0" rIns="0" bIns="0" rtlCol="0" anchor="t"/>
          <a:lstStyle/>
          <a:p>
            <a:pPr algn="ctr" indent="0" marL="0">
              <a:buNone/>
            </a:pPr>
            <a:endParaRPr lang="en-US" sz="1100" dirty="0"/>
          </a:p>
        </p:txBody>
      </p:sp>
      <p:sp>
        <p:nvSpPr>
          <p:cNvPr id="41" name="Text 34"/>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100" i="1" dirty="0">
                <a:solidFill>
                  <a:schemeClr val="accent6"/>
                </a:solidFill>
              </a:rPr>
              <a:t>School hub hardware is optional and priced separately. Uses national rural broadband (e.g. BharatNet in India) where available.</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BUILT FOR VILLAGES</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One platform, three levels of connectivity</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app checks the signal and switches mode by itself — no settings for students to change.</a:t>
            </a:r>
            <a:endParaRPr lang="en-US" sz="1600" dirty="0"/>
          </a:p>
        </p:txBody>
      </p:sp>
      <p:sp>
        <p:nvSpPr>
          <p:cNvPr id="5" name="Good internet"/>
          <p:cNvSpPr/>
          <p:nvPr/>
        </p:nvSpPr>
        <p:spPr>
          <a:xfrm>
            <a:off x="548640" y="1810512"/>
            <a:ext cx="3520440" cy="3246120"/>
          </a:xfrm>
          <a:prstGeom prst="roundRect">
            <a:avLst>
              <a:gd name="adj" fmla="val 3380"/>
            </a:avLst>
          </a:prstGeom>
          <a:solidFill>
            <a:schemeClr val="accent1">
              <a:alpha val="10000"/>
            </a:schemeClr>
          </a:solidFill>
          <a:ln/>
        </p:spPr>
      </p:sp>
      <p:sp>
        <p:nvSpPr>
          <p:cNvPr id="6" name="Good internet circle"/>
          <p:cNvSpPr/>
          <p:nvPr/>
        </p:nvSpPr>
        <p:spPr>
          <a:xfrm>
            <a:off x="822960" y="2011680"/>
            <a:ext cx="731520" cy="731520"/>
          </a:xfrm>
          <a:prstGeom prst="ellipse">
            <a:avLst/>
          </a:prstGeom>
          <a:solidFill>
            <a:schemeClr val="accent1"/>
          </a:solidFill>
          <a:ln/>
        </p:spPr>
      </p:sp>
      <p:pic>
        <p:nvPicPr>
          <p:cNvPr id="7" name="Good internet icon" descr="Good internet">    </p:cNvPr>
          <p:cNvPicPr>
            <a:picLocks noChangeAspect="1"/>
          </p:cNvPicPr>
          <p:nvPr/>
        </p:nvPicPr>
        <p:blipFill>
          <a:blip r:embed="rId1"/>
          <a:stretch>
            <a:fillRect/>
          </a:stretch>
        </p:blipFill>
        <p:spPr>
          <a:xfrm>
            <a:off x="1005840" y="2194560"/>
            <a:ext cx="365760" cy="365760"/>
          </a:xfrm>
          <a:prstGeom prst="rect">
            <a:avLst/>
          </a:prstGeom>
        </p:spPr>
      </p:pic>
      <p:sp>
        <p:nvSpPr>
          <p:cNvPr id="8" name="Text 5"/>
          <p:cNvSpPr txBox="1"/>
          <p:nvPr/>
        </p:nvSpPr>
        <p:spPr>
          <a:xfrm>
            <a:off x="1737360" y="2011680"/>
            <a:ext cx="2194560" cy="411480"/>
          </a:xfrm>
          <a:prstGeom prst="rect">
            <a:avLst/>
          </a:prstGeom>
          <a:noFill/>
          <a:ln/>
        </p:spPr>
        <p:txBody>
          <a:bodyPr wrap="square" lIns="0" tIns="0" rIns="0" bIns="0" rtlCol="0" anchor="t"/>
          <a:lstStyle/>
          <a:p>
            <a:pPr indent="0" marL="0">
              <a:buNone/>
            </a:pPr>
            <a:r>
              <a:rPr lang="en-US" sz="1900" b="1" dirty="0">
                <a:solidFill>
                  <a:schemeClr val="accent1"/>
                </a:solidFill>
              </a:rPr>
              <a:t>Good internet</a:t>
            </a:r>
            <a:endParaRPr lang="en-US" sz="1900" dirty="0"/>
          </a:p>
        </p:txBody>
      </p:sp>
      <p:sp>
        <p:nvSpPr>
          <p:cNvPr id="9" name="Text 6"/>
          <p:cNvSpPr txBox="1"/>
          <p:nvPr/>
        </p:nvSpPr>
        <p:spPr>
          <a:xfrm>
            <a:off x="1737360" y="2404872"/>
            <a:ext cx="2194560" cy="320040"/>
          </a:xfrm>
          <a:prstGeom prst="rect">
            <a:avLst/>
          </a:prstGeom>
          <a:noFill/>
          <a:ln/>
        </p:spPr>
        <p:txBody>
          <a:bodyPr wrap="square" lIns="0" tIns="0" rIns="0" bIns="0" rtlCol="0" anchor="t"/>
          <a:lstStyle/>
          <a:p>
            <a:pPr indent="0" marL="0">
              <a:buNone/>
            </a:pPr>
            <a:r>
              <a:rPr lang="en-US" sz="1300" dirty="0">
                <a:solidFill>
                  <a:schemeClr val="accent6"/>
                </a:solidFill>
              </a:rPr>
              <a:t>4G or broadband</a:t>
            </a:r>
            <a:endParaRPr lang="en-US" sz="1300" dirty="0"/>
          </a:p>
        </p:txBody>
      </p:sp>
      <p:sp>
        <p:nvSpPr>
          <p:cNvPr id="10" name="Text 7"/>
          <p:cNvSpPr txBox="1"/>
          <p:nvPr/>
        </p:nvSpPr>
        <p:spPr>
          <a:xfrm>
            <a:off x="822960" y="2971800"/>
            <a:ext cx="3017520" cy="1965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Everything live: AI tutor, 3D, videos</a:t>
            </a:r>
            <a:endParaRPr lang="en-US" sz="1400" dirty="0"/>
          </a:p>
          <a:p>
            <a:pPr marL="342900" indent="-342900">
              <a:spcAft>
                <a:spcPts val="800"/>
              </a:spcAft>
              <a:buSzPct val="100000"/>
              <a:buChar char="•"/>
            </a:pPr>
            <a:r>
              <a:rPr lang="en-US" sz="1400" dirty="0">
                <a:solidFill>
                  <a:schemeClr val="tx1"/>
                </a:solidFill>
              </a:rPr>
              <a:t>Live dashboards for principals and officers</a:t>
            </a:r>
            <a:endParaRPr lang="en-US" sz="1400" dirty="0"/>
          </a:p>
          <a:p>
            <a:pPr marL="342900" indent="-342900">
              <a:spcAft>
                <a:spcPts val="800"/>
              </a:spcAft>
              <a:buSzPct val="100000"/>
              <a:buChar char="•"/>
            </a:pPr>
            <a:r>
              <a:rPr lang="en-US" sz="1400" dirty="0">
                <a:solidFill>
                  <a:schemeClr val="tx1"/>
                </a:solidFill>
              </a:rPr>
              <a:t>Downloads lesson packs for later</a:t>
            </a:r>
            <a:endParaRPr lang="en-US" sz="1400" dirty="0"/>
          </a:p>
        </p:txBody>
      </p:sp>
      <p:sp>
        <p:nvSpPr>
          <p:cNvPr id="11" name="Weak signal"/>
          <p:cNvSpPr/>
          <p:nvPr/>
        </p:nvSpPr>
        <p:spPr>
          <a:xfrm>
            <a:off x="4297680" y="1810512"/>
            <a:ext cx="3520440" cy="3246120"/>
          </a:xfrm>
          <a:prstGeom prst="roundRect">
            <a:avLst>
              <a:gd name="adj" fmla="val 3380"/>
            </a:avLst>
          </a:prstGeom>
          <a:solidFill>
            <a:schemeClr val="accent2">
              <a:alpha val="10000"/>
            </a:schemeClr>
          </a:solidFill>
          <a:ln/>
        </p:spPr>
      </p:sp>
      <p:sp>
        <p:nvSpPr>
          <p:cNvPr id="12" name="Weak signal circle"/>
          <p:cNvSpPr/>
          <p:nvPr/>
        </p:nvSpPr>
        <p:spPr>
          <a:xfrm>
            <a:off x="4572000" y="2011680"/>
            <a:ext cx="731520" cy="731520"/>
          </a:xfrm>
          <a:prstGeom prst="ellipse">
            <a:avLst/>
          </a:prstGeom>
          <a:solidFill>
            <a:schemeClr val="accent2"/>
          </a:solidFill>
          <a:ln/>
        </p:spPr>
      </p:sp>
      <p:pic>
        <p:nvPicPr>
          <p:cNvPr id="13" name="Weak signal icon" descr="Weak signal">    </p:cNvPr>
          <p:cNvPicPr>
            <a:picLocks noChangeAspect="1"/>
          </p:cNvPicPr>
          <p:nvPr/>
        </p:nvPicPr>
        <p:blipFill>
          <a:blip r:embed="rId2"/>
          <a:stretch>
            <a:fillRect/>
          </a:stretch>
        </p:blipFill>
        <p:spPr>
          <a:xfrm>
            <a:off x="4754880" y="2194560"/>
            <a:ext cx="365760" cy="365760"/>
          </a:xfrm>
          <a:prstGeom prst="rect">
            <a:avLst/>
          </a:prstGeom>
        </p:spPr>
      </p:pic>
      <p:sp>
        <p:nvSpPr>
          <p:cNvPr id="14" name="Text 10"/>
          <p:cNvSpPr txBox="1"/>
          <p:nvPr/>
        </p:nvSpPr>
        <p:spPr>
          <a:xfrm>
            <a:off x="5486400" y="2011680"/>
            <a:ext cx="2194560" cy="411480"/>
          </a:xfrm>
          <a:prstGeom prst="rect">
            <a:avLst/>
          </a:prstGeom>
          <a:noFill/>
          <a:ln/>
        </p:spPr>
        <p:txBody>
          <a:bodyPr wrap="square" lIns="0" tIns="0" rIns="0" bIns="0" rtlCol="0" anchor="t"/>
          <a:lstStyle/>
          <a:p>
            <a:pPr indent="0" marL="0">
              <a:buNone/>
            </a:pPr>
            <a:r>
              <a:rPr lang="en-US" sz="1900" b="1" dirty="0">
                <a:solidFill>
                  <a:schemeClr val="accent2"/>
                </a:solidFill>
              </a:rPr>
              <a:t>Weak signal</a:t>
            </a:r>
            <a:endParaRPr lang="en-US" sz="1900" dirty="0"/>
          </a:p>
        </p:txBody>
      </p:sp>
      <p:sp>
        <p:nvSpPr>
          <p:cNvPr id="15" name="Text 11"/>
          <p:cNvSpPr txBox="1"/>
          <p:nvPr/>
        </p:nvSpPr>
        <p:spPr>
          <a:xfrm>
            <a:off x="5486400" y="2404872"/>
            <a:ext cx="2194560" cy="320040"/>
          </a:xfrm>
          <a:prstGeom prst="rect">
            <a:avLst/>
          </a:prstGeom>
          <a:noFill/>
          <a:ln/>
        </p:spPr>
        <p:txBody>
          <a:bodyPr wrap="square" lIns="0" tIns="0" rIns="0" bIns="0" rtlCol="0" anchor="t"/>
          <a:lstStyle/>
          <a:p>
            <a:pPr indent="0" marL="0">
              <a:buNone/>
            </a:pPr>
            <a:r>
              <a:rPr lang="en-US" sz="1300" dirty="0">
                <a:solidFill>
                  <a:schemeClr val="accent6"/>
                </a:solidFill>
              </a:rPr>
              <a:t>2G or patchy 3G</a:t>
            </a:r>
            <a:endParaRPr lang="en-US" sz="1300" dirty="0"/>
          </a:p>
        </p:txBody>
      </p:sp>
      <p:sp>
        <p:nvSpPr>
          <p:cNvPr id="16" name="Text 12"/>
          <p:cNvSpPr txBox="1"/>
          <p:nvPr/>
        </p:nvSpPr>
        <p:spPr>
          <a:xfrm>
            <a:off x="4572000" y="2971800"/>
            <a:ext cx="3017520" cy="1965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Lite mode: text first, small images</a:t>
            </a:r>
            <a:endParaRPr lang="en-US" sz="1400" dirty="0"/>
          </a:p>
          <a:p>
            <a:pPr marL="342900" indent="-342900">
              <a:spcAft>
                <a:spcPts val="800"/>
              </a:spcAft>
              <a:buSzPct val="100000"/>
              <a:buChar char="•"/>
            </a:pPr>
            <a:r>
              <a:rPr lang="en-US" sz="1400" dirty="0">
                <a:solidFill>
                  <a:schemeClr val="tx1"/>
                </a:solidFill>
              </a:rPr>
              <a:t>Lessons as audio + slides (≈2–3 MB per 10 min)</a:t>
            </a:r>
            <a:endParaRPr lang="en-US" sz="1400" dirty="0"/>
          </a:p>
          <a:p>
            <a:pPr marL="342900" indent="-342900">
              <a:spcAft>
                <a:spcPts val="800"/>
              </a:spcAft>
              <a:buSzPct val="100000"/>
              <a:buChar char="•"/>
            </a:pPr>
            <a:r>
              <a:rPr lang="en-US" sz="1400" dirty="0">
                <a:solidFill>
                  <a:schemeClr val="tx1"/>
                </a:solidFill>
              </a:rPr>
              <a:t>AI answers as short text; sync in background</a:t>
            </a:r>
            <a:endParaRPr lang="en-US" sz="1400" dirty="0"/>
          </a:p>
        </p:txBody>
      </p:sp>
      <p:sp>
        <p:nvSpPr>
          <p:cNvPr id="17" name="No internet"/>
          <p:cNvSpPr/>
          <p:nvPr/>
        </p:nvSpPr>
        <p:spPr>
          <a:xfrm>
            <a:off x="8046720" y="1810512"/>
            <a:ext cx="3520440" cy="3246120"/>
          </a:xfrm>
          <a:prstGeom prst="roundRect">
            <a:avLst>
              <a:gd name="adj" fmla="val 3380"/>
            </a:avLst>
          </a:prstGeom>
          <a:solidFill>
            <a:schemeClr val="accent3">
              <a:alpha val="10000"/>
            </a:schemeClr>
          </a:solidFill>
          <a:ln/>
        </p:spPr>
      </p:sp>
      <p:sp>
        <p:nvSpPr>
          <p:cNvPr id="18" name="No internet circle"/>
          <p:cNvSpPr/>
          <p:nvPr/>
        </p:nvSpPr>
        <p:spPr>
          <a:xfrm>
            <a:off x="8321040" y="2011680"/>
            <a:ext cx="731520" cy="731520"/>
          </a:xfrm>
          <a:prstGeom prst="ellipse">
            <a:avLst/>
          </a:prstGeom>
          <a:solidFill>
            <a:schemeClr val="accent3"/>
          </a:solidFill>
          <a:ln/>
        </p:spPr>
      </p:sp>
      <p:pic>
        <p:nvPicPr>
          <p:cNvPr id="19" name="No internet icon" descr="No internet">    </p:cNvPr>
          <p:cNvPicPr>
            <a:picLocks noChangeAspect="1"/>
          </p:cNvPicPr>
          <p:nvPr/>
        </p:nvPicPr>
        <p:blipFill>
          <a:blip r:embed="rId3"/>
          <a:stretch>
            <a:fillRect/>
          </a:stretch>
        </p:blipFill>
        <p:spPr>
          <a:xfrm>
            <a:off x="8503920" y="2194560"/>
            <a:ext cx="365760" cy="365760"/>
          </a:xfrm>
          <a:prstGeom prst="rect">
            <a:avLst/>
          </a:prstGeom>
        </p:spPr>
      </p:pic>
      <p:sp>
        <p:nvSpPr>
          <p:cNvPr id="20" name="Text 15"/>
          <p:cNvSpPr txBox="1"/>
          <p:nvPr/>
        </p:nvSpPr>
        <p:spPr>
          <a:xfrm>
            <a:off x="9235440" y="2011680"/>
            <a:ext cx="2194560" cy="411480"/>
          </a:xfrm>
          <a:prstGeom prst="rect">
            <a:avLst/>
          </a:prstGeom>
          <a:noFill/>
          <a:ln/>
        </p:spPr>
        <p:txBody>
          <a:bodyPr wrap="square" lIns="0" tIns="0" rIns="0" bIns="0" rtlCol="0" anchor="t"/>
          <a:lstStyle/>
          <a:p>
            <a:pPr indent="0" marL="0">
              <a:buNone/>
            </a:pPr>
            <a:r>
              <a:rPr lang="en-US" sz="1900" b="1" dirty="0">
                <a:solidFill>
                  <a:schemeClr val="accent3"/>
                </a:solidFill>
              </a:rPr>
              <a:t>No internet</a:t>
            </a:r>
            <a:endParaRPr lang="en-US" sz="1900" dirty="0"/>
          </a:p>
        </p:txBody>
      </p:sp>
      <p:sp>
        <p:nvSpPr>
          <p:cNvPr id="21" name="Text 16"/>
          <p:cNvSpPr txBox="1"/>
          <p:nvPr/>
        </p:nvSpPr>
        <p:spPr>
          <a:xfrm>
            <a:off x="9235440" y="2404872"/>
            <a:ext cx="2194560" cy="320040"/>
          </a:xfrm>
          <a:prstGeom prst="rect">
            <a:avLst/>
          </a:prstGeom>
          <a:noFill/>
          <a:ln/>
        </p:spPr>
        <p:txBody>
          <a:bodyPr wrap="square" lIns="0" tIns="0" rIns="0" bIns="0" rtlCol="0" anchor="t"/>
          <a:lstStyle/>
          <a:p>
            <a:pPr indent="0" marL="0">
              <a:buNone/>
            </a:pPr>
            <a:r>
              <a:rPr lang="en-US" sz="1300" dirty="0">
                <a:solidFill>
                  <a:schemeClr val="accent6"/>
                </a:solidFill>
              </a:rPr>
              <a:t>remote villages</a:t>
            </a:r>
            <a:endParaRPr lang="en-US" sz="1300" dirty="0"/>
          </a:p>
        </p:txBody>
      </p:sp>
      <p:sp>
        <p:nvSpPr>
          <p:cNvPr id="22" name="Text 17"/>
          <p:cNvSpPr txBox="1"/>
          <p:nvPr/>
        </p:nvSpPr>
        <p:spPr>
          <a:xfrm>
            <a:off x="8321040" y="2971800"/>
            <a:ext cx="3017520" cy="1965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Offline app with downloaded lessons and 3D</a:t>
            </a:r>
            <a:endParaRPr lang="en-US" sz="1400" dirty="0"/>
          </a:p>
          <a:p>
            <a:pPr marL="342900" indent="-342900">
              <a:spcAft>
                <a:spcPts val="800"/>
              </a:spcAft>
              <a:buSzPct val="100000"/>
              <a:buChar char="•"/>
            </a:pPr>
            <a:r>
              <a:rPr lang="en-US" sz="1400" dirty="0">
                <a:solidFill>
                  <a:schemeClr val="tx1"/>
                </a:solidFill>
              </a:rPr>
              <a:t>Attendance, homework and tests saved on device</a:t>
            </a:r>
            <a:endParaRPr lang="en-US" sz="1400" dirty="0"/>
          </a:p>
          <a:p>
            <a:pPr marL="342900" indent="-342900">
              <a:spcAft>
                <a:spcPts val="800"/>
              </a:spcAft>
              <a:buSzPct val="100000"/>
              <a:buChar char="•"/>
            </a:pPr>
            <a:r>
              <a:rPr lang="en-US" sz="1400" dirty="0">
                <a:solidFill>
                  <a:schemeClr val="tx1"/>
                </a:solidFill>
              </a:rPr>
              <a:t>School hub Wi-Fi, SMS and phone-call lessons</a:t>
            </a:r>
            <a:endParaRPr lang="en-US" sz="1400" dirty="0"/>
          </a:p>
        </p:txBody>
      </p:sp>
      <p:sp>
        <p:nvSpPr>
          <p:cNvPr id="23" name="design targets"/>
          <p:cNvSpPr/>
          <p:nvPr/>
        </p:nvSpPr>
        <p:spPr>
          <a:xfrm>
            <a:off x="548640" y="5257800"/>
            <a:ext cx="11094415" cy="685800"/>
          </a:xfrm>
          <a:prstGeom prst="roundRect">
            <a:avLst>
              <a:gd name="adj" fmla="val 16000"/>
            </a:avLst>
          </a:prstGeom>
          <a:solidFill>
            <a:schemeClr val="bg1"/>
          </a:solidFill>
          <a:ln w="9525">
            <a:solidFill>
              <a:srgbClr val="DCE3EC"/>
            </a:solidFill>
            <a:prstDash val="solid"/>
          </a:ln>
          <a:effectLst>
            <a:outerShdw sx="100000" sy="100000" kx="0" ky="0" algn="bl" rotWithShape="0" blurRad="76200" dist="25400" dir="5400000">
              <a:srgbClr val="000000">
                <a:alpha val="8000"/>
              </a:srgbClr>
            </a:outerShdw>
          </a:effectLst>
        </p:spPr>
      </p:sp>
      <p:sp>
        <p:nvSpPr>
          <p:cNvPr id="24" name="Text 19"/>
          <p:cNvSpPr txBox="1"/>
          <p:nvPr/>
        </p:nvSpPr>
        <p:spPr>
          <a:xfrm>
            <a:off x="822960" y="5257800"/>
            <a:ext cx="10545775" cy="685800"/>
          </a:xfrm>
          <a:prstGeom prst="rect">
            <a:avLst/>
          </a:prstGeom>
          <a:noFill/>
          <a:ln/>
        </p:spPr>
        <p:txBody>
          <a:bodyPr wrap="square" lIns="0" tIns="0" rIns="0" bIns="0" rtlCol="0" anchor="ctr"/>
          <a:lstStyle/>
          <a:p>
            <a:pPr indent="0" marL="0">
              <a:buNone/>
            </a:pPr>
            <a:r>
              <a:rPr lang="en-US" sz="1350" b="1" dirty="0">
                <a:solidFill>
                  <a:schemeClr val="tx2"/>
                </a:solidFill>
              </a:rPr>
              <a:t>Design targets:  </a:t>
            </a:r>
            <a:pPr indent="0" marL="0">
              <a:buNone/>
            </a:pPr>
            <a:r>
              <a:rPr lang="en-US" sz="1350" dirty="0">
                <a:solidFill>
                  <a:schemeClr val="tx1"/>
                </a:solidFill>
              </a:rPr>
              <a:t>core screens usable at 2G speeds  •  work is saved on the device first, never lost  •  videos download on Wi-Fi only  •  pages kept small for cheap data plans</a:t>
            </a:r>
            <a:endParaRPr lang="en-US" sz="13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WHY AI GURUKUL</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ctr"/>
          <a:lstStyle/>
          <a:p>
            <a:pPr algn="l" indent="0" marL="0">
              <a:buNone/>
            </a:pPr>
            <a:r>
              <a:rPr lang="en-US" sz="3200" b="1" dirty="0">
                <a:solidFill>
                  <a:schemeClr val="tx2"/>
                </a:solidFill>
              </a:rPr>
              <a:t>Why it is different from other LMS platforms</a:t>
            </a:r>
            <a:endParaRPr lang="en-US" sz="3200" dirty="0"/>
          </a:p>
        </p:txBody>
      </p:sp>
      <p:sp>
        <p:nvSpPr>
          <p:cNvPr id="4" name="Text 0"/>
          <p:cNvSpPr/>
          <p:nvPr>
            <p:ph idx="102" type="body" hasCustomPrompt="1"/>
          </p:nvPr>
        </p:nvSpPr>
        <p:spPr>
          <a:xfrm>
            <a:off x="548640" y="1243584"/>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Most LMS platforms store content. AI Gurukul teaches, plans and acts.</a:t>
            </a:r>
            <a:endParaRPr lang="en-US" sz="1600" dirty="0"/>
          </a:p>
        </p:txBody>
      </p:sp>
      <p:sp>
        <p:nvSpPr>
          <p:cNvPr id="5" name="Text 3"/>
          <p:cNvSpPr txBox="1"/>
          <p:nvPr/>
        </p:nvSpPr>
        <p:spPr>
          <a:xfrm>
            <a:off x="822960" y="1810512"/>
            <a:ext cx="5029200" cy="292608"/>
          </a:xfrm>
          <a:prstGeom prst="rect">
            <a:avLst/>
          </a:prstGeom>
          <a:noFill/>
          <a:ln/>
        </p:spPr>
        <p:txBody>
          <a:bodyPr wrap="square" lIns="0" tIns="0" rIns="0" bIns="0" rtlCol="0" anchor="t"/>
          <a:lstStyle/>
          <a:p>
            <a:pPr indent="0" marL="0">
              <a:buNone/>
            </a:pPr>
            <a:r>
              <a:rPr lang="en-US" sz="1200" b="1" spc="100" kern="0" dirty="0">
                <a:solidFill>
                  <a:schemeClr val="accent6"/>
                </a:solidFill>
              </a:rPr>
              <a:t>OTHER LMS PLATFORMS</a:t>
            </a:r>
            <a:endParaRPr lang="en-US" sz="1200" dirty="0"/>
          </a:p>
        </p:txBody>
      </p:sp>
      <p:sp>
        <p:nvSpPr>
          <p:cNvPr id="6" name="our column"/>
          <p:cNvSpPr/>
          <p:nvPr/>
        </p:nvSpPr>
        <p:spPr>
          <a:xfrm>
            <a:off x="6172200" y="1755648"/>
            <a:ext cx="5468112" cy="4343400"/>
          </a:xfrm>
          <a:prstGeom prst="roundRect">
            <a:avLst>
              <a:gd name="adj" fmla="val 2526"/>
            </a:avLst>
          </a:prstGeom>
          <a:solidFill>
            <a:schemeClr val="accent1">
              <a:alpha val="12000"/>
            </a:schemeClr>
          </a:solidFill>
          <a:ln/>
        </p:spPr>
      </p:sp>
      <p:sp>
        <p:nvSpPr>
          <p:cNvPr id="7" name="Text 5"/>
          <p:cNvSpPr txBox="1"/>
          <p:nvPr/>
        </p:nvSpPr>
        <p:spPr>
          <a:xfrm>
            <a:off x="6446520" y="1810512"/>
            <a:ext cx="5029200" cy="292608"/>
          </a:xfrm>
          <a:prstGeom prst="rect">
            <a:avLst/>
          </a:prstGeom>
          <a:noFill/>
          <a:ln/>
        </p:spPr>
        <p:txBody>
          <a:bodyPr wrap="square" lIns="0" tIns="0" rIns="0" bIns="0" rtlCol="0" anchor="t"/>
          <a:lstStyle/>
          <a:p>
            <a:pPr indent="0" marL="0">
              <a:buNone/>
            </a:pPr>
            <a:r>
              <a:rPr lang="en-US" sz="1200" b="1" spc="100" kern="0" dirty="0">
                <a:solidFill>
                  <a:schemeClr val="accent1"/>
                </a:solidFill>
              </a:rPr>
              <a:t>AI GURUKUL</a:t>
            </a:r>
            <a:endParaRPr lang="en-US" sz="1200" dirty="0"/>
          </a:p>
        </p:txBody>
      </p:sp>
      <p:pic>
        <p:nvPicPr>
          <p:cNvPr id="8" name="Image 0" descr="no">    </p:cNvPr>
          <p:cNvPicPr>
            <a:picLocks noChangeAspect="1"/>
          </p:cNvPicPr>
          <p:nvPr/>
        </p:nvPicPr>
        <p:blipFill>
          <a:blip r:embed="rId1"/>
          <a:stretch>
            <a:fillRect/>
          </a:stretch>
        </p:blipFill>
        <p:spPr>
          <a:xfrm>
            <a:off x="822960" y="2350008"/>
            <a:ext cx="201168" cy="201168"/>
          </a:xfrm>
          <a:prstGeom prst="rect">
            <a:avLst/>
          </a:prstGeom>
        </p:spPr>
      </p:pic>
      <p:sp>
        <p:nvSpPr>
          <p:cNvPr id="9" name="Text 6"/>
          <p:cNvSpPr txBox="1"/>
          <p:nvPr/>
        </p:nvSpPr>
        <p:spPr>
          <a:xfrm>
            <a:off x="1188720" y="2194560"/>
            <a:ext cx="4846320" cy="512064"/>
          </a:xfrm>
          <a:prstGeom prst="rect">
            <a:avLst/>
          </a:prstGeom>
          <a:noFill/>
          <a:ln/>
        </p:spPr>
        <p:txBody>
          <a:bodyPr wrap="square" lIns="0" tIns="0" rIns="0" bIns="0" rtlCol="0" anchor="ctr"/>
          <a:lstStyle/>
          <a:p>
            <a:pPr indent="0" marL="0">
              <a:buNone/>
            </a:pPr>
            <a:r>
              <a:rPr lang="en-US" sz="1500" dirty="0">
                <a:solidFill>
                  <a:schemeClr val="tx1"/>
                </a:solidFill>
              </a:rPr>
              <a:t>Stores content and records</a:t>
            </a:r>
            <a:endParaRPr lang="en-US" sz="1500" dirty="0"/>
          </a:p>
        </p:txBody>
      </p:sp>
      <p:pic>
        <p:nvPicPr>
          <p:cNvPr id="10" name="Image 1" descr="yes">    </p:cNvPr>
          <p:cNvPicPr>
            <a:picLocks noChangeAspect="1"/>
          </p:cNvPicPr>
          <p:nvPr/>
        </p:nvPicPr>
        <p:blipFill>
          <a:blip r:embed="rId2"/>
          <a:stretch>
            <a:fillRect/>
          </a:stretch>
        </p:blipFill>
        <p:spPr>
          <a:xfrm>
            <a:off x="6446520" y="2350008"/>
            <a:ext cx="201168" cy="201168"/>
          </a:xfrm>
          <a:prstGeom prst="rect">
            <a:avLst/>
          </a:prstGeom>
        </p:spPr>
      </p:pic>
      <p:sp>
        <p:nvSpPr>
          <p:cNvPr id="11" name="Text 7"/>
          <p:cNvSpPr txBox="1"/>
          <p:nvPr/>
        </p:nvSpPr>
        <p:spPr>
          <a:xfrm>
            <a:off x="6812280" y="219456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Teaches, plans and suggests the next step</a:t>
            </a:r>
            <a:endParaRPr lang="en-US" sz="1500" dirty="0"/>
          </a:p>
        </p:txBody>
      </p:sp>
      <p:sp>
        <p:nvSpPr>
          <p:cNvPr id="12" name="divider"/>
          <p:cNvSpPr/>
          <p:nvPr/>
        </p:nvSpPr>
        <p:spPr>
          <a:xfrm>
            <a:off x="548640" y="2724912"/>
            <a:ext cx="11094415" cy="0"/>
          </a:xfrm>
          <a:prstGeom prst="line">
            <a:avLst/>
          </a:prstGeom>
          <a:noFill/>
          <a:ln w="9525">
            <a:solidFill>
              <a:srgbClr val="DCE3EC"/>
            </a:solidFill>
            <a:prstDash val="solid"/>
          </a:ln>
        </p:spPr>
      </p:sp>
      <p:pic>
        <p:nvPicPr>
          <p:cNvPr id="13" name="Image 2" descr="no">    </p:cNvPr>
          <p:cNvPicPr>
            <a:picLocks noChangeAspect="1"/>
          </p:cNvPicPr>
          <p:nvPr/>
        </p:nvPicPr>
        <p:blipFill>
          <a:blip r:embed="rId3"/>
          <a:stretch>
            <a:fillRect/>
          </a:stretch>
        </p:blipFill>
        <p:spPr>
          <a:xfrm>
            <a:off x="822960" y="2898648"/>
            <a:ext cx="201168" cy="201168"/>
          </a:xfrm>
          <a:prstGeom prst="rect">
            <a:avLst/>
          </a:prstGeom>
        </p:spPr>
      </p:pic>
      <p:sp>
        <p:nvSpPr>
          <p:cNvPr id="14" name="Text 9"/>
          <p:cNvSpPr txBox="1"/>
          <p:nvPr/>
        </p:nvSpPr>
        <p:spPr>
          <a:xfrm>
            <a:off x="1188720" y="2743200"/>
            <a:ext cx="4846320" cy="512064"/>
          </a:xfrm>
          <a:prstGeom prst="rect">
            <a:avLst/>
          </a:prstGeom>
          <a:noFill/>
          <a:ln/>
        </p:spPr>
        <p:txBody>
          <a:bodyPr wrap="square" lIns="0" tIns="0" rIns="0" bIns="0" rtlCol="0" anchor="ctr"/>
          <a:lstStyle/>
          <a:p>
            <a:pPr indent="0" marL="0">
              <a:buNone/>
            </a:pPr>
            <a:r>
              <a:rPr lang="en-US" sz="1500" dirty="0">
                <a:solidFill>
                  <a:schemeClr val="tx1"/>
                </a:solidFill>
              </a:rPr>
              <a:t>Same pace for every student</a:t>
            </a:r>
            <a:endParaRPr lang="en-US" sz="1500" dirty="0"/>
          </a:p>
        </p:txBody>
      </p:sp>
      <p:pic>
        <p:nvPicPr>
          <p:cNvPr id="15" name="Image 3" descr="yes">    </p:cNvPr>
          <p:cNvPicPr>
            <a:picLocks noChangeAspect="1"/>
          </p:cNvPicPr>
          <p:nvPr/>
        </p:nvPicPr>
        <p:blipFill>
          <a:blip r:embed="rId4"/>
          <a:stretch>
            <a:fillRect/>
          </a:stretch>
        </p:blipFill>
        <p:spPr>
          <a:xfrm>
            <a:off x="6446520" y="2898648"/>
            <a:ext cx="201168" cy="201168"/>
          </a:xfrm>
          <a:prstGeom prst="rect">
            <a:avLst/>
          </a:prstGeom>
        </p:spPr>
      </p:pic>
      <p:sp>
        <p:nvSpPr>
          <p:cNvPr id="16" name="Text 10"/>
          <p:cNvSpPr txBox="1"/>
          <p:nvPr/>
        </p:nvSpPr>
        <p:spPr>
          <a:xfrm>
            <a:off x="6812280" y="274320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Personal learning path for each child</a:t>
            </a:r>
            <a:endParaRPr lang="en-US" sz="1500" dirty="0"/>
          </a:p>
        </p:txBody>
      </p:sp>
      <p:sp>
        <p:nvSpPr>
          <p:cNvPr id="17" name="divider"/>
          <p:cNvSpPr/>
          <p:nvPr/>
        </p:nvSpPr>
        <p:spPr>
          <a:xfrm>
            <a:off x="548640" y="3273552"/>
            <a:ext cx="11094415" cy="0"/>
          </a:xfrm>
          <a:prstGeom prst="line">
            <a:avLst/>
          </a:prstGeom>
          <a:noFill/>
          <a:ln w="9525">
            <a:solidFill>
              <a:srgbClr val="DCE3EC"/>
            </a:solidFill>
            <a:prstDash val="solid"/>
          </a:ln>
        </p:spPr>
      </p:sp>
      <p:pic>
        <p:nvPicPr>
          <p:cNvPr id="18" name="Image 4" descr="no">    </p:cNvPr>
          <p:cNvPicPr>
            <a:picLocks noChangeAspect="1"/>
          </p:cNvPicPr>
          <p:nvPr/>
        </p:nvPicPr>
        <p:blipFill>
          <a:blip r:embed="rId5"/>
          <a:stretch>
            <a:fillRect/>
          </a:stretch>
        </p:blipFill>
        <p:spPr>
          <a:xfrm>
            <a:off x="822960" y="3447288"/>
            <a:ext cx="201168" cy="201168"/>
          </a:xfrm>
          <a:prstGeom prst="rect">
            <a:avLst/>
          </a:prstGeom>
        </p:spPr>
      </p:pic>
      <p:sp>
        <p:nvSpPr>
          <p:cNvPr id="19" name="Text 12"/>
          <p:cNvSpPr txBox="1"/>
          <p:nvPr/>
        </p:nvSpPr>
        <p:spPr>
          <a:xfrm>
            <a:off x="1188720" y="3291840"/>
            <a:ext cx="4846320" cy="512064"/>
          </a:xfrm>
          <a:prstGeom prst="rect">
            <a:avLst/>
          </a:prstGeom>
          <a:noFill/>
          <a:ln/>
        </p:spPr>
        <p:txBody>
          <a:bodyPr wrap="square" lIns="0" tIns="0" rIns="0" bIns="0" rtlCol="0" anchor="ctr"/>
          <a:lstStyle/>
          <a:p>
            <a:pPr indent="0" marL="0">
              <a:buNone/>
            </a:pPr>
            <a:r>
              <a:rPr lang="en-US" sz="1500" dirty="0">
                <a:solidFill>
                  <a:schemeClr val="tx1"/>
                </a:solidFill>
              </a:rPr>
              <a:t>Teacher absent means a lost class</a:t>
            </a:r>
            <a:endParaRPr lang="en-US" sz="1500" dirty="0"/>
          </a:p>
        </p:txBody>
      </p:sp>
      <p:pic>
        <p:nvPicPr>
          <p:cNvPr id="20" name="Image 5" descr="yes">    </p:cNvPr>
          <p:cNvPicPr>
            <a:picLocks noChangeAspect="1"/>
          </p:cNvPicPr>
          <p:nvPr/>
        </p:nvPicPr>
        <p:blipFill>
          <a:blip r:embed="rId6"/>
          <a:stretch>
            <a:fillRect/>
          </a:stretch>
        </p:blipFill>
        <p:spPr>
          <a:xfrm>
            <a:off x="6446520" y="3447288"/>
            <a:ext cx="201168" cy="201168"/>
          </a:xfrm>
          <a:prstGeom prst="rect">
            <a:avLst/>
          </a:prstGeom>
        </p:spPr>
      </p:pic>
      <p:sp>
        <p:nvSpPr>
          <p:cNvPr id="21" name="Text 13"/>
          <p:cNvSpPr txBox="1"/>
          <p:nvPr/>
        </p:nvSpPr>
        <p:spPr>
          <a:xfrm>
            <a:off x="6812280" y="329184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Substitute → live class → AI avatar</a:t>
            </a:r>
            <a:endParaRPr lang="en-US" sz="1500" dirty="0"/>
          </a:p>
        </p:txBody>
      </p:sp>
      <p:sp>
        <p:nvSpPr>
          <p:cNvPr id="22" name="divider"/>
          <p:cNvSpPr/>
          <p:nvPr/>
        </p:nvSpPr>
        <p:spPr>
          <a:xfrm>
            <a:off x="548640" y="3822192"/>
            <a:ext cx="11094415" cy="0"/>
          </a:xfrm>
          <a:prstGeom prst="line">
            <a:avLst/>
          </a:prstGeom>
          <a:noFill/>
          <a:ln w="9525">
            <a:solidFill>
              <a:srgbClr val="DCE3EC"/>
            </a:solidFill>
            <a:prstDash val="solid"/>
          </a:ln>
        </p:spPr>
      </p:sp>
      <p:pic>
        <p:nvPicPr>
          <p:cNvPr id="23" name="Image 6" descr="no">    </p:cNvPr>
          <p:cNvPicPr>
            <a:picLocks noChangeAspect="1"/>
          </p:cNvPicPr>
          <p:nvPr/>
        </p:nvPicPr>
        <p:blipFill>
          <a:blip r:embed="rId7"/>
          <a:stretch>
            <a:fillRect/>
          </a:stretch>
        </p:blipFill>
        <p:spPr>
          <a:xfrm>
            <a:off x="822960" y="3995928"/>
            <a:ext cx="201168" cy="201168"/>
          </a:xfrm>
          <a:prstGeom prst="rect">
            <a:avLst/>
          </a:prstGeom>
        </p:spPr>
      </p:pic>
      <p:sp>
        <p:nvSpPr>
          <p:cNvPr id="24" name="Text 15"/>
          <p:cNvSpPr txBox="1"/>
          <p:nvPr/>
        </p:nvSpPr>
        <p:spPr>
          <a:xfrm>
            <a:off x="1188720" y="3840480"/>
            <a:ext cx="4846320" cy="512064"/>
          </a:xfrm>
          <a:prstGeom prst="rect">
            <a:avLst/>
          </a:prstGeom>
          <a:noFill/>
          <a:ln/>
        </p:spPr>
        <p:txBody>
          <a:bodyPr wrap="square" lIns="0" tIns="0" rIns="0" bIns="0" rtlCol="0" anchor="ctr"/>
          <a:lstStyle/>
          <a:p>
            <a:pPr indent="0" marL="0">
              <a:buNone/>
            </a:pPr>
            <a:r>
              <a:rPr lang="en-US" sz="1500" dirty="0">
                <a:solidFill>
                  <a:schemeClr val="tx1"/>
                </a:solidFill>
              </a:rPr>
              <a:t>Exam prep needs outside coaching</a:t>
            </a:r>
            <a:endParaRPr lang="en-US" sz="1500" dirty="0"/>
          </a:p>
        </p:txBody>
      </p:sp>
      <p:pic>
        <p:nvPicPr>
          <p:cNvPr id="25" name="Image 7" descr="yes">    </p:cNvPr>
          <p:cNvPicPr>
            <a:picLocks noChangeAspect="1"/>
          </p:cNvPicPr>
          <p:nvPr/>
        </p:nvPicPr>
        <p:blipFill>
          <a:blip r:embed="rId8"/>
          <a:stretch>
            <a:fillRect/>
          </a:stretch>
        </p:blipFill>
        <p:spPr>
          <a:xfrm>
            <a:off x="6446520" y="3995928"/>
            <a:ext cx="201168" cy="201168"/>
          </a:xfrm>
          <a:prstGeom prst="rect">
            <a:avLst/>
          </a:prstGeom>
        </p:spPr>
      </p:pic>
      <p:sp>
        <p:nvSpPr>
          <p:cNvPr id="26" name="Text 16"/>
          <p:cNvSpPr txBox="1"/>
          <p:nvPr/>
        </p:nvSpPr>
        <p:spPr>
          <a:xfrm>
            <a:off x="6812280" y="384048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Built-in JEE, NEET and skills, based on interest</a:t>
            </a:r>
            <a:endParaRPr lang="en-US" sz="1500" dirty="0"/>
          </a:p>
        </p:txBody>
      </p:sp>
      <p:sp>
        <p:nvSpPr>
          <p:cNvPr id="27" name="divider"/>
          <p:cNvSpPr/>
          <p:nvPr/>
        </p:nvSpPr>
        <p:spPr>
          <a:xfrm>
            <a:off x="548640" y="4370832"/>
            <a:ext cx="11094415" cy="0"/>
          </a:xfrm>
          <a:prstGeom prst="line">
            <a:avLst/>
          </a:prstGeom>
          <a:noFill/>
          <a:ln w="9525">
            <a:solidFill>
              <a:srgbClr val="DCE3EC"/>
            </a:solidFill>
            <a:prstDash val="solid"/>
          </a:ln>
        </p:spPr>
      </p:sp>
      <p:pic>
        <p:nvPicPr>
          <p:cNvPr id="28" name="Image 8" descr="no">    </p:cNvPr>
          <p:cNvPicPr>
            <a:picLocks noChangeAspect="1"/>
          </p:cNvPicPr>
          <p:nvPr/>
        </p:nvPicPr>
        <p:blipFill>
          <a:blip r:embed="rId9"/>
          <a:stretch>
            <a:fillRect/>
          </a:stretch>
        </p:blipFill>
        <p:spPr>
          <a:xfrm>
            <a:off x="822960" y="4544568"/>
            <a:ext cx="201168" cy="201168"/>
          </a:xfrm>
          <a:prstGeom prst="rect">
            <a:avLst/>
          </a:prstGeom>
        </p:spPr>
      </p:pic>
      <p:sp>
        <p:nvSpPr>
          <p:cNvPr id="29" name="Text 18"/>
          <p:cNvSpPr txBox="1"/>
          <p:nvPr/>
        </p:nvSpPr>
        <p:spPr>
          <a:xfrm>
            <a:off x="1188720" y="4389120"/>
            <a:ext cx="4846320" cy="512064"/>
          </a:xfrm>
          <a:prstGeom prst="rect">
            <a:avLst/>
          </a:prstGeom>
          <a:noFill/>
          <a:ln/>
        </p:spPr>
        <p:txBody>
          <a:bodyPr wrap="square" lIns="0" tIns="0" rIns="0" bIns="0" rtlCol="0" anchor="ctr"/>
          <a:lstStyle/>
          <a:p>
            <a:pPr indent="0" marL="0">
              <a:buNone/>
            </a:pPr>
            <a:r>
              <a:rPr lang="en-US" sz="1500" dirty="0">
                <a:solidFill>
                  <a:schemeClr val="tx1"/>
                </a:solidFill>
              </a:rPr>
              <a:t>Reports compiled by hand</a:t>
            </a:r>
            <a:endParaRPr lang="en-US" sz="1500" dirty="0"/>
          </a:p>
        </p:txBody>
      </p:sp>
      <p:pic>
        <p:nvPicPr>
          <p:cNvPr id="30" name="Image 9" descr="yes">    </p:cNvPr>
          <p:cNvPicPr>
            <a:picLocks noChangeAspect="1"/>
          </p:cNvPicPr>
          <p:nvPr/>
        </p:nvPicPr>
        <p:blipFill>
          <a:blip r:embed="rId10"/>
          <a:stretch>
            <a:fillRect/>
          </a:stretch>
        </p:blipFill>
        <p:spPr>
          <a:xfrm>
            <a:off x="6446520" y="4544568"/>
            <a:ext cx="201168" cy="201168"/>
          </a:xfrm>
          <a:prstGeom prst="rect">
            <a:avLst/>
          </a:prstGeom>
        </p:spPr>
      </p:pic>
      <p:sp>
        <p:nvSpPr>
          <p:cNvPr id="31" name="Text 19"/>
          <p:cNvSpPr txBox="1"/>
          <p:nvPr/>
        </p:nvSpPr>
        <p:spPr>
          <a:xfrm>
            <a:off x="6812280" y="438912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Live dashboards for principals and officers</a:t>
            </a:r>
            <a:endParaRPr lang="en-US" sz="1500" dirty="0"/>
          </a:p>
        </p:txBody>
      </p:sp>
      <p:sp>
        <p:nvSpPr>
          <p:cNvPr id="32" name="divider"/>
          <p:cNvSpPr/>
          <p:nvPr/>
        </p:nvSpPr>
        <p:spPr>
          <a:xfrm>
            <a:off x="548640" y="4919472"/>
            <a:ext cx="11094415" cy="0"/>
          </a:xfrm>
          <a:prstGeom prst="line">
            <a:avLst/>
          </a:prstGeom>
          <a:noFill/>
          <a:ln w="9525">
            <a:solidFill>
              <a:srgbClr val="DCE3EC"/>
            </a:solidFill>
            <a:prstDash val="solid"/>
          </a:ln>
        </p:spPr>
      </p:sp>
      <p:pic>
        <p:nvPicPr>
          <p:cNvPr id="33" name="Image 10" descr="no">    </p:cNvPr>
          <p:cNvPicPr>
            <a:picLocks noChangeAspect="1"/>
          </p:cNvPicPr>
          <p:nvPr/>
        </p:nvPicPr>
        <p:blipFill>
          <a:blip r:embed="rId11"/>
          <a:stretch>
            <a:fillRect/>
          </a:stretch>
        </p:blipFill>
        <p:spPr>
          <a:xfrm>
            <a:off x="822960" y="5093208"/>
            <a:ext cx="201168" cy="201168"/>
          </a:xfrm>
          <a:prstGeom prst="rect">
            <a:avLst/>
          </a:prstGeom>
        </p:spPr>
      </p:pic>
      <p:sp>
        <p:nvSpPr>
          <p:cNvPr id="34" name="Text 21"/>
          <p:cNvSpPr txBox="1"/>
          <p:nvPr/>
        </p:nvSpPr>
        <p:spPr>
          <a:xfrm>
            <a:off x="1188720" y="4937760"/>
            <a:ext cx="4846320" cy="512064"/>
          </a:xfrm>
          <a:prstGeom prst="rect">
            <a:avLst/>
          </a:prstGeom>
          <a:noFill/>
          <a:ln/>
        </p:spPr>
        <p:txBody>
          <a:bodyPr wrap="square" lIns="0" tIns="0" rIns="0" bIns="0" rtlCol="0" anchor="ctr"/>
          <a:lstStyle/>
          <a:p>
            <a:pPr indent="0" marL="0">
              <a:buNone/>
            </a:pPr>
            <a:r>
              <a:rPr lang="en-US" sz="1500" dirty="0">
                <a:solidFill>
                  <a:schemeClr val="tx1"/>
                </a:solidFill>
              </a:rPr>
              <a:t>Needs good internet</a:t>
            </a:r>
            <a:endParaRPr lang="en-US" sz="1500" dirty="0"/>
          </a:p>
        </p:txBody>
      </p:sp>
      <p:pic>
        <p:nvPicPr>
          <p:cNvPr id="35" name="Image 11" descr="yes">    </p:cNvPr>
          <p:cNvPicPr>
            <a:picLocks noChangeAspect="1"/>
          </p:cNvPicPr>
          <p:nvPr/>
        </p:nvPicPr>
        <p:blipFill>
          <a:blip r:embed="rId12"/>
          <a:stretch>
            <a:fillRect/>
          </a:stretch>
        </p:blipFill>
        <p:spPr>
          <a:xfrm>
            <a:off x="6446520" y="5093208"/>
            <a:ext cx="201168" cy="201168"/>
          </a:xfrm>
          <a:prstGeom prst="rect">
            <a:avLst/>
          </a:prstGeom>
        </p:spPr>
      </p:pic>
      <p:sp>
        <p:nvSpPr>
          <p:cNvPr id="36" name="Text 22"/>
          <p:cNvSpPr txBox="1"/>
          <p:nvPr/>
        </p:nvSpPr>
        <p:spPr>
          <a:xfrm>
            <a:off x="6812280" y="493776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Offline-first; works in villages on 2G or none</a:t>
            </a:r>
            <a:endParaRPr lang="en-US" sz="1500" dirty="0"/>
          </a:p>
        </p:txBody>
      </p:sp>
      <p:sp>
        <p:nvSpPr>
          <p:cNvPr id="37" name="divider"/>
          <p:cNvSpPr/>
          <p:nvPr/>
        </p:nvSpPr>
        <p:spPr>
          <a:xfrm>
            <a:off x="548640" y="5468112"/>
            <a:ext cx="11094415" cy="0"/>
          </a:xfrm>
          <a:prstGeom prst="line">
            <a:avLst/>
          </a:prstGeom>
          <a:noFill/>
          <a:ln w="9525">
            <a:solidFill>
              <a:srgbClr val="DCE3EC"/>
            </a:solidFill>
            <a:prstDash val="solid"/>
          </a:ln>
        </p:spPr>
      </p:sp>
      <p:pic>
        <p:nvPicPr>
          <p:cNvPr id="38" name="Image 12" descr="no">    </p:cNvPr>
          <p:cNvPicPr>
            <a:picLocks noChangeAspect="1"/>
          </p:cNvPicPr>
          <p:nvPr/>
        </p:nvPicPr>
        <p:blipFill>
          <a:blip r:embed="rId13"/>
          <a:stretch>
            <a:fillRect/>
          </a:stretch>
        </p:blipFill>
        <p:spPr>
          <a:xfrm>
            <a:off x="822960" y="5641848"/>
            <a:ext cx="201168" cy="201168"/>
          </a:xfrm>
          <a:prstGeom prst="rect">
            <a:avLst/>
          </a:prstGeom>
        </p:spPr>
      </p:pic>
      <p:sp>
        <p:nvSpPr>
          <p:cNvPr id="39" name="Text 24"/>
          <p:cNvSpPr txBox="1"/>
          <p:nvPr/>
        </p:nvSpPr>
        <p:spPr>
          <a:xfrm>
            <a:off x="1188720" y="5486400"/>
            <a:ext cx="4846320" cy="512064"/>
          </a:xfrm>
          <a:prstGeom prst="rect">
            <a:avLst/>
          </a:prstGeom>
          <a:noFill/>
          <a:ln/>
        </p:spPr>
        <p:txBody>
          <a:bodyPr wrap="square" lIns="0" tIns="0" rIns="0" bIns="0" rtlCol="0" anchor="ctr"/>
          <a:lstStyle/>
          <a:p>
            <a:pPr indent="0" marL="0">
              <a:buNone/>
            </a:pPr>
            <a:r>
              <a:rPr lang="en-US" sz="1500" dirty="0">
                <a:solidFill>
                  <a:schemeClr val="tx1"/>
                </a:solidFill>
              </a:rPr>
              <a:t>Usually English only</a:t>
            </a:r>
            <a:endParaRPr lang="en-US" sz="1500" dirty="0"/>
          </a:p>
        </p:txBody>
      </p:sp>
      <p:pic>
        <p:nvPicPr>
          <p:cNvPr id="40" name="Image 13" descr="yes">    </p:cNvPr>
          <p:cNvPicPr>
            <a:picLocks noChangeAspect="1"/>
          </p:cNvPicPr>
          <p:nvPr/>
        </p:nvPicPr>
        <p:blipFill>
          <a:blip r:embed="rId14"/>
          <a:stretch>
            <a:fillRect/>
          </a:stretch>
        </p:blipFill>
        <p:spPr>
          <a:xfrm>
            <a:off x="6446520" y="5641848"/>
            <a:ext cx="201168" cy="201168"/>
          </a:xfrm>
          <a:prstGeom prst="rect">
            <a:avLst/>
          </a:prstGeom>
        </p:spPr>
      </p:pic>
      <p:sp>
        <p:nvSpPr>
          <p:cNvPr id="41" name="Text 25"/>
          <p:cNvSpPr txBox="1"/>
          <p:nvPr/>
        </p:nvSpPr>
        <p:spPr>
          <a:xfrm>
            <a:off x="6812280" y="5486400"/>
            <a:ext cx="4754880" cy="512064"/>
          </a:xfrm>
          <a:prstGeom prst="rect">
            <a:avLst/>
          </a:prstGeom>
          <a:noFill/>
          <a:ln/>
        </p:spPr>
        <p:txBody>
          <a:bodyPr wrap="square" lIns="0" tIns="0" rIns="0" bIns="0" rtlCol="0" anchor="ctr"/>
          <a:lstStyle/>
          <a:p>
            <a:pPr indent="0" marL="0">
              <a:buNone/>
            </a:pPr>
            <a:r>
              <a:rPr lang="en-US" sz="1500" b="1" dirty="0">
                <a:solidFill>
                  <a:schemeClr val="tx2"/>
                </a:solidFill>
              </a:rPr>
              <a:t>Any language the student speaks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ONE PLATFORM. EVERY SCHOOL. EVERYWHERE.</a:t>
            </a:r>
            <a:endParaRPr lang="en-US" sz="1300" dirty="0"/>
          </a:p>
        </p:txBody>
      </p:sp>
      <p:sp>
        <p:nvSpPr>
          <p:cNvPr id="3" name="Text 1"/>
          <p:cNvSpPr txBox="1"/>
          <p:nvPr/>
        </p:nvSpPr>
        <p:spPr>
          <a:xfrm>
            <a:off x="548640" y="868680"/>
            <a:ext cx="11094415" cy="731520"/>
          </a:xfrm>
          <a:prstGeom prst="rect">
            <a:avLst/>
          </a:prstGeom>
          <a:noFill/>
          <a:ln/>
        </p:spPr>
        <p:txBody>
          <a:bodyPr wrap="square" lIns="0" tIns="0" rIns="0" bIns="0" rtlCol="0" anchor="t"/>
          <a:lstStyle/>
          <a:p>
            <a:pPr indent="0" marL="0">
              <a:buNone/>
            </a:pPr>
            <a:r>
              <a:rPr lang="en-US" sz="3600" b="1" dirty="0">
                <a:solidFill>
                  <a:schemeClr val="bg1"/>
                </a:solidFill>
                <a:latin typeface="Arial" pitchFamily="34" charset="0"/>
                <a:ea typeface="Arial" pitchFamily="34" charset="-122"/>
                <a:cs typeface="Arial" pitchFamily="34" charset="-120"/>
              </a:rPr>
              <a:t>Built for every kind of school</a:t>
            </a:r>
            <a:endParaRPr lang="en-US" sz="3600" dirty="0"/>
          </a:p>
        </p:txBody>
      </p:sp>
      <p:sp>
        <p:nvSpPr>
          <p:cNvPr id="4" name="Government schools"/>
          <p:cNvSpPr/>
          <p:nvPr/>
        </p:nvSpPr>
        <p:spPr>
          <a:xfrm>
            <a:off x="548640" y="1874520"/>
            <a:ext cx="2633472" cy="2560320"/>
          </a:xfrm>
          <a:prstGeom prst="roundRect">
            <a:avLst>
              <a:gd name="adj" fmla="val 4286"/>
            </a:avLst>
          </a:prstGeom>
          <a:solidFill>
            <a:srgbClr val="1E3A63"/>
          </a:solidFill>
          <a:ln/>
        </p:spPr>
      </p:sp>
      <p:sp>
        <p:nvSpPr>
          <p:cNvPr id="5" name="Government schools circle"/>
          <p:cNvSpPr/>
          <p:nvPr/>
        </p:nvSpPr>
        <p:spPr>
          <a:xfrm>
            <a:off x="822960" y="2103120"/>
            <a:ext cx="731520" cy="731520"/>
          </a:xfrm>
          <a:prstGeom prst="ellipse">
            <a:avLst/>
          </a:prstGeom>
          <a:solidFill>
            <a:schemeClr val="accent1"/>
          </a:solidFill>
          <a:ln/>
        </p:spPr>
      </p:sp>
      <p:pic>
        <p:nvPicPr>
          <p:cNvPr id="6" name="Government schools icon" descr="Government schools">    </p:cNvPr>
          <p:cNvPicPr>
            <a:picLocks noChangeAspect="1"/>
          </p:cNvPicPr>
          <p:nvPr/>
        </p:nvPicPr>
        <p:blipFill>
          <a:blip r:embed="rId1"/>
          <a:stretch>
            <a:fillRect/>
          </a:stretch>
        </p:blipFill>
        <p:spPr>
          <a:xfrm>
            <a:off x="1005840" y="2286000"/>
            <a:ext cx="365760" cy="365760"/>
          </a:xfrm>
          <a:prstGeom prst="rect">
            <a:avLst/>
          </a:prstGeom>
        </p:spPr>
      </p:pic>
      <p:sp>
        <p:nvSpPr>
          <p:cNvPr id="7" name="Text 4"/>
          <p:cNvSpPr txBox="1"/>
          <p:nvPr/>
        </p:nvSpPr>
        <p:spPr>
          <a:xfrm>
            <a:off x="822960" y="2971800"/>
            <a:ext cx="2194560" cy="411480"/>
          </a:xfrm>
          <a:prstGeom prst="rect">
            <a:avLst/>
          </a:prstGeom>
          <a:noFill/>
          <a:ln/>
        </p:spPr>
        <p:txBody>
          <a:bodyPr wrap="square" lIns="0" tIns="0" rIns="0" bIns="0" rtlCol="0" anchor="t"/>
          <a:lstStyle/>
          <a:p>
            <a:pPr indent="0" marL="0">
              <a:buNone/>
            </a:pPr>
            <a:r>
              <a:rPr lang="en-US" sz="1700" b="1" dirty="0">
                <a:solidFill>
                  <a:schemeClr val="bg1"/>
                </a:solidFill>
              </a:rPr>
              <a:t>Government schools</a:t>
            </a:r>
            <a:endParaRPr lang="en-US" sz="1700" dirty="0"/>
          </a:p>
        </p:txBody>
      </p:sp>
      <p:sp>
        <p:nvSpPr>
          <p:cNvPr id="8" name="Text 5"/>
          <p:cNvSpPr txBox="1"/>
          <p:nvPr/>
        </p:nvSpPr>
        <p:spPr>
          <a:xfrm>
            <a:off x="822960" y="3383280"/>
            <a:ext cx="2194560" cy="960120"/>
          </a:xfrm>
          <a:prstGeom prst="rect">
            <a:avLst/>
          </a:prstGeom>
          <a:noFill/>
          <a:ln/>
        </p:spPr>
        <p:txBody>
          <a:bodyPr wrap="square" lIns="0" tIns="0" rIns="0" bIns="0" rtlCol="0" anchor="t"/>
          <a:lstStyle/>
          <a:p>
            <a:pPr indent="0" marL="0">
              <a:buNone/>
            </a:pPr>
            <a:r>
              <a:rPr lang="en-US" sz="1350" dirty="0">
                <a:solidFill>
                  <a:srgbClr val="C9D3E3"/>
                </a:solidFill>
              </a:rPr>
              <a:t>State-wide scale, offline-first, live data for BEOs and DEOs.</a:t>
            </a:r>
            <a:endParaRPr lang="en-US" sz="1350" dirty="0"/>
          </a:p>
        </p:txBody>
      </p:sp>
      <p:sp>
        <p:nvSpPr>
          <p:cNvPr id="9" name="Private schools"/>
          <p:cNvSpPr/>
          <p:nvPr/>
        </p:nvSpPr>
        <p:spPr>
          <a:xfrm>
            <a:off x="3364992" y="1874520"/>
            <a:ext cx="2633472" cy="2560320"/>
          </a:xfrm>
          <a:prstGeom prst="roundRect">
            <a:avLst>
              <a:gd name="adj" fmla="val 4286"/>
            </a:avLst>
          </a:prstGeom>
          <a:solidFill>
            <a:srgbClr val="1E3A63"/>
          </a:solidFill>
          <a:ln/>
        </p:spPr>
      </p:sp>
      <p:sp>
        <p:nvSpPr>
          <p:cNvPr id="10" name="Private schools circle"/>
          <p:cNvSpPr/>
          <p:nvPr/>
        </p:nvSpPr>
        <p:spPr>
          <a:xfrm>
            <a:off x="3639312" y="2103120"/>
            <a:ext cx="731520" cy="731520"/>
          </a:xfrm>
          <a:prstGeom prst="ellipse">
            <a:avLst/>
          </a:prstGeom>
          <a:solidFill>
            <a:schemeClr val="accent2"/>
          </a:solidFill>
          <a:ln/>
        </p:spPr>
      </p:sp>
      <p:pic>
        <p:nvPicPr>
          <p:cNvPr id="11" name="Private schools icon" descr="Private schools">    </p:cNvPr>
          <p:cNvPicPr>
            <a:picLocks noChangeAspect="1"/>
          </p:cNvPicPr>
          <p:nvPr/>
        </p:nvPicPr>
        <p:blipFill>
          <a:blip r:embed="rId2"/>
          <a:stretch>
            <a:fillRect/>
          </a:stretch>
        </p:blipFill>
        <p:spPr>
          <a:xfrm>
            <a:off x="3822192" y="2286000"/>
            <a:ext cx="365760" cy="365760"/>
          </a:xfrm>
          <a:prstGeom prst="rect">
            <a:avLst/>
          </a:prstGeom>
        </p:spPr>
      </p:pic>
      <p:sp>
        <p:nvSpPr>
          <p:cNvPr id="12" name="Text 8"/>
          <p:cNvSpPr txBox="1"/>
          <p:nvPr/>
        </p:nvSpPr>
        <p:spPr>
          <a:xfrm>
            <a:off x="3639312" y="2971800"/>
            <a:ext cx="2194560" cy="411480"/>
          </a:xfrm>
          <a:prstGeom prst="rect">
            <a:avLst/>
          </a:prstGeom>
          <a:noFill/>
          <a:ln/>
        </p:spPr>
        <p:txBody>
          <a:bodyPr wrap="square" lIns="0" tIns="0" rIns="0" bIns="0" rtlCol="0" anchor="t"/>
          <a:lstStyle/>
          <a:p>
            <a:pPr indent="0" marL="0">
              <a:buNone/>
            </a:pPr>
            <a:r>
              <a:rPr lang="en-US" sz="1700" b="1" dirty="0">
                <a:solidFill>
                  <a:schemeClr val="bg1"/>
                </a:solidFill>
              </a:rPr>
              <a:t>Private schools</a:t>
            </a:r>
            <a:endParaRPr lang="en-US" sz="1700" dirty="0"/>
          </a:p>
        </p:txBody>
      </p:sp>
      <p:sp>
        <p:nvSpPr>
          <p:cNvPr id="13" name="Text 9"/>
          <p:cNvSpPr txBox="1"/>
          <p:nvPr/>
        </p:nvSpPr>
        <p:spPr>
          <a:xfrm>
            <a:off x="3639312" y="3383280"/>
            <a:ext cx="2194560" cy="960120"/>
          </a:xfrm>
          <a:prstGeom prst="rect">
            <a:avLst/>
          </a:prstGeom>
          <a:noFill/>
          <a:ln/>
        </p:spPr>
        <p:txBody>
          <a:bodyPr wrap="square" lIns="0" tIns="0" rIns="0" bIns="0" rtlCol="0" anchor="t"/>
          <a:lstStyle/>
          <a:p>
            <a:pPr indent="0" marL="0">
              <a:buNone/>
            </a:pPr>
            <a:r>
              <a:rPr lang="en-US" sz="1350" dirty="0">
                <a:solidFill>
                  <a:srgbClr val="C9D3E3"/>
                </a:solidFill>
              </a:rPr>
              <a:t>AI teaching in every class; parents see why they don't need tuition.</a:t>
            </a:r>
            <a:endParaRPr lang="en-US" sz="1350" dirty="0"/>
          </a:p>
        </p:txBody>
      </p:sp>
      <p:sp>
        <p:nvSpPr>
          <p:cNvPr id="14" name="Edtech and coaching"/>
          <p:cNvSpPr/>
          <p:nvPr/>
        </p:nvSpPr>
        <p:spPr>
          <a:xfrm>
            <a:off x="6181344" y="1874520"/>
            <a:ext cx="2633472" cy="2560320"/>
          </a:xfrm>
          <a:prstGeom prst="roundRect">
            <a:avLst>
              <a:gd name="adj" fmla="val 4286"/>
            </a:avLst>
          </a:prstGeom>
          <a:solidFill>
            <a:srgbClr val="1E3A63"/>
          </a:solidFill>
          <a:ln/>
        </p:spPr>
      </p:sp>
      <p:sp>
        <p:nvSpPr>
          <p:cNvPr id="15" name="Edtech and coaching circle"/>
          <p:cNvSpPr/>
          <p:nvPr/>
        </p:nvSpPr>
        <p:spPr>
          <a:xfrm>
            <a:off x="6455664" y="2103120"/>
            <a:ext cx="731520" cy="731520"/>
          </a:xfrm>
          <a:prstGeom prst="ellipse">
            <a:avLst/>
          </a:prstGeom>
          <a:solidFill>
            <a:schemeClr val="accent3"/>
          </a:solidFill>
          <a:ln/>
        </p:spPr>
      </p:sp>
      <p:pic>
        <p:nvPicPr>
          <p:cNvPr id="16" name="Edtech and coaching icon" descr="Edtech and coaching">    </p:cNvPr>
          <p:cNvPicPr>
            <a:picLocks noChangeAspect="1"/>
          </p:cNvPicPr>
          <p:nvPr/>
        </p:nvPicPr>
        <p:blipFill>
          <a:blip r:embed="rId3"/>
          <a:stretch>
            <a:fillRect/>
          </a:stretch>
        </p:blipFill>
        <p:spPr>
          <a:xfrm>
            <a:off x="6638544" y="2286000"/>
            <a:ext cx="365760" cy="365760"/>
          </a:xfrm>
          <a:prstGeom prst="rect">
            <a:avLst/>
          </a:prstGeom>
        </p:spPr>
      </p:pic>
      <p:sp>
        <p:nvSpPr>
          <p:cNvPr id="17" name="Text 12"/>
          <p:cNvSpPr txBox="1"/>
          <p:nvPr/>
        </p:nvSpPr>
        <p:spPr>
          <a:xfrm>
            <a:off x="6455664" y="2971800"/>
            <a:ext cx="2194560" cy="411480"/>
          </a:xfrm>
          <a:prstGeom prst="rect">
            <a:avLst/>
          </a:prstGeom>
          <a:noFill/>
          <a:ln/>
        </p:spPr>
        <p:txBody>
          <a:bodyPr wrap="square" lIns="0" tIns="0" rIns="0" bIns="0" rtlCol="0" anchor="t"/>
          <a:lstStyle/>
          <a:p>
            <a:pPr indent="0" marL="0">
              <a:buNone/>
            </a:pPr>
            <a:r>
              <a:rPr lang="en-US" sz="1700" b="1" dirty="0">
                <a:solidFill>
                  <a:schemeClr val="bg1"/>
                </a:solidFill>
              </a:rPr>
              <a:t>Edtech and coaching</a:t>
            </a:r>
            <a:endParaRPr lang="en-US" sz="1700" dirty="0"/>
          </a:p>
        </p:txBody>
      </p:sp>
      <p:sp>
        <p:nvSpPr>
          <p:cNvPr id="18" name="Text 13"/>
          <p:cNvSpPr txBox="1"/>
          <p:nvPr/>
        </p:nvSpPr>
        <p:spPr>
          <a:xfrm>
            <a:off x="6455664" y="3383280"/>
            <a:ext cx="2194560" cy="960120"/>
          </a:xfrm>
          <a:prstGeom prst="rect">
            <a:avLst/>
          </a:prstGeom>
          <a:noFill/>
          <a:ln/>
        </p:spPr>
        <p:txBody>
          <a:bodyPr wrap="square" lIns="0" tIns="0" rIns="0" bIns="0" rtlCol="0" anchor="t"/>
          <a:lstStyle/>
          <a:p>
            <a:pPr indent="0" marL="0">
              <a:buNone/>
            </a:pPr>
            <a:r>
              <a:rPr lang="en-US" sz="1350" dirty="0">
                <a:solidFill>
                  <a:srgbClr val="C9D3E3"/>
                </a:solidFill>
              </a:rPr>
              <a:t>White-label AI tutor, exam prep engine and skill courses.</a:t>
            </a:r>
            <a:endParaRPr lang="en-US" sz="1350" dirty="0"/>
          </a:p>
        </p:txBody>
      </p:sp>
      <p:sp>
        <p:nvSpPr>
          <p:cNvPr id="19" name="Any country, any board"/>
          <p:cNvSpPr/>
          <p:nvPr/>
        </p:nvSpPr>
        <p:spPr>
          <a:xfrm>
            <a:off x="8997696" y="1874520"/>
            <a:ext cx="2633472" cy="2560320"/>
          </a:xfrm>
          <a:prstGeom prst="roundRect">
            <a:avLst>
              <a:gd name="adj" fmla="val 4286"/>
            </a:avLst>
          </a:prstGeom>
          <a:solidFill>
            <a:srgbClr val="1E3A63"/>
          </a:solidFill>
          <a:ln/>
        </p:spPr>
      </p:sp>
      <p:sp>
        <p:nvSpPr>
          <p:cNvPr id="20" name="Any country, any board circle"/>
          <p:cNvSpPr/>
          <p:nvPr/>
        </p:nvSpPr>
        <p:spPr>
          <a:xfrm>
            <a:off x="9272016" y="2103120"/>
            <a:ext cx="731520" cy="731520"/>
          </a:xfrm>
          <a:prstGeom prst="ellipse">
            <a:avLst/>
          </a:prstGeom>
          <a:solidFill>
            <a:schemeClr val="accent5"/>
          </a:solidFill>
          <a:ln/>
        </p:spPr>
      </p:sp>
      <p:pic>
        <p:nvPicPr>
          <p:cNvPr id="21" name="Any country, any board icon" descr="Any country, any board">    </p:cNvPr>
          <p:cNvPicPr>
            <a:picLocks noChangeAspect="1"/>
          </p:cNvPicPr>
          <p:nvPr/>
        </p:nvPicPr>
        <p:blipFill>
          <a:blip r:embed="rId4"/>
          <a:stretch>
            <a:fillRect/>
          </a:stretch>
        </p:blipFill>
        <p:spPr>
          <a:xfrm>
            <a:off x="9454896" y="2286000"/>
            <a:ext cx="365760" cy="365760"/>
          </a:xfrm>
          <a:prstGeom prst="rect">
            <a:avLst/>
          </a:prstGeom>
        </p:spPr>
      </p:pic>
      <p:sp>
        <p:nvSpPr>
          <p:cNvPr id="22" name="Text 16"/>
          <p:cNvSpPr txBox="1"/>
          <p:nvPr/>
        </p:nvSpPr>
        <p:spPr>
          <a:xfrm>
            <a:off x="9272016" y="2971800"/>
            <a:ext cx="2194560" cy="411480"/>
          </a:xfrm>
          <a:prstGeom prst="rect">
            <a:avLst/>
          </a:prstGeom>
          <a:noFill/>
          <a:ln/>
        </p:spPr>
        <p:txBody>
          <a:bodyPr wrap="square" lIns="0" tIns="0" rIns="0" bIns="0" rtlCol="0" anchor="t"/>
          <a:lstStyle/>
          <a:p>
            <a:pPr indent="0" marL="0">
              <a:buNone/>
            </a:pPr>
            <a:r>
              <a:rPr lang="en-US" sz="1700" b="1" dirty="0">
                <a:solidFill>
                  <a:schemeClr val="bg1"/>
                </a:solidFill>
              </a:rPr>
              <a:t>Any country, any board</a:t>
            </a:r>
            <a:endParaRPr lang="en-US" sz="1700" dirty="0"/>
          </a:p>
        </p:txBody>
      </p:sp>
      <p:sp>
        <p:nvSpPr>
          <p:cNvPr id="23" name="Text 17"/>
          <p:cNvSpPr txBox="1"/>
          <p:nvPr/>
        </p:nvSpPr>
        <p:spPr>
          <a:xfrm>
            <a:off x="9272016" y="3383280"/>
            <a:ext cx="2194560" cy="960120"/>
          </a:xfrm>
          <a:prstGeom prst="rect">
            <a:avLst/>
          </a:prstGeom>
          <a:noFill/>
          <a:ln/>
        </p:spPr>
        <p:txBody>
          <a:bodyPr wrap="square" lIns="0" tIns="0" rIns="0" bIns="0" rtlCol="0" anchor="t"/>
          <a:lstStyle/>
          <a:p>
            <a:pPr indent="0" marL="0">
              <a:buNone/>
            </a:pPr>
            <a:r>
              <a:rPr lang="en-US" sz="1350" dirty="0">
                <a:solidFill>
                  <a:srgbClr val="C9D3E3"/>
                </a:solidFill>
              </a:rPr>
              <a:t>CBSE, ICSE, state boards, IB, Cambridge — in any language.</a:t>
            </a:r>
            <a:endParaRPr lang="en-US" sz="1350" dirty="0"/>
          </a:p>
        </p:txBody>
      </p:sp>
      <p:sp>
        <p:nvSpPr>
          <p:cNvPr id="24" name="Text 18"/>
          <p:cNvSpPr txBox="1"/>
          <p:nvPr/>
        </p:nvSpPr>
        <p:spPr>
          <a:xfrm>
            <a:off x="548640" y="4800600"/>
            <a:ext cx="11094415" cy="548640"/>
          </a:xfrm>
          <a:prstGeom prst="rect">
            <a:avLst/>
          </a:prstGeom>
          <a:noFill/>
          <a:ln/>
        </p:spPr>
        <p:txBody>
          <a:bodyPr wrap="square" lIns="0" tIns="0" rIns="0" bIns="0" rtlCol="0" anchor="t"/>
          <a:lstStyle/>
          <a:p>
            <a:pPr algn="ctr" indent="0" marL="0">
              <a:buNone/>
            </a:pPr>
            <a:r>
              <a:rPr lang="en-US" sz="2600" b="1" dirty="0">
                <a:solidFill>
                  <a:schemeClr val="bg1"/>
                </a:solidFill>
              </a:rPr>
              <a:t>Let's build the future of learning together</a:t>
            </a:r>
            <a:endParaRPr lang="en-US" sz="2600" dirty="0"/>
          </a:p>
        </p:txBody>
      </p:sp>
      <p:sp>
        <p:nvSpPr>
          <p:cNvPr id="25" name="Text 19"/>
          <p:cNvSpPr txBox="1"/>
          <p:nvPr/>
        </p:nvSpPr>
        <p:spPr>
          <a:xfrm>
            <a:off x="548640" y="5394960"/>
            <a:ext cx="11094415" cy="365760"/>
          </a:xfrm>
          <a:prstGeom prst="rect">
            <a:avLst/>
          </a:prstGeom>
          <a:noFill/>
          <a:ln/>
        </p:spPr>
        <p:txBody>
          <a:bodyPr wrap="square" lIns="0" tIns="0" rIns="0" bIns="0" rtlCol="0" anchor="t"/>
          <a:lstStyle/>
          <a:p>
            <a:pPr algn="ctr" indent="0" marL="0">
              <a:buNone/>
            </a:pPr>
            <a:r>
              <a:rPr lang="en-US" sz="1500" dirty="0">
                <a:solidFill>
                  <a:schemeClr val="accent2"/>
                </a:solidFill>
              </a:rPr>
              <a:t>Start with a pilot  •  first release live in 8 weeks  •  scale when the results prove it</a:t>
            </a:r>
            <a:endParaRPr lang="en-US" sz="1500" dirty="0"/>
          </a:p>
        </p:txBody>
      </p:sp>
      <p:sp>
        <p:nvSpPr>
          <p:cNvPr id="26" name="Text 20"/>
          <p:cNvSpPr txBox="1"/>
          <p:nvPr/>
        </p:nvSpPr>
        <p:spPr>
          <a:xfrm>
            <a:off x="548640" y="6035040"/>
            <a:ext cx="11094415" cy="320040"/>
          </a:xfrm>
          <a:prstGeom prst="rect">
            <a:avLst/>
          </a:prstGeom>
          <a:noFill/>
          <a:ln/>
        </p:spPr>
        <p:txBody>
          <a:bodyPr wrap="square" lIns="0" tIns="0" rIns="0" bIns="0" rtlCol="0" anchor="t"/>
          <a:lstStyle/>
          <a:p>
            <a:pPr algn="ctr" indent="0" marL="0">
              <a:buNone/>
            </a:pPr>
            <a:r>
              <a:rPr lang="en-US" sz="1300" dirty="0">
                <a:solidFill>
                  <a:srgbClr val="C9D3E3"/>
                </a:solidFill>
              </a:rPr>
              <a:t>YJ Technosoft Private Limited</a:t>
            </a:r>
            <a:endParaRPr lang="en-US" sz="1300" dirty="0"/>
          </a:p>
        </p:txBody>
      </p:sp>
    </p:spTree>
  </p:cSld>
  <p:clrMapOvr>
    <a:masterClrMapping/>
  </p:clrMapOvr>
</p:sld>
</file>

<file path=ppt/theme/theme1.xml><?xml version="1.0" encoding="utf-8"?>
<a:theme xmlns:a="http://schemas.openxmlformats.org/drawingml/2006/main" name="AI Gurukul">
  <a:themeElements>
    <a:clrScheme name="AI Gurukul">
      <a:dk1>
        <a:srgbClr val="1B2333"/>
      </a:dk1>
      <a:lt1>
        <a:srgbClr val="FFFFFF"/>
      </a:lt1>
      <a:dk2>
        <a:srgbClr val="13294B"/>
      </a:dk2>
      <a:lt2>
        <a:srgbClr val="EEF3F8"/>
      </a:lt2>
      <a:accent1>
        <a:srgbClr val="0E8C7F"/>
      </a:accent1>
      <a:accent2>
        <a:srgbClr val="E39B1B"/>
      </a:accent2>
      <a:accent3>
        <a:srgbClr val="C8553D"/>
      </a:accent3>
      <a:accent4>
        <a:srgbClr val="3F51B5"/>
      </a:accent4>
      <a:accent5>
        <a:srgbClr val="7B4FB8"/>
      </a:accent5>
      <a:accent6>
        <a:srgbClr val="5E6B7D"/>
      </a:accent6>
      <a:hlink>
        <a:srgbClr val="0E8C7F"/>
      </a:hlink>
      <a:folHlink>
        <a:srgbClr val="7B4FB8"/>
      </a:folHlink>
    </a:clrScheme>
    <a:fontScheme name="AI Guruk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YJ Technosoft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Gurukul – AI-enabled learning platform</dc:title>
  <dc:subject>PptxGenJS Presentation</dc:subject>
  <dc:creator>YJ Technosoft Private Limited</dc:creator>
  <cp:lastModifiedBy>YJ Technosoft Private Limited</cp:lastModifiedBy>
  <cp:revision>1</cp:revision>
  <dcterms:created xsi:type="dcterms:W3CDTF">2026-10-22T06:29:01Z</dcterms:created>
  <dcterms:modified xsi:type="dcterms:W3CDTF">2026-10-22T06:29:01Z</dcterms:modified>
</cp:coreProperties>
</file>