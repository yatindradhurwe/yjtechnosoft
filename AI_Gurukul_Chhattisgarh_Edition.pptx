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b7a002-9333-d061-f77d-b692598cc930}">
          <p14:sldIdLst>
            <p14:sldId id="256"/>
            <p14:sldId id="257"/>
            <p14:sldId id="258"/>
          </p14:sldIdLst>
        </p14:section>
        <p14:section name="Chhattisgarh context" id="{ba1d64a7-099a-cb2c-6e76-7873890c9d04}">
          <p14:sldIdLst>
            <p14:sldId id="259"/>
            <p14:sldId id="260"/>
            <p14:sldId id="261"/>
            <p14:sldId id="262"/>
            <p14:sldId id="263"/>
          </p14:sldIdLst>
        </p14:section>
        <p14:section name="The product" id="{bd882248-7a45-3752-562a-ebf0450b5a1f}">
          <p14:sldIdLst>
            <p14:sldId id="264"/>
            <p14:sldId id="265"/>
            <p14:sldId id="266"/>
            <p14:sldId id="267"/>
            <p14:sldId id="268"/>
            <p14:sldId id="269"/>
            <p14:sldId id="270"/>
            <p14:sldId id="271"/>
            <p14:sldId id="272"/>
            <p14:sldId id="273"/>
          </p14:sldIdLst>
        </p14:section>
        <p14:section name="Delivery" id="{47765f83-c1d9-cbd2-2fef-247708de360b}">
          <p14:sldIdLst>
            <p14:sldId id="274"/>
            <p14:sldId id="275"/>
            <p14:sldId id="276"/>
            <p14:sldId id="277"/>
            <p14:sldId id="278"/>
            <p14:sldId id="279"/>
          </p14:sldIdLst>
        </p14:section>
        <p14:section name="Investment and next steps" id="{c1874b9d-6244-8d49-f18c-b5e8a410d0c9}">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4B"/>
                </a:solidFill>
                <a:latin typeface="+mn-lt"/>
              </a:defRPr>
            </a:pPr>
            <a:r>
              <a:rPr sz="1400" b="0" i="0" u="none" strike="noStrike">
                <a:solidFill>
                  <a:srgbClr val="13294B"/>
                </a:solidFill>
                <a:latin typeface="+mn-lt"/>
              </a:rPr>
              <a:t>Home language of Class 1 students (%)</a:t>
            </a:r>
          </a:p>
        </c:rich>
      </c:tx>
      <c:layout/>
      <c:overlay val="0"/>
    </c:title>
    <c:autoTitleDeleted val="0"/>
    <c:plotArea>
      <c:layout/>
      <c:barChart>
        <c:barDir val="bar"/>
        <c:grouping val="clustered"/>
        <c:varyColors val="0"/>
        <c:ser>
          <c:idx val="0"/>
          <c:order val="0"/>
          <c:tx>
            <c:strRef>
              <c:f>Sheet1!$B$1</c:f>
              <c:strCache>
                <c:ptCount val="1"/>
                <c:pt idx="0">
                  <c:v>Share of Class 1 students (%)</c:v>
                </c:pt>
              </c:strCache>
            </c:strRef>
          </c:tx>
          <c:spPr>
            <a:solidFill>
              <a:srgbClr val="0E8C7F"/>
            </a:solidFill>
            <a:effectLst/>
          </c:spPr>
          <c:invertIfNegative val="0"/>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Sheet1!$A$2:$A$7</c:f>
              <c:multiLvlStrCache>
                <c:ptCount val="6"/>
                <c:lvl>
                  <c:pt idx="0">
                    <c:v>Chhattisgarhi</c:v>
                  </c:pt>
                  <c:pt idx="1">
                    <c:v>Sargujiha</c:v>
                  </c:pt>
                  <c:pt idx="2">
                    <c:v>Halbi</c:v>
                  </c:pt>
                  <c:pt idx="3">
                    <c:v>Sadri</c:v>
                  </c:pt>
                  <c:pt idx="4">
                    <c:v>Gondi (Dantewada)</c:v>
                  </c:pt>
                  <c:pt idx="5">
                    <c:v>Kudukh</c:v>
                  </c:pt>
                </c:lvl>
              </c:multiLvlStrCache>
            </c:multiLvlStrRef>
          </c:cat>
          <c:val>
            <c:numRef>
              <c:f>Sheet1!$B$2:$B$7</c:f>
              <c:numCache>
                <c:formatCode>General</c:formatCode>
                <c:ptCount val="6"/>
                <c:pt idx="0">
                  <c:v>65.83</c:v>
                </c:pt>
                <c:pt idx="1">
                  <c:v>9.38</c:v>
                </c:pt>
                <c:pt idx="2">
                  <c:v>4.19</c:v>
                </c:pt>
                <c:pt idx="3">
                  <c:v>3.97</c:v>
                </c:pt>
                <c:pt idx="4">
                  <c:v>2.33</c:v>
                </c:pt>
                <c:pt idx="5">
                  <c:v>0.7</c:v>
                </c:pt>
              </c:numCache>
            </c:numRef>
          </c:val>
        </c:ser>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4B"/>
                </a:solidFill>
                <a:latin typeface="+mn-lt"/>
              </a:defRPr>
            </a:pPr>
            <a:r>
              <a:rPr sz="1400" b="0" i="0" u="none" strike="noStrike">
                <a:solidFill>
                  <a:srgbClr val="13294B"/>
                </a:solidFill>
                <a:latin typeface="+mn-lt"/>
              </a:rPr>
              <a:t>Monthly cost, ₹ crore (before GST)</a:t>
            </a:r>
          </a:p>
        </c:rich>
      </c:tx>
      <c:layout/>
      <c:overlay val="0"/>
    </c:title>
    <c:autoTitleDeleted val="0"/>
    <c:plotArea>
      <c:layout/>
      <c:doughnutChart>
        <c:varyColors val="1"/>
        <c:ser>
          <c:idx val="0"/>
          <c:order val="0"/>
          <c:tx>
            <c:strRef>
              <c:f>Sheet1!$B$1</c:f>
              <c:strCache>
                <c:ptCount val="1"/>
                <c:pt idx="0">
                  <c:v>Monthly cost (₹ crore)</c:v>
                </c:pt>
              </c:strCache>
            </c:strRef>
          </c:tx>
          <c:spPr>
            <a:solidFill>
              <a:schemeClr val="accent1"/>
            </a:solidFill>
            <a:ln w="9525" cap="flat">
              <a:solidFill>
                <a:srgbClr val="F9F9F9"/>
              </a:solidFill>
              <a:prstDash val="solid"/>
              <a:round/>
            </a:ln>
            <a:effectLst/>
          </c:spPr>
          <c:dPt>
            <c:idx val="0"/>
            <c:bubble3D val="0"/>
            <c:spPr>
              <a:solidFill>
                <a:srgbClr val="0E8C7F"/>
              </a:solidFill>
              <a:effectLst/>
            </c:spPr>
          </c:dPt>
          <c:dPt>
            <c:idx val="1"/>
            <c:bubble3D val="0"/>
            <c:spPr>
              <a:solidFill>
                <a:srgbClr val="E39B1B"/>
              </a:solidFill>
              <a:effectLst/>
            </c:spPr>
          </c:dPt>
          <c:dPt>
            <c:idx val="2"/>
            <c:bubble3D val="0"/>
            <c:spPr>
              <a:solidFill>
                <a:srgbClr val="3F51B5"/>
              </a:solidFill>
              <a:effectLst/>
            </c:spPr>
          </c:dPt>
          <c:dLbls>
            <c:dLbl>
              <c:idx val="0"/>
              <c:numFmt formatCode="0.0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0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0.0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AI usage</c:v>
                </c:pt>
                <c:pt idx="1">
                  <c:v>Staff and support</c:v>
                </c:pt>
                <c:pt idx="2">
                  <c:v>Cloud / server</c:v>
                </c:pt>
              </c:strCache>
            </c:strRef>
          </c:cat>
          <c:val>
            <c:numRef>
              <c:f>Sheet1!$B$2:$B$4</c:f>
              <c:numCache>
                <c:ptCount val="3"/>
                <c:pt idx="0">
                  <c:v>12</c:v>
                </c:pt>
                <c:pt idx="1">
                  <c:v>1.8</c:v>
                </c:pt>
                <c:pt idx="2">
                  <c:v>0.9</c:v>
                </c:pt>
              </c:numCache>
            </c:numRef>
          </c:val>
        </c:ser>
        <c:firstSliceAng val="0"/>
        <c:holeSize val="58"/>
      </c:doughnutChart>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 present AI Gurukul — a school platform built for Chhattisgarh. In simple words: one app to run the school, and an AI study helper for every child. We will cover the state's context, what the product does, how we deliver it, and the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only one slide, remember this one. AI Gurukul does three jobs: it runs the school's daily work, it helps every child learn with an AI helper, and it gives leaders clear data. The first working version can be ready in 8 weeks, and the one-time build cost is ₹23.70 lakh including GST.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First, why Chhattisgarh needs this. Second, what the product does. Third, how we will build and test it. Fourth, the money and the decisions we need from you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Chhattisgarh has nearly 57 thousand schools, over 58 lakh students and about 2.85 lakh teachers. On average there are about 102 students per school and 20 students per teacher. The system runs across 33 districts, with CGBSE for board exams and SCERT for curriculum. A system this big cannot run well on paper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realities AI Gurukul is designed around. Nearly 6,000 schools have just one teacher. Many schools are in remote tribal areas with weak internet. Children speak many home languages. Teachers spend a lot of time on paperwork. And board exam results need earlier support. Every feature in our plan maps back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two-thirds of Class 1 children speak Chhattisgarhi at home, and many others speak Sargujiha, Halbi, Sadri, Gondi or Kudukh. The state has started bilingual textbooks for this reason. AI Gurukul will launch in Hindi and English, add Chhattisgarhi next, and support tribal languages using approved SCERT content, always checked by teachers.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AI Gurukul is not a generic product. Each state priority — NEP and foundational learning, bilingual teaching, board results, teacher shortage, reporting and remote schools — has a matching feature. This makes it easier for the department to see the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it real. Picture a village school in Kanker. In the morning the teacher marks attendance in one tap. Mid-morning, AI drafts a worksheet that the teacher checks. In the evening Meena asks a doubt in Hindi from home. Her father sees her homework status. And every week the headmaster and block officer get a ready report. This is an illustrative example of the daily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school information is scattered in registers, WhatsApp groups and Excel. Marks tell us a score but not what to do next. And teachers simply don't have time for every doubt. AI Gurukul brings everything into one place, shows a clear next step for each child, and gives students help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product. Plan, teach, test, find gaps, practise, and review — then repeat. Because all six steps happen on one platform, the system can tell a teacher: these five children are weak in fractions, here is practice for them. That is the difference between storing data and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types of users, each with their own simple screen. Students learn, parents stay informed, teachers save time, headmasters manage, and block and district officers — BEO and DEO — see which schools need help. Everyone sees only what their role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FRD lists 14 modules. This slide shows where each one lands. The everyday basics — curriculum, attendance, parent engagement, dashboards and audit — come in Phase 1. Planning, assessments and the first AI features come in Phase 2. The teacher absence workflow comes in Phase 3. Voice avatars, 3D, rankings and lab usage are optional later modules, added once the pilot proves quality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is where every school year starts. Content is organised from board down to learning outcome — CGBSE or NCERT, class, subject, chapter, topic. AI drafts annual, monthly, weekly and daily plans. The teacher reviews and the principal approves if needed. If a lesson is missed, the system proposes a new schedule without disturbing completed lessons, and it records what changed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but important idea from the FRD. Completion tells us whether a topic was taught. Mastery tells us whether the child actually learned it. They are stored separately, and one is never calculated from the other. For example, Meena finished all the Fractions lessons, but her mastery is only 55 percent — so the system suggests practice and alerts her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FRD's most important workflow, and it matters a lot in Chhattisgarh where thousands of schools have one teacher. When a teacher is absent, the system identifies the class and topic, suggests the best available substitute, and the principal approves. If no one is available, the class still gets an approved video, AI doubt help and practice. Everything is recorded and the plan updates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AI actually does. In Phase 2 we launch four practical features: a doubt helper, personal revision, a teacher copilot and exam readiness. Voice tutors and 3D simulations come later, only after we have proven quality, safety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matters most when children are involved. These are our six promises: AI follows the textbook, is child-safe, keeps the teacher in control, protects privacy, keeps costs under control and is tested before we scale. On top of this we have role-based access, audit logs and regular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going too technical: the system is built in layers — apps, a secure gateway, school services and data. The AI sits in its own layer, so we can change AI providers or control costs without touching the school system. And it is designed to work on low bandwidth for village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working version takes 8 weeks: two weeks to plan, two to build the core, two for daily workflows, and two for testing and launch. We go live only when school staff can actually do their daily tasks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in steps. Phase 1, the web system, in weeks 1 to 8. Phase 2 adds academic planning, assessments and the first AI features in weeks 7 to 12. Phase 3 adds the teacher absence and digital class workflow plus mobile apps by week 20. Advanced features like voice tutors are optional and later, and large-scale rollout happens only after scale checks are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we recommend a phased build. A typical single-release proposal for this same FRD delivers the first usable system only at week 40, for about ₹51.5 lakh. Our approach gives schools a working system in 8 weeks for ₹23.70 lakh including GST. To be fair, the scope is different — that proposal puts voice avatar and 3D in the first release. We add them after the pilot proves they are worth the cost. The result: less than half the build cost, and schools benefit about 32 weeks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piloting in three kinds of schools: urban schools like Raipur, rural schools in the plains, and tribal and remote schools like Bastar or Surguja. These districts are suggestions for discussion. The pilot has four steps: record the baseline, deploy, measure, and decide together whether to expand.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judge the pilot on six things: are people using it, is teacher time saved, is homework being completed, are children improving, is the system reliable, and what does AI cost per student. Targets for each will be agreed with you before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grow step by step: a pilot of 100 to 500 schools, then up to 5,000, then 15,000, and up to 40,000 as the long-term target. For comparison, Chhattisgarh alone has nearly 57 thousand schools. At every step we check speed, security, usage, support and cost before going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one-time build cost is ₹17.80 lakh for the core plus ₹5.90 lakh for scale-up engineering — ₹23.70 lakh in total including GST, under the ₹25 lakh ceiling. Cloud, AI usage, annual maintenance and optional modules are separate, because they depend on how many people actually use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planning scenario at full national scale: 40,000 schools and one crore students. Monthly cost would be about ₹14.70 crore before GST — roughly ₹14.70 per student per month, of which about ₹12 is AI usage. Real costs depend on actual usage, and we will keep them low with limits, caching and smaller models. Load testing will confirm the cloud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FRD lists 11 decisions to confirm. To save time in the workshop, here are our suggested answers. For example: Hindi and English first, principal approval for substitutes, text doubt help before voice avatars, recorded digital classes instead of live ones, and India-hosted cloud. All of these are starting points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started we need four decisions: lock the Phase 1 scope, name one business owner and one technical contact, choose the hosting model, and approve the pilot schools and success targets. Once these are agreed, the 8-week clock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5"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YJ Technosoft Private Limited  •  AI Gurukul LMS  •  October 2026</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2.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640080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PRODUCT PROPOSAL  •  CHHATTISGARH EDITION</a:t>
            </a:r>
            <a:endParaRPr lang="en-US" sz="1300" dirty="0"/>
          </a:p>
        </p:txBody>
      </p:sp>
      <p:sp>
        <p:nvSpPr>
          <p:cNvPr id="3" name="Text 1"/>
          <p:cNvSpPr txBox="1"/>
          <p:nvPr/>
        </p:nvSpPr>
        <p:spPr>
          <a:xfrm>
            <a:off x="548640" y="1325880"/>
            <a:ext cx="6766560" cy="109728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AI Gurukul</a:t>
            </a:r>
            <a:endParaRPr lang="en-US" sz="6000" dirty="0"/>
          </a:p>
        </p:txBody>
      </p:sp>
      <p:sp>
        <p:nvSpPr>
          <p:cNvPr id="4" name="Text 2"/>
          <p:cNvSpPr txBox="1"/>
          <p:nvPr/>
        </p:nvSpPr>
        <p:spPr>
          <a:xfrm>
            <a:off x="548640" y="2514600"/>
            <a:ext cx="6766560" cy="1005840"/>
          </a:xfrm>
          <a:prstGeom prst="rect">
            <a:avLst/>
          </a:prstGeom>
          <a:noFill/>
          <a:ln/>
        </p:spPr>
        <p:txBody>
          <a:bodyPr wrap="square" lIns="0" tIns="0" rIns="0" bIns="0" rtlCol="0" anchor="t"/>
          <a:lstStyle/>
          <a:p>
            <a:pPr indent="0" marL="0">
              <a:buNone/>
            </a:pPr>
            <a:r>
              <a:rPr lang="en-US" sz="2200" dirty="0">
                <a:solidFill>
                  <a:schemeClr val="bg1"/>
                </a:solidFill>
              </a:rPr>
              <a:t>One smart platform for every school —</a:t>
            </a:r>
            <a:endParaRPr lang="en-US" sz="2200" dirty="0"/>
          </a:p>
          <a:p>
            <a:pPr indent="0" marL="0">
              <a:buNone/>
            </a:pPr>
            <a:r>
              <a:rPr lang="en-US" sz="2200" dirty="0">
                <a:solidFill>
                  <a:schemeClr val="bg1"/>
                </a:solidFill>
              </a:rPr>
              <a:t>and a personal study helper for every child</a:t>
            </a:r>
            <a:endParaRPr lang="en-US" sz="2200" dirty="0"/>
          </a:p>
        </p:txBody>
      </p:sp>
      <p:sp>
        <p:nvSpPr>
          <p:cNvPr id="5" name="Text 3"/>
          <p:cNvSpPr txBox="1"/>
          <p:nvPr/>
        </p:nvSpPr>
        <p:spPr>
          <a:xfrm>
            <a:off x="548640" y="3657600"/>
            <a:ext cx="6766560" cy="365760"/>
          </a:xfrm>
          <a:prstGeom prst="rect">
            <a:avLst/>
          </a:prstGeom>
          <a:noFill/>
          <a:ln/>
        </p:spPr>
        <p:txBody>
          <a:bodyPr wrap="square" lIns="0" tIns="0" rIns="0" bIns="0" rtlCol="0" anchor="t"/>
          <a:lstStyle/>
          <a:p>
            <a:pPr indent="0" marL="0">
              <a:buNone/>
            </a:pPr>
            <a:r>
              <a:rPr lang="en-US" sz="1600" dirty="0">
                <a:solidFill>
                  <a:srgbClr val="C9D3E3"/>
                </a:solidFill>
              </a:rPr>
              <a:t>Designed for Chhattisgarh's schools, teachers, students and parents.</a:t>
            </a:r>
            <a:endParaRPr lang="en-US" sz="1600" dirty="0"/>
          </a:p>
        </p:txBody>
      </p:sp>
      <p:sp>
        <p:nvSpPr>
          <p:cNvPr id="6" name="Text 4"/>
          <p:cNvSpPr txBox="1"/>
          <p:nvPr/>
        </p:nvSpPr>
        <p:spPr>
          <a:xfrm>
            <a:off x="548640" y="5120640"/>
            <a:ext cx="6400800" cy="640080"/>
          </a:xfrm>
          <a:prstGeom prst="rect">
            <a:avLst/>
          </a:prstGeom>
          <a:noFill/>
          <a:ln/>
        </p:spPr>
        <p:txBody>
          <a:bodyPr wrap="square" lIns="0" tIns="0" rIns="0" bIns="0" rtlCol="0" anchor="t"/>
          <a:lstStyle/>
          <a:p>
            <a:pPr indent="0" marL="0">
              <a:buNone/>
            </a:pPr>
            <a:r>
              <a:rPr lang="en-US" sz="1400" b="1" dirty="0">
                <a:solidFill>
                  <a:schemeClr val="bg1"/>
                </a:solidFill>
              </a:rPr>
              <a:t>Prepared for Mr. Ashish Singh</a:t>
            </a:r>
            <a:endParaRPr lang="en-US" sz="1400" dirty="0"/>
          </a:p>
          <a:p>
            <a:pPr indent="0" marL="0">
              <a:buNone/>
            </a:pPr>
            <a:r>
              <a:rPr lang="en-US" sz="1400" dirty="0">
                <a:solidFill>
                  <a:schemeClr val="bg1"/>
                </a:solidFill>
              </a:rPr>
              <a:t>YJ Technosoft Private Limited  •  October 2026</a:t>
            </a:r>
            <a:endParaRPr lang="en-US" sz="1400" dirty="0"/>
          </a:p>
        </p:txBody>
      </p:sp>
      <p:sp>
        <p:nvSpPr>
          <p:cNvPr id="7" name="orbit"/>
          <p:cNvSpPr/>
          <p:nvPr/>
        </p:nvSpPr>
        <p:spPr>
          <a:xfrm>
            <a:off x="7178040" y="1463040"/>
            <a:ext cx="3931920" cy="3931920"/>
          </a:xfrm>
          <a:prstGeom prst="ellipse">
            <a:avLst/>
          </a:prstGeom>
          <a:ln w="19050">
            <a:solidFill>
              <a:srgbClr val="3D5A85"/>
            </a:solidFill>
            <a:prstDash val="dash"/>
          </a:ln>
        </p:spPr>
      </p:sp>
      <p:sp>
        <p:nvSpPr>
          <p:cNvPr id="8" name="Student at the centre circle"/>
          <p:cNvSpPr/>
          <p:nvPr/>
        </p:nvSpPr>
        <p:spPr>
          <a:xfrm>
            <a:off x="8366760" y="2651760"/>
            <a:ext cx="1554480" cy="1554480"/>
          </a:xfrm>
          <a:prstGeom prst="ellipse">
            <a:avLst/>
          </a:prstGeom>
          <a:solidFill>
            <a:schemeClr val="accent1"/>
          </a:solidFill>
          <a:ln/>
        </p:spPr>
      </p:sp>
      <p:pic>
        <p:nvPicPr>
          <p:cNvPr id="9" name="Student at the centre icon" descr="Student at the centre">    </p:cNvPr>
          <p:cNvPicPr>
            <a:picLocks noChangeAspect="1"/>
          </p:cNvPicPr>
          <p:nvPr/>
        </p:nvPicPr>
        <p:blipFill>
          <a:blip r:embed="rId1"/>
          <a:stretch>
            <a:fillRect/>
          </a:stretch>
        </p:blipFill>
        <p:spPr>
          <a:xfrm>
            <a:off x="8755380" y="3040380"/>
            <a:ext cx="777240" cy="777240"/>
          </a:xfrm>
          <a:prstGeom prst="rect">
            <a:avLst/>
          </a:prstGeom>
        </p:spPr>
      </p:pic>
      <p:sp>
        <p:nvSpPr>
          <p:cNvPr id="10" name="FaSchool circle"/>
          <p:cNvSpPr/>
          <p:nvPr/>
        </p:nvSpPr>
        <p:spPr>
          <a:xfrm>
            <a:off x="8686800" y="1005840"/>
            <a:ext cx="914400" cy="914400"/>
          </a:xfrm>
          <a:prstGeom prst="ellipse">
            <a:avLst/>
          </a:prstGeom>
          <a:solidFill>
            <a:schemeClr val="accent2"/>
          </a:solidFill>
          <a:ln/>
        </p:spPr>
      </p:sp>
      <p:pic>
        <p:nvPicPr>
          <p:cNvPr id="11" name="FaSchool icon" descr="FaSchool">    </p:cNvPr>
          <p:cNvPicPr>
            <a:picLocks noChangeAspect="1"/>
          </p:cNvPicPr>
          <p:nvPr/>
        </p:nvPicPr>
        <p:blipFill>
          <a:blip r:embed="rId2"/>
          <a:stretch>
            <a:fillRect/>
          </a:stretch>
        </p:blipFill>
        <p:spPr>
          <a:xfrm>
            <a:off x="8915400" y="1234440"/>
            <a:ext cx="457200" cy="457200"/>
          </a:xfrm>
          <a:prstGeom prst="rect">
            <a:avLst/>
          </a:prstGeom>
        </p:spPr>
      </p:pic>
      <p:sp>
        <p:nvSpPr>
          <p:cNvPr id="12" name="FaChalkboardUser circle"/>
          <p:cNvSpPr/>
          <p:nvPr/>
        </p:nvSpPr>
        <p:spPr>
          <a:xfrm>
            <a:off x="10389371" y="3954780"/>
            <a:ext cx="914400" cy="914400"/>
          </a:xfrm>
          <a:prstGeom prst="ellipse">
            <a:avLst/>
          </a:prstGeom>
          <a:solidFill>
            <a:schemeClr val="accent3"/>
          </a:solidFill>
          <a:ln/>
        </p:spPr>
      </p:sp>
      <p:pic>
        <p:nvPicPr>
          <p:cNvPr id="13" name="FaChalkboardUser icon" descr="FaChalkboardUser">    </p:cNvPr>
          <p:cNvPicPr>
            <a:picLocks noChangeAspect="1"/>
          </p:cNvPicPr>
          <p:nvPr/>
        </p:nvPicPr>
        <p:blipFill>
          <a:blip r:embed="rId3"/>
          <a:stretch>
            <a:fillRect/>
          </a:stretch>
        </p:blipFill>
        <p:spPr>
          <a:xfrm>
            <a:off x="10617971" y="4183380"/>
            <a:ext cx="457200" cy="457200"/>
          </a:xfrm>
          <a:prstGeom prst="rect">
            <a:avLst/>
          </a:prstGeom>
        </p:spPr>
      </p:pic>
      <p:sp>
        <p:nvSpPr>
          <p:cNvPr id="14" name="FaPeopleRoof circle"/>
          <p:cNvSpPr/>
          <p:nvPr/>
        </p:nvSpPr>
        <p:spPr>
          <a:xfrm>
            <a:off x="6984229" y="3954780"/>
            <a:ext cx="914400" cy="914400"/>
          </a:xfrm>
          <a:prstGeom prst="ellipse">
            <a:avLst/>
          </a:prstGeom>
          <a:solidFill>
            <a:schemeClr val="accent5"/>
          </a:solidFill>
          <a:ln/>
        </p:spPr>
      </p:sp>
      <p:pic>
        <p:nvPicPr>
          <p:cNvPr id="15" name="FaPeopleRoof icon" descr="FaPeopleRoof">    </p:cNvPr>
          <p:cNvPicPr>
            <a:picLocks noChangeAspect="1"/>
          </p:cNvPicPr>
          <p:nvPr/>
        </p:nvPicPr>
        <p:blipFill>
          <a:blip r:embed="rId4"/>
          <a:stretch>
            <a:fillRect/>
          </a:stretch>
        </p:blipFill>
        <p:spPr>
          <a:xfrm>
            <a:off x="7212829" y="418338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AI GURUKUL IN ONE MINUTE</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What is AI Gurukul?</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Three simple jobs — done on one platform.</a:t>
            </a:r>
            <a:endParaRPr lang="en-US" sz="1600" dirty="0"/>
          </a:p>
        </p:txBody>
      </p:sp>
      <p:sp>
        <p:nvSpPr>
          <p:cNvPr id="5" name="1. Runs the school"/>
          <p:cNvSpPr/>
          <p:nvPr/>
        </p:nvSpPr>
        <p:spPr>
          <a:xfrm>
            <a:off x="548640" y="1874520"/>
            <a:ext cx="3520440" cy="2514600"/>
          </a:xfrm>
          <a:prstGeom prst="roundRect">
            <a:avLst>
              <a:gd name="adj" fmla="val 436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1. Runs the school circle"/>
          <p:cNvSpPr/>
          <p:nvPr/>
        </p:nvSpPr>
        <p:spPr>
          <a:xfrm>
            <a:off x="868680" y="2148840"/>
            <a:ext cx="731520" cy="731520"/>
          </a:xfrm>
          <a:prstGeom prst="ellipse">
            <a:avLst/>
          </a:prstGeom>
          <a:solidFill>
            <a:schemeClr val="accent1"/>
          </a:solidFill>
          <a:ln/>
        </p:spPr>
      </p:sp>
      <p:pic>
        <p:nvPicPr>
          <p:cNvPr id="7" name="1. Runs the school icon" descr="1. Runs the school">    </p:cNvPr>
          <p:cNvPicPr>
            <a:picLocks noChangeAspect="1"/>
          </p:cNvPicPr>
          <p:nvPr/>
        </p:nvPicPr>
        <p:blipFill>
          <a:blip r:embed="rId1"/>
          <a:stretch>
            <a:fillRect/>
          </a:stretch>
        </p:blipFill>
        <p:spPr>
          <a:xfrm>
            <a:off x="1051560" y="2331720"/>
            <a:ext cx="365760" cy="365760"/>
          </a:xfrm>
          <a:prstGeom prst="rect">
            <a:avLst/>
          </a:prstGeom>
        </p:spPr>
      </p:pic>
      <p:sp>
        <p:nvSpPr>
          <p:cNvPr id="8" name="Text 5"/>
          <p:cNvSpPr txBox="1"/>
          <p:nvPr/>
        </p:nvSpPr>
        <p:spPr>
          <a:xfrm>
            <a:off x="868680" y="3017520"/>
            <a:ext cx="2926080" cy="365760"/>
          </a:xfrm>
          <a:prstGeom prst="rect">
            <a:avLst/>
          </a:prstGeom>
          <a:noFill/>
          <a:ln/>
        </p:spPr>
        <p:txBody>
          <a:bodyPr wrap="square" lIns="0" tIns="0" rIns="0" bIns="0" rtlCol="0" anchor="t"/>
          <a:lstStyle/>
          <a:p>
            <a:pPr indent="0" marL="0">
              <a:buNone/>
            </a:pPr>
            <a:r>
              <a:rPr lang="en-US" sz="1900" b="1" dirty="0">
                <a:solidFill>
                  <a:schemeClr val="tx2"/>
                </a:solidFill>
              </a:rPr>
              <a:t>1. Runs the school</a:t>
            </a:r>
            <a:endParaRPr lang="en-US" sz="1900" dirty="0"/>
          </a:p>
        </p:txBody>
      </p:sp>
      <p:sp>
        <p:nvSpPr>
          <p:cNvPr id="9" name="Text 6"/>
          <p:cNvSpPr txBox="1"/>
          <p:nvPr/>
        </p:nvSpPr>
        <p:spPr>
          <a:xfrm>
            <a:off x="868680" y="3429000"/>
            <a:ext cx="2926080" cy="868680"/>
          </a:xfrm>
          <a:prstGeom prst="rect">
            <a:avLst/>
          </a:prstGeom>
          <a:noFill/>
          <a:ln/>
        </p:spPr>
        <p:txBody>
          <a:bodyPr wrap="square" lIns="0" tIns="0" rIns="0" bIns="0" rtlCol="0" anchor="t"/>
          <a:lstStyle/>
          <a:p>
            <a:pPr indent="0" marL="0">
              <a:buNone/>
            </a:pPr>
            <a:r>
              <a:rPr lang="en-US" sz="1400" dirty="0">
                <a:solidFill>
                  <a:schemeClr val="tx1"/>
                </a:solidFill>
              </a:rPr>
              <a:t>Attendance, homework, notices, exams and report cards — all in one place instead of registers and Excel.</a:t>
            </a:r>
            <a:endParaRPr lang="en-US" sz="1400" dirty="0"/>
          </a:p>
        </p:txBody>
      </p:sp>
      <p:sp>
        <p:nvSpPr>
          <p:cNvPr id="10" name="2. Helps every child learn"/>
          <p:cNvSpPr/>
          <p:nvPr/>
        </p:nvSpPr>
        <p:spPr>
          <a:xfrm>
            <a:off x="4297680" y="1874520"/>
            <a:ext cx="3520440" cy="2514600"/>
          </a:xfrm>
          <a:prstGeom prst="roundRect">
            <a:avLst>
              <a:gd name="adj" fmla="val 436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2. Helps every child learn circle"/>
          <p:cNvSpPr/>
          <p:nvPr/>
        </p:nvSpPr>
        <p:spPr>
          <a:xfrm>
            <a:off x="4617720" y="2148840"/>
            <a:ext cx="731520" cy="731520"/>
          </a:xfrm>
          <a:prstGeom prst="ellipse">
            <a:avLst/>
          </a:prstGeom>
          <a:solidFill>
            <a:schemeClr val="accent2"/>
          </a:solidFill>
          <a:ln/>
        </p:spPr>
      </p:sp>
      <p:pic>
        <p:nvPicPr>
          <p:cNvPr id="12" name="2. Helps every child learn icon" descr="2. Helps every child learn">    </p:cNvPr>
          <p:cNvPicPr>
            <a:picLocks noChangeAspect="1"/>
          </p:cNvPicPr>
          <p:nvPr/>
        </p:nvPicPr>
        <p:blipFill>
          <a:blip r:embed="rId2"/>
          <a:stretch>
            <a:fillRect/>
          </a:stretch>
        </p:blipFill>
        <p:spPr>
          <a:xfrm>
            <a:off x="4800600" y="2331720"/>
            <a:ext cx="365760" cy="365760"/>
          </a:xfrm>
          <a:prstGeom prst="rect">
            <a:avLst/>
          </a:prstGeom>
        </p:spPr>
      </p:pic>
      <p:sp>
        <p:nvSpPr>
          <p:cNvPr id="13" name="Text 9"/>
          <p:cNvSpPr txBox="1"/>
          <p:nvPr/>
        </p:nvSpPr>
        <p:spPr>
          <a:xfrm>
            <a:off x="4617720" y="3017520"/>
            <a:ext cx="2926080" cy="365760"/>
          </a:xfrm>
          <a:prstGeom prst="rect">
            <a:avLst/>
          </a:prstGeom>
          <a:noFill/>
          <a:ln/>
        </p:spPr>
        <p:txBody>
          <a:bodyPr wrap="square" lIns="0" tIns="0" rIns="0" bIns="0" rtlCol="0" anchor="t"/>
          <a:lstStyle/>
          <a:p>
            <a:pPr indent="0" marL="0">
              <a:buNone/>
            </a:pPr>
            <a:r>
              <a:rPr lang="en-US" sz="1900" b="1" dirty="0">
                <a:solidFill>
                  <a:schemeClr val="tx2"/>
                </a:solidFill>
              </a:rPr>
              <a:t>2. Helps every child learn</a:t>
            </a:r>
            <a:endParaRPr lang="en-US" sz="1900" dirty="0"/>
          </a:p>
        </p:txBody>
      </p:sp>
      <p:sp>
        <p:nvSpPr>
          <p:cNvPr id="14" name="Text 10"/>
          <p:cNvSpPr txBox="1"/>
          <p:nvPr/>
        </p:nvSpPr>
        <p:spPr>
          <a:xfrm>
            <a:off x="4617720" y="3429000"/>
            <a:ext cx="2926080" cy="868680"/>
          </a:xfrm>
          <a:prstGeom prst="rect">
            <a:avLst/>
          </a:prstGeom>
          <a:noFill/>
          <a:ln/>
        </p:spPr>
        <p:txBody>
          <a:bodyPr wrap="square" lIns="0" tIns="0" rIns="0" bIns="0" rtlCol="0" anchor="t"/>
          <a:lstStyle/>
          <a:p>
            <a:pPr indent="0" marL="0">
              <a:buNone/>
            </a:pPr>
            <a:r>
              <a:rPr lang="en-US" sz="1400" dirty="0">
                <a:solidFill>
                  <a:schemeClr val="tx1"/>
                </a:solidFill>
              </a:rPr>
              <a:t>An AI study helper answers doubts from the textbook and suggests what to practise next.</a:t>
            </a:r>
            <a:endParaRPr lang="en-US" sz="1400" dirty="0"/>
          </a:p>
        </p:txBody>
      </p:sp>
      <p:sp>
        <p:nvSpPr>
          <p:cNvPr id="15" name="3. Gives leaders clear data"/>
          <p:cNvSpPr/>
          <p:nvPr/>
        </p:nvSpPr>
        <p:spPr>
          <a:xfrm>
            <a:off x="8046720" y="1874520"/>
            <a:ext cx="3520440" cy="2514600"/>
          </a:xfrm>
          <a:prstGeom prst="roundRect">
            <a:avLst>
              <a:gd name="adj" fmla="val 436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3. Gives leaders clear data circle"/>
          <p:cNvSpPr/>
          <p:nvPr/>
        </p:nvSpPr>
        <p:spPr>
          <a:xfrm>
            <a:off x="8366760" y="2148840"/>
            <a:ext cx="731520" cy="731520"/>
          </a:xfrm>
          <a:prstGeom prst="ellipse">
            <a:avLst/>
          </a:prstGeom>
          <a:solidFill>
            <a:schemeClr val="accent4"/>
          </a:solidFill>
          <a:ln/>
        </p:spPr>
      </p:sp>
      <p:pic>
        <p:nvPicPr>
          <p:cNvPr id="17" name="3. Gives leaders clear data icon" descr="3. Gives leaders clear data">    </p:cNvPr>
          <p:cNvPicPr>
            <a:picLocks noChangeAspect="1"/>
          </p:cNvPicPr>
          <p:nvPr/>
        </p:nvPicPr>
        <p:blipFill>
          <a:blip r:embed="rId3"/>
          <a:stretch>
            <a:fillRect/>
          </a:stretch>
        </p:blipFill>
        <p:spPr>
          <a:xfrm>
            <a:off x="8549640" y="2331720"/>
            <a:ext cx="365760" cy="365760"/>
          </a:xfrm>
          <a:prstGeom prst="rect">
            <a:avLst/>
          </a:prstGeom>
        </p:spPr>
      </p:pic>
      <p:sp>
        <p:nvSpPr>
          <p:cNvPr id="18" name="Text 13"/>
          <p:cNvSpPr txBox="1"/>
          <p:nvPr/>
        </p:nvSpPr>
        <p:spPr>
          <a:xfrm>
            <a:off x="8366760" y="3017520"/>
            <a:ext cx="2926080" cy="365760"/>
          </a:xfrm>
          <a:prstGeom prst="rect">
            <a:avLst/>
          </a:prstGeom>
          <a:noFill/>
          <a:ln/>
        </p:spPr>
        <p:txBody>
          <a:bodyPr wrap="square" lIns="0" tIns="0" rIns="0" bIns="0" rtlCol="0" anchor="t"/>
          <a:lstStyle/>
          <a:p>
            <a:pPr indent="0" marL="0">
              <a:buNone/>
            </a:pPr>
            <a:r>
              <a:rPr lang="en-US" sz="1900" b="1" dirty="0">
                <a:solidFill>
                  <a:schemeClr val="tx2"/>
                </a:solidFill>
              </a:rPr>
              <a:t>3. Gives leaders clear data</a:t>
            </a:r>
            <a:endParaRPr lang="en-US" sz="1900" dirty="0"/>
          </a:p>
        </p:txBody>
      </p:sp>
      <p:sp>
        <p:nvSpPr>
          <p:cNvPr id="19" name="Text 14"/>
          <p:cNvSpPr txBox="1"/>
          <p:nvPr/>
        </p:nvSpPr>
        <p:spPr>
          <a:xfrm>
            <a:off x="8366760" y="3429000"/>
            <a:ext cx="2926080" cy="868680"/>
          </a:xfrm>
          <a:prstGeom prst="rect">
            <a:avLst/>
          </a:prstGeom>
          <a:noFill/>
          <a:ln/>
        </p:spPr>
        <p:txBody>
          <a:bodyPr wrap="square" lIns="0" tIns="0" rIns="0" bIns="0" rtlCol="0" anchor="t"/>
          <a:lstStyle/>
          <a:p>
            <a:pPr indent="0" marL="0">
              <a:buNone/>
            </a:pPr>
            <a:r>
              <a:rPr lang="en-US" sz="1400" dirty="0">
                <a:solidFill>
                  <a:schemeClr val="tx1"/>
                </a:solidFill>
              </a:rPr>
              <a:t>Headmasters, block and district officers see progress live — no manual report-making.</a:t>
            </a:r>
            <a:endParaRPr lang="en-US" sz="1400" dirty="0"/>
          </a:p>
        </p:txBody>
      </p:sp>
      <p:sp>
        <p:nvSpPr>
          <p:cNvPr id="20" name="key numbers band"/>
          <p:cNvSpPr/>
          <p:nvPr/>
        </p:nvSpPr>
        <p:spPr>
          <a:xfrm>
            <a:off x="548640" y="4663440"/>
            <a:ext cx="11094415" cy="1234440"/>
          </a:xfrm>
          <a:prstGeom prst="roundRect">
            <a:avLst>
              <a:gd name="adj" fmla="val 8889"/>
            </a:avLst>
          </a:prstGeom>
          <a:solidFill>
            <a:schemeClr val="accent1">
              <a:alpha val="12000"/>
            </a:schemeClr>
          </a:solidFill>
          <a:ln/>
        </p:spPr>
      </p:sp>
      <p:sp>
        <p:nvSpPr>
          <p:cNvPr id="21" name="Text 16"/>
          <p:cNvSpPr txBox="1"/>
          <p:nvPr/>
        </p:nvSpPr>
        <p:spPr>
          <a:xfrm>
            <a:off x="822960" y="4800600"/>
            <a:ext cx="2560320" cy="548640"/>
          </a:xfrm>
          <a:prstGeom prst="rect">
            <a:avLst/>
          </a:prstGeom>
          <a:noFill/>
          <a:ln/>
        </p:spPr>
        <p:txBody>
          <a:bodyPr wrap="square" lIns="0" tIns="0" rIns="0" bIns="0" rtlCol="0" anchor="t"/>
          <a:lstStyle/>
          <a:p>
            <a:pPr indent="0" marL="0">
              <a:buNone/>
            </a:pPr>
            <a:r>
              <a:rPr lang="en-US" sz="2800" b="1" dirty="0">
                <a:solidFill>
                  <a:schemeClr val="accent1"/>
                </a:solidFill>
              </a:rPr>
              <a:t>8 weeks</a:t>
            </a:r>
            <a:endParaRPr lang="en-US" sz="2800" dirty="0"/>
          </a:p>
        </p:txBody>
      </p:sp>
      <p:sp>
        <p:nvSpPr>
          <p:cNvPr id="22" name="Text 17"/>
          <p:cNvSpPr txBox="1"/>
          <p:nvPr/>
        </p:nvSpPr>
        <p:spPr>
          <a:xfrm>
            <a:off x="822960" y="5349240"/>
            <a:ext cx="2560320" cy="365760"/>
          </a:xfrm>
          <a:prstGeom prst="rect">
            <a:avLst/>
          </a:prstGeom>
          <a:noFill/>
          <a:ln/>
        </p:spPr>
        <p:txBody>
          <a:bodyPr wrap="square" lIns="0" tIns="0" rIns="0" bIns="0" rtlCol="0" anchor="t"/>
          <a:lstStyle/>
          <a:p>
            <a:pPr indent="0" marL="0">
              <a:buNone/>
            </a:pPr>
            <a:r>
              <a:rPr lang="en-US" sz="1300" dirty="0">
                <a:solidFill>
                  <a:schemeClr val="tx1"/>
                </a:solidFill>
              </a:rPr>
              <a:t>to a working web panel</a:t>
            </a:r>
            <a:endParaRPr lang="en-US" sz="1300" dirty="0"/>
          </a:p>
        </p:txBody>
      </p:sp>
      <p:sp>
        <p:nvSpPr>
          <p:cNvPr id="23" name="Text 18"/>
          <p:cNvSpPr txBox="1"/>
          <p:nvPr/>
        </p:nvSpPr>
        <p:spPr>
          <a:xfrm>
            <a:off x="3593592" y="4800600"/>
            <a:ext cx="2560320" cy="548640"/>
          </a:xfrm>
          <a:prstGeom prst="rect">
            <a:avLst/>
          </a:prstGeom>
          <a:noFill/>
          <a:ln/>
        </p:spPr>
        <p:txBody>
          <a:bodyPr wrap="square" lIns="0" tIns="0" rIns="0" bIns="0" rtlCol="0" anchor="t"/>
          <a:lstStyle/>
          <a:p>
            <a:pPr indent="0" marL="0">
              <a:buNone/>
            </a:pPr>
            <a:r>
              <a:rPr lang="en-US" sz="2800" b="1" dirty="0">
                <a:solidFill>
                  <a:schemeClr val="accent1"/>
                </a:solidFill>
              </a:rPr>
              <a:t>₹23.70 lakh</a:t>
            </a:r>
            <a:endParaRPr lang="en-US" sz="2800" dirty="0"/>
          </a:p>
        </p:txBody>
      </p:sp>
      <p:sp>
        <p:nvSpPr>
          <p:cNvPr id="24" name="Text 19"/>
          <p:cNvSpPr txBox="1"/>
          <p:nvPr/>
        </p:nvSpPr>
        <p:spPr>
          <a:xfrm>
            <a:off x="3593592" y="5349240"/>
            <a:ext cx="2560320" cy="365760"/>
          </a:xfrm>
          <a:prstGeom prst="rect">
            <a:avLst/>
          </a:prstGeom>
          <a:noFill/>
          <a:ln/>
        </p:spPr>
        <p:txBody>
          <a:bodyPr wrap="square" lIns="0" tIns="0" rIns="0" bIns="0" rtlCol="0" anchor="t"/>
          <a:lstStyle/>
          <a:p>
            <a:pPr indent="0" marL="0">
              <a:buNone/>
            </a:pPr>
            <a:r>
              <a:rPr lang="en-US" sz="1300" dirty="0">
                <a:solidFill>
                  <a:schemeClr val="tx1"/>
                </a:solidFill>
              </a:rPr>
              <a:t>one-time build, incl. GST</a:t>
            </a:r>
            <a:endParaRPr lang="en-US" sz="1300" dirty="0"/>
          </a:p>
        </p:txBody>
      </p:sp>
      <p:sp>
        <p:nvSpPr>
          <p:cNvPr id="25" name="Text 20"/>
          <p:cNvSpPr txBox="1"/>
          <p:nvPr/>
        </p:nvSpPr>
        <p:spPr>
          <a:xfrm>
            <a:off x="6364224" y="4800600"/>
            <a:ext cx="2560320" cy="548640"/>
          </a:xfrm>
          <a:prstGeom prst="rect">
            <a:avLst/>
          </a:prstGeom>
          <a:noFill/>
          <a:ln/>
        </p:spPr>
        <p:txBody>
          <a:bodyPr wrap="square" lIns="0" tIns="0" rIns="0" bIns="0" rtlCol="0" anchor="t"/>
          <a:lstStyle/>
          <a:p>
            <a:pPr indent="0" marL="0">
              <a:buNone/>
            </a:pPr>
            <a:r>
              <a:rPr lang="en-US" sz="2800" b="1" dirty="0">
                <a:solidFill>
                  <a:schemeClr val="accent1"/>
                </a:solidFill>
              </a:rPr>
              <a:t>250</a:t>
            </a:r>
            <a:endParaRPr lang="en-US" sz="2800" dirty="0"/>
          </a:p>
        </p:txBody>
      </p:sp>
      <p:sp>
        <p:nvSpPr>
          <p:cNvPr id="26" name="Text 21"/>
          <p:cNvSpPr txBox="1"/>
          <p:nvPr/>
        </p:nvSpPr>
        <p:spPr>
          <a:xfrm>
            <a:off x="6364224" y="5349240"/>
            <a:ext cx="2560320" cy="365760"/>
          </a:xfrm>
          <a:prstGeom prst="rect">
            <a:avLst/>
          </a:prstGeom>
          <a:noFill/>
          <a:ln/>
        </p:spPr>
        <p:txBody>
          <a:bodyPr wrap="square" lIns="0" tIns="0" rIns="0" bIns="0" rtlCol="0" anchor="t"/>
          <a:lstStyle/>
          <a:p>
            <a:pPr indent="0" marL="0">
              <a:buNone/>
            </a:pPr>
            <a:r>
              <a:rPr lang="en-US" sz="1300" dirty="0">
                <a:solidFill>
                  <a:schemeClr val="tx1"/>
                </a:solidFill>
              </a:rPr>
              <a:t>students per school (planning)</a:t>
            </a:r>
            <a:endParaRPr lang="en-US" sz="1300" dirty="0"/>
          </a:p>
        </p:txBody>
      </p:sp>
      <p:sp>
        <p:nvSpPr>
          <p:cNvPr id="27" name="Text 22"/>
          <p:cNvSpPr txBox="1"/>
          <p:nvPr/>
        </p:nvSpPr>
        <p:spPr>
          <a:xfrm>
            <a:off x="9134856" y="4800600"/>
            <a:ext cx="2560320" cy="548640"/>
          </a:xfrm>
          <a:prstGeom prst="rect">
            <a:avLst/>
          </a:prstGeom>
          <a:noFill/>
          <a:ln/>
        </p:spPr>
        <p:txBody>
          <a:bodyPr wrap="square" lIns="0" tIns="0" rIns="0" bIns="0" rtlCol="0" anchor="t"/>
          <a:lstStyle/>
          <a:p>
            <a:pPr indent="0" marL="0">
              <a:buNone/>
            </a:pPr>
            <a:r>
              <a:rPr lang="en-US" sz="2800" b="1" dirty="0">
                <a:solidFill>
                  <a:schemeClr val="accent1"/>
                </a:solidFill>
              </a:rPr>
              <a:t>40,000</a:t>
            </a:r>
            <a:endParaRPr lang="en-US" sz="2800" dirty="0"/>
          </a:p>
        </p:txBody>
      </p:sp>
      <p:sp>
        <p:nvSpPr>
          <p:cNvPr id="28" name="Text 23"/>
          <p:cNvSpPr txBox="1"/>
          <p:nvPr/>
        </p:nvSpPr>
        <p:spPr>
          <a:xfrm>
            <a:off x="9134856" y="5349240"/>
            <a:ext cx="2560320" cy="365760"/>
          </a:xfrm>
          <a:prstGeom prst="rect">
            <a:avLst/>
          </a:prstGeom>
          <a:noFill/>
          <a:ln/>
        </p:spPr>
        <p:txBody>
          <a:bodyPr wrap="square" lIns="0" tIns="0" rIns="0" bIns="0" rtlCol="0" anchor="t"/>
          <a:lstStyle/>
          <a:p>
            <a:pPr indent="0" marL="0">
              <a:buNone/>
            </a:pPr>
            <a:r>
              <a:rPr lang="en-US" sz="1300" dirty="0">
                <a:solidFill>
                  <a:schemeClr val="tx1"/>
                </a:solidFill>
              </a:rPr>
              <a:t>schools — long-term target</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TODAY'S AGENDA</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What we will cover</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Four parts, about 30 minutes, followed by questions.</a:t>
            </a:r>
            <a:endParaRPr lang="en-US" sz="1600" dirty="0"/>
          </a:p>
        </p:txBody>
      </p:sp>
      <p:sp>
        <p:nvSpPr>
          <p:cNvPr id="5" name="Text 3"/>
          <p:cNvSpPr txBox="1"/>
          <p:nvPr/>
        </p:nvSpPr>
        <p:spPr>
          <a:xfrm>
            <a:off x="548640" y="1874520"/>
            <a:ext cx="822960" cy="822960"/>
          </a:xfrm>
          <a:prstGeom prst="rect">
            <a:avLst/>
          </a:prstGeom>
          <a:noFill/>
          <a:ln/>
        </p:spPr>
        <p:txBody>
          <a:bodyPr wrap="square" lIns="0" tIns="0" rIns="0" bIns="0" rtlCol="0" anchor="ctr"/>
          <a:lstStyle/>
          <a:p>
            <a:pPr indent="0" marL="0">
              <a:buNone/>
            </a:pPr>
            <a:r>
              <a:rPr lang="en-US" sz="3400" b="1" dirty="0">
                <a:solidFill>
                  <a:schemeClr val="accent1"/>
                </a:solidFill>
              </a:rPr>
              <a:t>01</a:t>
            </a:r>
            <a:endParaRPr lang="en-US" sz="3400" dirty="0"/>
          </a:p>
        </p:txBody>
      </p:sp>
      <p:sp>
        <p:nvSpPr>
          <p:cNvPr id="6" name="Chhattisgarh context circle"/>
          <p:cNvSpPr/>
          <p:nvPr/>
        </p:nvSpPr>
        <p:spPr>
          <a:xfrm>
            <a:off x="1463040" y="1947672"/>
            <a:ext cx="685800" cy="685800"/>
          </a:xfrm>
          <a:prstGeom prst="ellipse">
            <a:avLst/>
          </a:prstGeom>
          <a:solidFill>
            <a:schemeClr val="accent1"/>
          </a:solidFill>
          <a:ln/>
        </p:spPr>
      </p:sp>
      <p:pic>
        <p:nvPicPr>
          <p:cNvPr id="7" name="Chhattisgarh context icon" descr="Chhattisgarh context">    </p:cNvPr>
          <p:cNvPicPr>
            <a:picLocks noChangeAspect="1"/>
          </p:cNvPicPr>
          <p:nvPr/>
        </p:nvPicPr>
        <p:blipFill>
          <a:blip r:embed="rId1"/>
          <a:stretch>
            <a:fillRect/>
          </a:stretch>
        </p:blipFill>
        <p:spPr>
          <a:xfrm>
            <a:off x="1634490" y="2119122"/>
            <a:ext cx="342900" cy="342900"/>
          </a:xfrm>
          <a:prstGeom prst="rect">
            <a:avLst/>
          </a:prstGeom>
        </p:spPr>
      </p:pic>
      <p:sp>
        <p:nvSpPr>
          <p:cNvPr id="8" name="Text 5"/>
          <p:cNvSpPr txBox="1"/>
          <p:nvPr/>
        </p:nvSpPr>
        <p:spPr>
          <a:xfrm>
            <a:off x="2377440" y="1920240"/>
            <a:ext cx="8686800" cy="384048"/>
          </a:xfrm>
          <a:prstGeom prst="rect">
            <a:avLst/>
          </a:prstGeom>
          <a:noFill/>
          <a:ln/>
        </p:spPr>
        <p:txBody>
          <a:bodyPr wrap="square" lIns="0" tIns="0" rIns="0" bIns="0" rtlCol="0" anchor="t"/>
          <a:lstStyle/>
          <a:p>
            <a:pPr indent="0" marL="0">
              <a:buNone/>
            </a:pPr>
            <a:r>
              <a:rPr lang="en-US" sz="2000" b="1" dirty="0">
                <a:solidFill>
                  <a:schemeClr val="tx2"/>
                </a:solidFill>
              </a:rPr>
              <a:t>Chhattisgarh context</a:t>
            </a:r>
            <a:endParaRPr lang="en-US" sz="2000" dirty="0"/>
          </a:p>
        </p:txBody>
      </p:sp>
      <p:sp>
        <p:nvSpPr>
          <p:cNvPr id="9" name="Text 6"/>
          <p:cNvSpPr txBox="1"/>
          <p:nvPr/>
        </p:nvSpPr>
        <p:spPr>
          <a:xfrm>
            <a:off x="2377440" y="2304288"/>
            <a:ext cx="8686800" cy="365760"/>
          </a:xfrm>
          <a:prstGeom prst="rect">
            <a:avLst/>
          </a:prstGeom>
          <a:noFill/>
          <a:ln/>
        </p:spPr>
        <p:txBody>
          <a:bodyPr wrap="square" lIns="0" tIns="0" rIns="0" bIns="0" rtlCol="0" anchor="t"/>
          <a:lstStyle/>
          <a:p>
            <a:pPr indent="0" marL="0">
              <a:buNone/>
            </a:pPr>
            <a:r>
              <a:rPr lang="en-US" sz="1500" dirty="0">
                <a:solidFill>
                  <a:schemeClr val="accent6"/>
                </a:solidFill>
              </a:rPr>
              <a:t>Schools, students, languages and the real challenges on the ground</a:t>
            </a:r>
            <a:endParaRPr lang="en-US" sz="1500" dirty="0"/>
          </a:p>
        </p:txBody>
      </p:sp>
      <p:sp>
        <p:nvSpPr>
          <p:cNvPr id="10" name="Text 7"/>
          <p:cNvSpPr txBox="1"/>
          <p:nvPr/>
        </p:nvSpPr>
        <p:spPr>
          <a:xfrm>
            <a:off x="548640" y="2898648"/>
            <a:ext cx="822960" cy="822960"/>
          </a:xfrm>
          <a:prstGeom prst="rect">
            <a:avLst/>
          </a:prstGeom>
          <a:noFill/>
          <a:ln/>
        </p:spPr>
        <p:txBody>
          <a:bodyPr wrap="square" lIns="0" tIns="0" rIns="0" bIns="0" rtlCol="0" anchor="ctr"/>
          <a:lstStyle/>
          <a:p>
            <a:pPr indent="0" marL="0">
              <a:buNone/>
            </a:pPr>
            <a:r>
              <a:rPr lang="en-US" sz="3400" b="1" dirty="0">
                <a:solidFill>
                  <a:schemeClr val="accent2"/>
                </a:solidFill>
              </a:rPr>
              <a:t>02</a:t>
            </a:r>
            <a:endParaRPr lang="en-US" sz="3400" dirty="0"/>
          </a:p>
        </p:txBody>
      </p:sp>
      <p:sp>
        <p:nvSpPr>
          <p:cNvPr id="11" name="What AI Gurukul does circle"/>
          <p:cNvSpPr/>
          <p:nvPr/>
        </p:nvSpPr>
        <p:spPr>
          <a:xfrm>
            <a:off x="1463040" y="2971800"/>
            <a:ext cx="685800" cy="685800"/>
          </a:xfrm>
          <a:prstGeom prst="ellipse">
            <a:avLst/>
          </a:prstGeom>
          <a:solidFill>
            <a:schemeClr val="accent2"/>
          </a:solidFill>
          <a:ln/>
        </p:spPr>
      </p:sp>
      <p:pic>
        <p:nvPicPr>
          <p:cNvPr id="12" name="What AI Gurukul does icon" descr="What AI Gurukul does">    </p:cNvPr>
          <p:cNvPicPr>
            <a:picLocks noChangeAspect="1"/>
          </p:cNvPicPr>
          <p:nvPr/>
        </p:nvPicPr>
        <p:blipFill>
          <a:blip r:embed="rId2"/>
          <a:stretch>
            <a:fillRect/>
          </a:stretch>
        </p:blipFill>
        <p:spPr>
          <a:xfrm>
            <a:off x="1634490" y="3143250"/>
            <a:ext cx="342900" cy="342900"/>
          </a:xfrm>
          <a:prstGeom prst="rect">
            <a:avLst/>
          </a:prstGeom>
        </p:spPr>
      </p:pic>
      <p:sp>
        <p:nvSpPr>
          <p:cNvPr id="13" name="Text 9"/>
          <p:cNvSpPr txBox="1"/>
          <p:nvPr/>
        </p:nvSpPr>
        <p:spPr>
          <a:xfrm>
            <a:off x="2377440" y="2944368"/>
            <a:ext cx="8686800" cy="384048"/>
          </a:xfrm>
          <a:prstGeom prst="rect">
            <a:avLst/>
          </a:prstGeom>
          <a:noFill/>
          <a:ln/>
        </p:spPr>
        <p:txBody>
          <a:bodyPr wrap="square" lIns="0" tIns="0" rIns="0" bIns="0" rtlCol="0" anchor="t"/>
          <a:lstStyle/>
          <a:p>
            <a:pPr indent="0" marL="0">
              <a:buNone/>
            </a:pPr>
            <a:r>
              <a:rPr lang="en-US" sz="2000" b="1" dirty="0">
                <a:solidFill>
                  <a:schemeClr val="tx2"/>
                </a:solidFill>
              </a:rPr>
              <a:t>What AI Gurukul does</a:t>
            </a:r>
            <a:endParaRPr lang="en-US" sz="2000" dirty="0"/>
          </a:p>
        </p:txBody>
      </p:sp>
      <p:sp>
        <p:nvSpPr>
          <p:cNvPr id="14" name="Text 10"/>
          <p:cNvSpPr txBox="1"/>
          <p:nvPr/>
        </p:nvSpPr>
        <p:spPr>
          <a:xfrm>
            <a:off x="2377440" y="3328416"/>
            <a:ext cx="8686800" cy="365760"/>
          </a:xfrm>
          <a:prstGeom prst="rect">
            <a:avLst/>
          </a:prstGeom>
          <a:noFill/>
          <a:ln/>
        </p:spPr>
        <p:txBody>
          <a:bodyPr wrap="square" lIns="0" tIns="0" rIns="0" bIns="0" rtlCol="0" anchor="t"/>
          <a:lstStyle/>
          <a:p>
            <a:pPr indent="0" marL="0">
              <a:buNone/>
            </a:pPr>
            <a:r>
              <a:rPr lang="en-US" sz="1500" dirty="0">
                <a:solidFill>
                  <a:schemeClr val="accent6"/>
                </a:solidFill>
              </a:rPr>
              <a:t>The learning loop, all 14 FRD modules, teacher absence cover, AI and safety</a:t>
            </a:r>
            <a:endParaRPr lang="en-US" sz="1500" dirty="0"/>
          </a:p>
        </p:txBody>
      </p:sp>
      <p:sp>
        <p:nvSpPr>
          <p:cNvPr id="15" name="Text 11"/>
          <p:cNvSpPr txBox="1"/>
          <p:nvPr/>
        </p:nvSpPr>
        <p:spPr>
          <a:xfrm>
            <a:off x="548640" y="3922776"/>
            <a:ext cx="822960" cy="822960"/>
          </a:xfrm>
          <a:prstGeom prst="rect">
            <a:avLst/>
          </a:prstGeom>
          <a:noFill/>
          <a:ln/>
        </p:spPr>
        <p:txBody>
          <a:bodyPr wrap="square" lIns="0" tIns="0" rIns="0" bIns="0" rtlCol="0" anchor="ctr"/>
          <a:lstStyle/>
          <a:p>
            <a:pPr indent="0" marL="0">
              <a:buNone/>
            </a:pPr>
            <a:r>
              <a:rPr lang="en-US" sz="3400" b="1" dirty="0">
                <a:solidFill>
                  <a:schemeClr val="accent3"/>
                </a:solidFill>
              </a:rPr>
              <a:t>03</a:t>
            </a:r>
            <a:endParaRPr lang="en-US" sz="3400" dirty="0"/>
          </a:p>
        </p:txBody>
      </p:sp>
      <p:sp>
        <p:nvSpPr>
          <p:cNvPr id="16" name="How we deliver circle"/>
          <p:cNvSpPr/>
          <p:nvPr/>
        </p:nvSpPr>
        <p:spPr>
          <a:xfrm>
            <a:off x="1463040" y="3995928"/>
            <a:ext cx="685800" cy="685800"/>
          </a:xfrm>
          <a:prstGeom prst="ellipse">
            <a:avLst/>
          </a:prstGeom>
          <a:solidFill>
            <a:schemeClr val="accent3"/>
          </a:solidFill>
          <a:ln/>
        </p:spPr>
      </p:sp>
      <p:pic>
        <p:nvPicPr>
          <p:cNvPr id="17" name="How we deliver icon" descr="How we deliver">    </p:cNvPr>
          <p:cNvPicPr>
            <a:picLocks noChangeAspect="1"/>
          </p:cNvPicPr>
          <p:nvPr/>
        </p:nvPicPr>
        <p:blipFill>
          <a:blip r:embed="rId3"/>
          <a:stretch>
            <a:fillRect/>
          </a:stretch>
        </p:blipFill>
        <p:spPr>
          <a:xfrm>
            <a:off x="1634490" y="4167378"/>
            <a:ext cx="342900" cy="342900"/>
          </a:xfrm>
          <a:prstGeom prst="rect">
            <a:avLst/>
          </a:prstGeom>
        </p:spPr>
      </p:pic>
      <p:sp>
        <p:nvSpPr>
          <p:cNvPr id="18" name="Text 13"/>
          <p:cNvSpPr txBox="1"/>
          <p:nvPr/>
        </p:nvSpPr>
        <p:spPr>
          <a:xfrm>
            <a:off x="2377440" y="3968496"/>
            <a:ext cx="8686800" cy="384048"/>
          </a:xfrm>
          <a:prstGeom prst="rect">
            <a:avLst/>
          </a:prstGeom>
          <a:noFill/>
          <a:ln/>
        </p:spPr>
        <p:txBody>
          <a:bodyPr wrap="square" lIns="0" tIns="0" rIns="0" bIns="0" rtlCol="0" anchor="t"/>
          <a:lstStyle/>
          <a:p>
            <a:pPr indent="0" marL="0">
              <a:buNone/>
            </a:pPr>
            <a:r>
              <a:rPr lang="en-US" sz="2000" b="1" dirty="0">
                <a:solidFill>
                  <a:schemeClr val="tx2"/>
                </a:solidFill>
              </a:rPr>
              <a:t>How we deliver</a:t>
            </a:r>
            <a:endParaRPr lang="en-US" sz="2000" dirty="0"/>
          </a:p>
        </p:txBody>
      </p:sp>
      <p:sp>
        <p:nvSpPr>
          <p:cNvPr id="19" name="Text 14"/>
          <p:cNvSpPr txBox="1"/>
          <p:nvPr/>
        </p:nvSpPr>
        <p:spPr>
          <a:xfrm>
            <a:off x="2377440" y="4352544"/>
            <a:ext cx="8686800" cy="365760"/>
          </a:xfrm>
          <a:prstGeom prst="rect">
            <a:avLst/>
          </a:prstGeom>
          <a:noFill/>
          <a:ln/>
        </p:spPr>
        <p:txBody>
          <a:bodyPr wrap="square" lIns="0" tIns="0" rIns="0" bIns="0" rtlCol="0" anchor="t"/>
          <a:lstStyle/>
          <a:p>
            <a:pPr indent="0" marL="0">
              <a:buNone/>
            </a:pPr>
            <a:r>
              <a:rPr lang="en-US" sz="1500" dirty="0">
                <a:solidFill>
                  <a:schemeClr val="accent6"/>
                </a:solidFill>
              </a:rPr>
              <a:t>8-week plan, roadmap, a Chhattisgarh pilot and the path to scale</a:t>
            </a:r>
            <a:endParaRPr lang="en-US" sz="1500" dirty="0"/>
          </a:p>
        </p:txBody>
      </p:sp>
      <p:sp>
        <p:nvSpPr>
          <p:cNvPr id="20" name="Text 15"/>
          <p:cNvSpPr txBox="1"/>
          <p:nvPr/>
        </p:nvSpPr>
        <p:spPr>
          <a:xfrm>
            <a:off x="548640" y="4946904"/>
            <a:ext cx="822960" cy="822960"/>
          </a:xfrm>
          <a:prstGeom prst="rect">
            <a:avLst/>
          </a:prstGeom>
          <a:noFill/>
          <a:ln/>
        </p:spPr>
        <p:txBody>
          <a:bodyPr wrap="square" lIns="0" tIns="0" rIns="0" bIns="0" rtlCol="0" anchor="ctr"/>
          <a:lstStyle/>
          <a:p>
            <a:pPr indent="0" marL="0">
              <a:buNone/>
            </a:pPr>
            <a:r>
              <a:rPr lang="en-US" sz="3400" b="1" dirty="0">
                <a:solidFill>
                  <a:schemeClr val="accent4"/>
                </a:solidFill>
              </a:rPr>
              <a:t>04</a:t>
            </a:r>
            <a:endParaRPr lang="en-US" sz="3400" dirty="0"/>
          </a:p>
        </p:txBody>
      </p:sp>
      <p:sp>
        <p:nvSpPr>
          <p:cNvPr id="21" name="Investment and next steps circle"/>
          <p:cNvSpPr/>
          <p:nvPr/>
        </p:nvSpPr>
        <p:spPr>
          <a:xfrm>
            <a:off x="1463040" y="5020056"/>
            <a:ext cx="685800" cy="685800"/>
          </a:xfrm>
          <a:prstGeom prst="ellipse">
            <a:avLst/>
          </a:prstGeom>
          <a:solidFill>
            <a:schemeClr val="accent4"/>
          </a:solidFill>
          <a:ln/>
        </p:spPr>
      </p:sp>
      <p:pic>
        <p:nvPicPr>
          <p:cNvPr id="22" name="Investment and next steps icon" descr="Investment and next steps">    </p:cNvPr>
          <p:cNvPicPr>
            <a:picLocks noChangeAspect="1"/>
          </p:cNvPicPr>
          <p:nvPr/>
        </p:nvPicPr>
        <p:blipFill>
          <a:blip r:embed="rId4"/>
          <a:stretch>
            <a:fillRect/>
          </a:stretch>
        </p:blipFill>
        <p:spPr>
          <a:xfrm>
            <a:off x="1634490" y="5191506"/>
            <a:ext cx="342900" cy="342900"/>
          </a:xfrm>
          <a:prstGeom prst="rect">
            <a:avLst/>
          </a:prstGeom>
        </p:spPr>
      </p:pic>
      <p:sp>
        <p:nvSpPr>
          <p:cNvPr id="23" name="Text 17"/>
          <p:cNvSpPr txBox="1"/>
          <p:nvPr/>
        </p:nvSpPr>
        <p:spPr>
          <a:xfrm>
            <a:off x="2377440" y="4992624"/>
            <a:ext cx="8686800" cy="384048"/>
          </a:xfrm>
          <a:prstGeom prst="rect">
            <a:avLst/>
          </a:prstGeom>
          <a:noFill/>
          <a:ln/>
        </p:spPr>
        <p:txBody>
          <a:bodyPr wrap="square" lIns="0" tIns="0" rIns="0" bIns="0" rtlCol="0" anchor="t"/>
          <a:lstStyle/>
          <a:p>
            <a:pPr indent="0" marL="0">
              <a:buNone/>
            </a:pPr>
            <a:r>
              <a:rPr lang="en-US" sz="2000" b="1" dirty="0">
                <a:solidFill>
                  <a:schemeClr val="tx2"/>
                </a:solidFill>
              </a:rPr>
              <a:t>Investment and next steps</a:t>
            </a:r>
            <a:endParaRPr lang="en-US" sz="2000" dirty="0"/>
          </a:p>
        </p:txBody>
      </p:sp>
      <p:sp>
        <p:nvSpPr>
          <p:cNvPr id="24" name="Text 18"/>
          <p:cNvSpPr txBox="1"/>
          <p:nvPr/>
        </p:nvSpPr>
        <p:spPr>
          <a:xfrm>
            <a:off x="2377440" y="5376672"/>
            <a:ext cx="8686800" cy="365760"/>
          </a:xfrm>
          <a:prstGeom prst="rect">
            <a:avLst/>
          </a:prstGeom>
          <a:noFill/>
          <a:ln/>
        </p:spPr>
        <p:txBody>
          <a:bodyPr wrap="square" lIns="0" tIns="0" rIns="0" bIns="0" rtlCol="0" anchor="t"/>
          <a:lstStyle/>
          <a:p>
            <a:pPr indent="0" marL="0">
              <a:buNone/>
            </a:pPr>
            <a:r>
              <a:rPr lang="en-US" sz="1500" dirty="0">
                <a:solidFill>
                  <a:schemeClr val="accent6"/>
                </a:solidFill>
              </a:rPr>
              <a:t>One-time build cost, running costs and the decisions we need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CHHATTISGARH CONTEXT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Chhattisgarh school education at a glance</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 large system — which is exactly why simple, shared digital tools matter.</a:t>
            </a:r>
            <a:endParaRPr lang="en-US" sz="1600" dirty="0"/>
          </a:p>
        </p:txBody>
      </p:sp>
      <p:sp>
        <p:nvSpPr>
          <p:cNvPr id="5" name="schools across the state"/>
          <p:cNvSpPr/>
          <p:nvPr/>
        </p:nvSpPr>
        <p:spPr>
          <a:xfrm>
            <a:off x="548640" y="1874520"/>
            <a:ext cx="2606040" cy="2468880"/>
          </a:xfrm>
          <a:prstGeom prst="roundRect">
            <a:avLst>
              <a:gd name="adj" fmla="val 444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schools across the state circle"/>
          <p:cNvSpPr/>
          <p:nvPr/>
        </p:nvSpPr>
        <p:spPr>
          <a:xfrm>
            <a:off x="822960" y="2103120"/>
            <a:ext cx="640080" cy="640080"/>
          </a:xfrm>
          <a:prstGeom prst="ellipse">
            <a:avLst/>
          </a:prstGeom>
          <a:solidFill>
            <a:schemeClr val="accent1"/>
          </a:solidFill>
          <a:ln/>
        </p:spPr>
      </p:sp>
      <p:pic>
        <p:nvPicPr>
          <p:cNvPr id="7" name="schools across the state icon" descr="schools across the state">    </p:cNvPr>
          <p:cNvPicPr>
            <a:picLocks noChangeAspect="1"/>
          </p:cNvPicPr>
          <p:nvPr/>
        </p:nvPicPr>
        <p:blipFill>
          <a:blip r:embed="rId1"/>
          <a:stretch>
            <a:fillRect/>
          </a:stretch>
        </p:blipFill>
        <p:spPr>
          <a:xfrm>
            <a:off x="982980" y="2263140"/>
            <a:ext cx="320040" cy="320040"/>
          </a:xfrm>
          <a:prstGeom prst="rect">
            <a:avLst/>
          </a:prstGeom>
        </p:spPr>
      </p:pic>
      <p:sp>
        <p:nvSpPr>
          <p:cNvPr id="8" name="Text 5"/>
          <p:cNvSpPr txBox="1"/>
          <p:nvPr/>
        </p:nvSpPr>
        <p:spPr>
          <a:xfrm>
            <a:off x="822960" y="2880360"/>
            <a:ext cx="2194560" cy="731520"/>
          </a:xfrm>
          <a:prstGeom prst="rect">
            <a:avLst/>
          </a:prstGeom>
          <a:noFill/>
          <a:ln/>
        </p:spPr>
        <p:txBody>
          <a:bodyPr wrap="square" lIns="0" tIns="0" rIns="0" bIns="0" rtlCol="0" anchor="ctr"/>
          <a:lstStyle/>
          <a:p>
            <a:pPr indent="0" marL="0">
              <a:buNone/>
            </a:pPr>
            <a:r>
              <a:rPr lang="en-US" sz="3600" b="1" dirty="0">
                <a:solidFill>
                  <a:schemeClr val="tx2"/>
                </a:solidFill>
              </a:rPr>
              <a:t>56,802</a:t>
            </a:r>
            <a:endParaRPr lang="en-US" sz="3600" dirty="0"/>
          </a:p>
        </p:txBody>
      </p:sp>
      <p:sp>
        <p:nvSpPr>
          <p:cNvPr id="9" name="Text 6"/>
          <p:cNvSpPr txBox="1"/>
          <p:nvPr/>
        </p:nvSpPr>
        <p:spPr>
          <a:xfrm>
            <a:off x="822960" y="3611880"/>
            <a:ext cx="2194560" cy="548640"/>
          </a:xfrm>
          <a:prstGeom prst="rect">
            <a:avLst/>
          </a:prstGeom>
          <a:noFill/>
          <a:ln/>
        </p:spPr>
        <p:txBody>
          <a:bodyPr wrap="square" lIns="0" tIns="0" rIns="0" bIns="0" rtlCol="0" anchor="t"/>
          <a:lstStyle/>
          <a:p>
            <a:pPr indent="0" marL="0">
              <a:buNone/>
            </a:pPr>
            <a:r>
              <a:rPr lang="en-US" sz="1500" dirty="0">
                <a:solidFill>
                  <a:schemeClr val="accent6"/>
                </a:solidFill>
              </a:rPr>
              <a:t>schools across the state</a:t>
            </a:r>
            <a:endParaRPr lang="en-US" sz="1500" dirty="0"/>
          </a:p>
        </p:txBody>
      </p:sp>
      <p:sp>
        <p:nvSpPr>
          <p:cNvPr id="10" name="students enrolled"/>
          <p:cNvSpPr/>
          <p:nvPr/>
        </p:nvSpPr>
        <p:spPr>
          <a:xfrm>
            <a:off x="3364992" y="1874520"/>
            <a:ext cx="2606040" cy="2468880"/>
          </a:xfrm>
          <a:prstGeom prst="roundRect">
            <a:avLst>
              <a:gd name="adj" fmla="val 444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students enrolled circle"/>
          <p:cNvSpPr/>
          <p:nvPr/>
        </p:nvSpPr>
        <p:spPr>
          <a:xfrm>
            <a:off x="3639312" y="2103120"/>
            <a:ext cx="640080" cy="640080"/>
          </a:xfrm>
          <a:prstGeom prst="ellipse">
            <a:avLst/>
          </a:prstGeom>
          <a:solidFill>
            <a:schemeClr val="accent2"/>
          </a:solidFill>
          <a:ln/>
        </p:spPr>
      </p:sp>
      <p:pic>
        <p:nvPicPr>
          <p:cNvPr id="12" name="students enrolled icon" descr="students enrolled">    </p:cNvPr>
          <p:cNvPicPr>
            <a:picLocks noChangeAspect="1"/>
          </p:cNvPicPr>
          <p:nvPr/>
        </p:nvPicPr>
        <p:blipFill>
          <a:blip r:embed="rId2"/>
          <a:stretch>
            <a:fillRect/>
          </a:stretch>
        </p:blipFill>
        <p:spPr>
          <a:xfrm>
            <a:off x="3799332" y="2263140"/>
            <a:ext cx="320040" cy="320040"/>
          </a:xfrm>
          <a:prstGeom prst="rect">
            <a:avLst/>
          </a:prstGeom>
        </p:spPr>
      </p:pic>
      <p:sp>
        <p:nvSpPr>
          <p:cNvPr id="13" name="Text 9"/>
          <p:cNvSpPr txBox="1"/>
          <p:nvPr/>
        </p:nvSpPr>
        <p:spPr>
          <a:xfrm>
            <a:off x="3639312" y="2880360"/>
            <a:ext cx="2194560" cy="731520"/>
          </a:xfrm>
          <a:prstGeom prst="rect">
            <a:avLst/>
          </a:prstGeom>
          <a:noFill/>
          <a:ln/>
        </p:spPr>
        <p:txBody>
          <a:bodyPr wrap="square" lIns="0" tIns="0" rIns="0" bIns="0" rtlCol="0" anchor="ctr"/>
          <a:lstStyle/>
          <a:p>
            <a:pPr indent="0" marL="0">
              <a:buNone/>
            </a:pPr>
            <a:r>
              <a:rPr lang="en-US" sz="3600" b="1" dirty="0">
                <a:solidFill>
                  <a:schemeClr val="tx2"/>
                </a:solidFill>
              </a:rPr>
              <a:t>58 lakh+</a:t>
            </a:r>
            <a:endParaRPr lang="en-US" sz="3600" dirty="0"/>
          </a:p>
        </p:txBody>
      </p:sp>
      <p:sp>
        <p:nvSpPr>
          <p:cNvPr id="14" name="Text 10"/>
          <p:cNvSpPr txBox="1"/>
          <p:nvPr/>
        </p:nvSpPr>
        <p:spPr>
          <a:xfrm>
            <a:off x="3639312" y="3611880"/>
            <a:ext cx="2194560" cy="548640"/>
          </a:xfrm>
          <a:prstGeom prst="rect">
            <a:avLst/>
          </a:prstGeom>
          <a:noFill/>
          <a:ln/>
        </p:spPr>
        <p:txBody>
          <a:bodyPr wrap="square" lIns="0" tIns="0" rIns="0" bIns="0" rtlCol="0" anchor="t"/>
          <a:lstStyle/>
          <a:p>
            <a:pPr indent="0" marL="0">
              <a:buNone/>
            </a:pPr>
            <a:r>
              <a:rPr lang="en-US" sz="1500" dirty="0">
                <a:solidFill>
                  <a:schemeClr val="accent6"/>
                </a:solidFill>
              </a:rPr>
              <a:t>students enrolled</a:t>
            </a:r>
            <a:endParaRPr lang="en-US" sz="1500" dirty="0"/>
          </a:p>
        </p:txBody>
      </p:sp>
      <p:sp>
        <p:nvSpPr>
          <p:cNvPr id="15" name="teachers"/>
          <p:cNvSpPr/>
          <p:nvPr/>
        </p:nvSpPr>
        <p:spPr>
          <a:xfrm>
            <a:off x="6181344" y="1874520"/>
            <a:ext cx="2606040" cy="2468880"/>
          </a:xfrm>
          <a:prstGeom prst="roundRect">
            <a:avLst>
              <a:gd name="adj" fmla="val 444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teachers circle"/>
          <p:cNvSpPr/>
          <p:nvPr/>
        </p:nvSpPr>
        <p:spPr>
          <a:xfrm>
            <a:off x="6455664" y="2103120"/>
            <a:ext cx="640080" cy="640080"/>
          </a:xfrm>
          <a:prstGeom prst="ellipse">
            <a:avLst/>
          </a:prstGeom>
          <a:solidFill>
            <a:schemeClr val="accent3"/>
          </a:solidFill>
          <a:ln/>
        </p:spPr>
      </p:sp>
      <p:pic>
        <p:nvPicPr>
          <p:cNvPr id="17" name="teachers icon" descr="teachers">    </p:cNvPr>
          <p:cNvPicPr>
            <a:picLocks noChangeAspect="1"/>
          </p:cNvPicPr>
          <p:nvPr/>
        </p:nvPicPr>
        <p:blipFill>
          <a:blip r:embed="rId3"/>
          <a:stretch>
            <a:fillRect/>
          </a:stretch>
        </p:blipFill>
        <p:spPr>
          <a:xfrm>
            <a:off x="6615684" y="2263140"/>
            <a:ext cx="320040" cy="320040"/>
          </a:xfrm>
          <a:prstGeom prst="rect">
            <a:avLst/>
          </a:prstGeom>
        </p:spPr>
      </p:pic>
      <p:sp>
        <p:nvSpPr>
          <p:cNvPr id="18" name="Text 13"/>
          <p:cNvSpPr txBox="1"/>
          <p:nvPr/>
        </p:nvSpPr>
        <p:spPr>
          <a:xfrm>
            <a:off x="6455664" y="2880360"/>
            <a:ext cx="2194560" cy="731520"/>
          </a:xfrm>
          <a:prstGeom prst="rect">
            <a:avLst/>
          </a:prstGeom>
          <a:noFill/>
          <a:ln/>
        </p:spPr>
        <p:txBody>
          <a:bodyPr wrap="square" lIns="0" tIns="0" rIns="0" bIns="0" rtlCol="0" anchor="ctr"/>
          <a:lstStyle/>
          <a:p>
            <a:pPr indent="0" marL="0">
              <a:buNone/>
            </a:pPr>
            <a:r>
              <a:rPr lang="en-US" sz="3600" b="1" dirty="0">
                <a:solidFill>
                  <a:schemeClr val="tx2"/>
                </a:solidFill>
              </a:rPr>
              <a:t>2.85 lakh</a:t>
            </a:r>
            <a:endParaRPr lang="en-US" sz="3600" dirty="0"/>
          </a:p>
        </p:txBody>
      </p:sp>
      <p:sp>
        <p:nvSpPr>
          <p:cNvPr id="19" name="Text 14"/>
          <p:cNvSpPr txBox="1"/>
          <p:nvPr/>
        </p:nvSpPr>
        <p:spPr>
          <a:xfrm>
            <a:off x="6455664" y="3611880"/>
            <a:ext cx="2194560" cy="548640"/>
          </a:xfrm>
          <a:prstGeom prst="rect">
            <a:avLst/>
          </a:prstGeom>
          <a:noFill/>
          <a:ln/>
        </p:spPr>
        <p:txBody>
          <a:bodyPr wrap="square" lIns="0" tIns="0" rIns="0" bIns="0" rtlCol="0" anchor="t"/>
          <a:lstStyle/>
          <a:p>
            <a:pPr indent="0" marL="0">
              <a:buNone/>
            </a:pPr>
            <a:r>
              <a:rPr lang="en-US" sz="1500" dirty="0">
                <a:solidFill>
                  <a:schemeClr val="accent6"/>
                </a:solidFill>
              </a:rPr>
              <a:t>teachers</a:t>
            </a:r>
            <a:endParaRPr lang="en-US" sz="1500" dirty="0"/>
          </a:p>
        </p:txBody>
      </p:sp>
      <p:sp>
        <p:nvSpPr>
          <p:cNvPr id="20" name="students per teacher (average)"/>
          <p:cNvSpPr/>
          <p:nvPr/>
        </p:nvSpPr>
        <p:spPr>
          <a:xfrm>
            <a:off x="8997696" y="1874520"/>
            <a:ext cx="2606040" cy="2468880"/>
          </a:xfrm>
          <a:prstGeom prst="roundRect">
            <a:avLst>
              <a:gd name="adj" fmla="val 444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students per teacher (average) circle"/>
          <p:cNvSpPr/>
          <p:nvPr/>
        </p:nvSpPr>
        <p:spPr>
          <a:xfrm>
            <a:off x="9272016" y="2103120"/>
            <a:ext cx="640080" cy="640080"/>
          </a:xfrm>
          <a:prstGeom prst="ellipse">
            <a:avLst/>
          </a:prstGeom>
          <a:solidFill>
            <a:schemeClr val="accent4"/>
          </a:solidFill>
          <a:ln/>
        </p:spPr>
      </p:sp>
      <p:pic>
        <p:nvPicPr>
          <p:cNvPr id="22" name="students per teacher (average) icon" descr="students per teacher (average)">    </p:cNvPr>
          <p:cNvPicPr>
            <a:picLocks noChangeAspect="1"/>
          </p:cNvPicPr>
          <p:nvPr/>
        </p:nvPicPr>
        <p:blipFill>
          <a:blip r:embed="rId4"/>
          <a:stretch>
            <a:fillRect/>
          </a:stretch>
        </p:blipFill>
        <p:spPr>
          <a:xfrm>
            <a:off x="9432036" y="2263140"/>
            <a:ext cx="320040" cy="320040"/>
          </a:xfrm>
          <a:prstGeom prst="rect">
            <a:avLst/>
          </a:prstGeom>
        </p:spPr>
      </p:pic>
      <p:sp>
        <p:nvSpPr>
          <p:cNvPr id="23" name="Text 17"/>
          <p:cNvSpPr txBox="1"/>
          <p:nvPr/>
        </p:nvSpPr>
        <p:spPr>
          <a:xfrm>
            <a:off x="9272016" y="2880360"/>
            <a:ext cx="2194560" cy="731520"/>
          </a:xfrm>
          <a:prstGeom prst="rect">
            <a:avLst/>
          </a:prstGeom>
          <a:noFill/>
          <a:ln/>
        </p:spPr>
        <p:txBody>
          <a:bodyPr wrap="square" lIns="0" tIns="0" rIns="0" bIns="0" rtlCol="0" anchor="ctr"/>
          <a:lstStyle/>
          <a:p>
            <a:pPr indent="0" marL="0">
              <a:buNone/>
            </a:pPr>
            <a:r>
              <a:rPr lang="en-US" sz="3600" b="1" dirty="0">
                <a:solidFill>
                  <a:schemeClr val="tx2"/>
                </a:solidFill>
              </a:rPr>
              <a:t>20 : 1</a:t>
            </a:r>
            <a:endParaRPr lang="en-US" sz="3600" dirty="0"/>
          </a:p>
        </p:txBody>
      </p:sp>
      <p:sp>
        <p:nvSpPr>
          <p:cNvPr id="24" name="Text 18"/>
          <p:cNvSpPr txBox="1"/>
          <p:nvPr/>
        </p:nvSpPr>
        <p:spPr>
          <a:xfrm>
            <a:off x="9272016" y="3611880"/>
            <a:ext cx="2194560" cy="548640"/>
          </a:xfrm>
          <a:prstGeom prst="rect">
            <a:avLst/>
          </a:prstGeom>
          <a:noFill/>
          <a:ln/>
        </p:spPr>
        <p:txBody>
          <a:bodyPr wrap="square" lIns="0" tIns="0" rIns="0" bIns="0" rtlCol="0" anchor="t"/>
          <a:lstStyle/>
          <a:p>
            <a:pPr indent="0" marL="0">
              <a:buNone/>
            </a:pPr>
            <a:r>
              <a:rPr lang="en-US" sz="1500" dirty="0">
                <a:solidFill>
                  <a:schemeClr val="accent6"/>
                </a:solidFill>
              </a:rPr>
              <a:t>students per teacher (average)</a:t>
            </a:r>
            <a:endParaRPr lang="en-US" sz="1500" dirty="0"/>
          </a:p>
        </p:txBody>
      </p:sp>
      <p:sp>
        <p:nvSpPr>
          <p:cNvPr id="25" name="system band"/>
          <p:cNvSpPr/>
          <p:nvPr/>
        </p:nvSpPr>
        <p:spPr>
          <a:xfrm>
            <a:off x="548640" y="4617720"/>
            <a:ext cx="11094415" cy="1234440"/>
          </a:xfrm>
          <a:prstGeom prst="roundRect">
            <a:avLst>
              <a:gd name="adj" fmla="val 8889"/>
            </a:avLst>
          </a:prstGeom>
          <a:solidFill>
            <a:schemeClr val="accent4">
              <a:alpha val="12000"/>
            </a:schemeClr>
          </a:solidFill>
          <a:ln/>
        </p:spPr>
      </p:sp>
      <p:sp>
        <p:nvSpPr>
          <p:cNvPr id="26" name="Text 20"/>
          <p:cNvSpPr txBox="1"/>
          <p:nvPr/>
        </p:nvSpPr>
        <p:spPr>
          <a:xfrm>
            <a:off x="822960" y="4754880"/>
            <a:ext cx="2560320" cy="502920"/>
          </a:xfrm>
          <a:prstGeom prst="rect">
            <a:avLst/>
          </a:prstGeom>
          <a:noFill/>
          <a:ln/>
        </p:spPr>
        <p:txBody>
          <a:bodyPr wrap="square" lIns="0" tIns="0" rIns="0" bIns="0" rtlCol="0" anchor="t"/>
          <a:lstStyle/>
          <a:p>
            <a:pPr indent="0" marL="0">
              <a:buNone/>
            </a:pPr>
            <a:r>
              <a:rPr lang="en-US" sz="2200" b="1" dirty="0">
                <a:solidFill>
                  <a:schemeClr val="accent4"/>
                </a:solidFill>
              </a:rPr>
              <a:t>33</a:t>
            </a:r>
            <a:endParaRPr lang="en-US" sz="2200" dirty="0"/>
          </a:p>
        </p:txBody>
      </p:sp>
      <p:sp>
        <p:nvSpPr>
          <p:cNvPr id="27" name="Text 21"/>
          <p:cNvSpPr txBox="1"/>
          <p:nvPr/>
        </p:nvSpPr>
        <p:spPr>
          <a:xfrm>
            <a:off x="822960" y="5257800"/>
            <a:ext cx="2560320" cy="365760"/>
          </a:xfrm>
          <a:prstGeom prst="rect">
            <a:avLst/>
          </a:prstGeom>
          <a:noFill/>
          <a:ln/>
        </p:spPr>
        <p:txBody>
          <a:bodyPr wrap="square" lIns="0" tIns="0" rIns="0" bIns="0" rtlCol="0" anchor="t"/>
          <a:lstStyle/>
          <a:p>
            <a:pPr indent="0" marL="0">
              <a:buNone/>
            </a:pPr>
            <a:r>
              <a:rPr lang="en-US" sz="1300" dirty="0">
                <a:solidFill>
                  <a:schemeClr val="tx1"/>
                </a:solidFill>
              </a:rPr>
              <a:t>districts</a:t>
            </a:r>
            <a:endParaRPr lang="en-US" sz="1300" dirty="0"/>
          </a:p>
        </p:txBody>
      </p:sp>
      <p:sp>
        <p:nvSpPr>
          <p:cNvPr id="28" name="Text 22"/>
          <p:cNvSpPr txBox="1"/>
          <p:nvPr/>
        </p:nvSpPr>
        <p:spPr>
          <a:xfrm>
            <a:off x="3593592" y="4754880"/>
            <a:ext cx="2560320" cy="502920"/>
          </a:xfrm>
          <a:prstGeom prst="rect">
            <a:avLst/>
          </a:prstGeom>
          <a:noFill/>
          <a:ln/>
        </p:spPr>
        <p:txBody>
          <a:bodyPr wrap="square" lIns="0" tIns="0" rIns="0" bIns="0" rtlCol="0" anchor="t"/>
          <a:lstStyle/>
          <a:p>
            <a:pPr indent="0" marL="0">
              <a:buNone/>
            </a:pPr>
            <a:r>
              <a:rPr lang="en-US" sz="2200" b="1" dirty="0">
                <a:solidFill>
                  <a:schemeClr val="accent4"/>
                </a:solidFill>
              </a:rPr>
              <a:t>CGBSE</a:t>
            </a:r>
            <a:endParaRPr lang="en-US" sz="2200" dirty="0"/>
          </a:p>
        </p:txBody>
      </p:sp>
      <p:sp>
        <p:nvSpPr>
          <p:cNvPr id="29" name="Text 23"/>
          <p:cNvSpPr txBox="1"/>
          <p:nvPr/>
        </p:nvSpPr>
        <p:spPr>
          <a:xfrm>
            <a:off x="3593592" y="5257800"/>
            <a:ext cx="2560320" cy="365760"/>
          </a:xfrm>
          <a:prstGeom prst="rect">
            <a:avLst/>
          </a:prstGeom>
          <a:noFill/>
          <a:ln/>
        </p:spPr>
        <p:txBody>
          <a:bodyPr wrap="square" lIns="0" tIns="0" rIns="0" bIns="0" rtlCol="0" anchor="t"/>
          <a:lstStyle/>
          <a:p>
            <a:pPr indent="0" marL="0">
              <a:buNone/>
            </a:pPr>
            <a:r>
              <a:rPr lang="en-US" sz="1300" dirty="0">
                <a:solidFill>
                  <a:schemeClr val="tx1"/>
                </a:solidFill>
              </a:rPr>
              <a:t>state board, Raipur</a:t>
            </a:r>
            <a:endParaRPr lang="en-US" sz="1300" dirty="0"/>
          </a:p>
        </p:txBody>
      </p:sp>
      <p:sp>
        <p:nvSpPr>
          <p:cNvPr id="30" name="Text 24"/>
          <p:cNvSpPr txBox="1"/>
          <p:nvPr/>
        </p:nvSpPr>
        <p:spPr>
          <a:xfrm>
            <a:off x="6364224" y="4754880"/>
            <a:ext cx="2560320" cy="502920"/>
          </a:xfrm>
          <a:prstGeom prst="rect">
            <a:avLst/>
          </a:prstGeom>
          <a:noFill/>
          <a:ln/>
        </p:spPr>
        <p:txBody>
          <a:bodyPr wrap="square" lIns="0" tIns="0" rIns="0" bIns="0" rtlCol="0" anchor="t"/>
          <a:lstStyle/>
          <a:p>
            <a:pPr indent="0" marL="0">
              <a:buNone/>
            </a:pPr>
            <a:r>
              <a:rPr lang="en-US" sz="2200" b="1" dirty="0">
                <a:solidFill>
                  <a:schemeClr val="accent4"/>
                </a:solidFill>
              </a:rPr>
              <a:t>SCERT</a:t>
            </a:r>
            <a:endParaRPr lang="en-US" sz="2200" dirty="0"/>
          </a:p>
        </p:txBody>
      </p:sp>
      <p:sp>
        <p:nvSpPr>
          <p:cNvPr id="31" name="Text 25"/>
          <p:cNvSpPr txBox="1"/>
          <p:nvPr/>
        </p:nvSpPr>
        <p:spPr>
          <a:xfrm>
            <a:off x="6364224" y="5257800"/>
            <a:ext cx="2560320" cy="365760"/>
          </a:xfrm>
          <a:prstGeom prst="rect">
            <a:avLst/>
          </a:prstGeom>
          <a:noFill/>
          <a:ln/>
        </p:spPr>
        <p:txBody>
          <a:bodyPr wrap="square" lIns="0" tIns="0" rIns="0" bIns="0" rtlCol="0" anchor="t"/>
          <a:lstStyle/>
          <a:p>
            <a:pPr indent="0" marL="0">
              <a:buNone/>
            </a:pPr>
            <a:r>
              <a:rPr lang="en-US" sz="1300" dirty="0">
                <a:solidFill>
                  <a:schemeClr val="tx1"/>
                </a:solidFill>
              </a:rPr>
              <a:t>state curriculum &amp; textbooks</a:t>
            </a:r>
            <a:endParaRPr lang="en-US" sz="1300" dirty="0"/>
          </a:p>
        </p:txBody>
      </p:sp>
      <p:sp>
        <p:nvSpPr>
          <p:cNvPr id="32" name="Text 26"/>
          <p:cNvSpPr txBox="1"/>
          <p:nvPr/>
        </p:nvSpPr>
        <p:spPr>
          <a:xfrm>
            <a:off x="9134856" y="4754880"/>
            <a:ext cx="2560320" cy="502920"/>
          </a:xfrm>
          <a:prstGeom prst="rect">
            <a:avLst/>
          </a:prstGeom>
          <a:noFill/>
          <a:ln/>
        </p:spPr>
        <p:txBody>
          <a:bodyPr wrap="square" lIns="0" tIns="0" rIns="0" bIns="0" rtlCol="0" anchor="t"/>
          <a:lstStyle/>
          <a:p>
            <a:pPr indent="0" marL="0">
              <a:buNone/>
            </a:pPr>
            <a:r>
              <a:rPr lang="en-US" sz="2200" b="1" dirty="0">
                <a:solidFill>
                  <a:schemeClr val="accent4"/>
                </a:solidFill>
              </a:rPr>
              <a:t>Samagra Shiksha</a:t>
            </a:r>
            <a:endParaRPr lang="en-US" sz="2200" dirty="0"/>
          </a:p>
        </p:txBody>
      </p:sp>
      <p:sp>
        <p:nvSpPr>
          <p:cNvPr id="33" name="Text 27"/>
          <p:cNvSpPr txBox="1"/>
          <p:nvPr/>
        </p:nvSpPr>
        <p:spPr>
          <a:xfrm>
            <a:off x="9134856" y="5257800"/>
            <a:ext cx="2560320" cy="365760"/>
          </a:xfrm>
          <a:prstGeom prst="rect">
            <a:avLst/>
          </a:prstGeom>
          <a:noFill/>
          <a:ln/>
        </p:spPr>
        <p:txBody>
          <a:bodyPr wrap="square" lIns="0" tIns="0" rIns="0" bIns="0" rtlCol="0" anchor="t"/>
          <a:lstStyle/>
          <a:p>
            <a:pPr indent="0" marL="0">
              <a:buNone/>
            </a:pPr>
            <a:r>
              <a:rPr lang="en-US" sz="1300" dirty="0">
                <a:solidFill>
                  <a:schemeClr val="tx1"/>
                </a:solidFill>
              </a:rPr>
              <a:t>school improvement mission</a:t>
            </a:r>
            <a:endParaRPr lang="en-US" sz="1300" dirty="0"/>
          </a:p>
        </p:txBody>
      </p:sp>
      <p:sp>
        <p:nvSpPr>
          <p:cNvPr id="34" name="Text 28"/>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accent6"/>
                </a:solidFill>
              </a:rPr>
              <a:t>Source: UDISE+ 2024-25, Ministry of Education (schools, enrolment of 58,06,871, teachers, pupil-teacher ratio).</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CHHATTISGARH CONTEXT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The ground reality: six challenges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What teachers and school leaders in Chhattisgarh deal with every day.</a:t>
            </a:r>
            <a:endParaRPr lang="en-US" sz="1600" dirty="0"/>
          </a:p>
        </p:txBody>
      </p:sp>
      <p:sp>
        <p:nvSpPr>
          <p:cNvPr id="5" name="Single-teacher schools"/>
          <p:cNvSpPr/>
          <p:nvPr/>
        </p:nvSpPr>
        <p:spPr>
          <a:xfrm>
            <a:off x="548640" y="18288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Single-teacher schools circle"/>
          <p:cNvSpPr/>
          <p:nvPr/>
        </p:nvSpPr>
        <p:spPr>
          <a:xfrm>
            <a:off x="822960" y="2103120"/>
            <a:ext cx="594360" cy="594360"/>
          </a:xfrm>
          <a:prstGeom prst="ellipse">
            <a:avLst/>
          </a:prstGeom>
          <a:solidFill>
            <a:schemeClr val="accent1"/>
          </a:solidFill>
          <a:ln/>
        </p:spPr>
      </p:sp>
      <p:pic>
        <p:nvPicPr>
          <p:cNvPr id="7" name="Single-teacher schools icon" descr="Single-teacher schools">    </p:cNvPr>
          <p:cNvPicPr>
            <a:picLocks noChangeAspect="1"/>
          </p:cNvPicPr>
          <p:nvPr/>
        </p:nvPicPr>
        <p:blipFill>
          <a:blip r:embed="rId1"/>
          <a:stretch>
            <a:fillRect/>
          </a:stretch>
        </p:blipFill>
        <p:spPr>
          <a:xfrm>
            <a:off x="971550" y="2251710"/>
            <a:ext cx="297180" cy="297180"/>
          </a:xfrm>
          <a:prstGeom prst="rect">
            <a:avLst/>
          </a:prstGeom>
        </p:spPr>
      </p:pic>
      <p:sp>
        <p:nvSpPr>
          <p:cNvPr id="8" name="Text 5"/>
          <p:cNvSpPr txBox="1"/>
          <p:nvPr/>
        </p:nvSpPr>
        <p:spPr>
          <a:xfrm>
            <a:off x="1554480" y="2103120"/>
            <a:ext cx="2331720" cy="594360"/>
          </a:xfrm>
          <a:prstGeom prst="rect">
            <a:avLst/>
          </a:prstGeom>
          <a:noFill/>
          <a:ln/>
        </p:spPr>
        <p:txBody>
          <a:bodyPr wrap="square" lIns="0" tIns="0" rIns="0" bIns="0" rtlCol="0" anchor="ctr"/>
          <a:lstStyle/>
          <a:p>
            <a:pPr indent="0" marL="0">
              <a:buNone/>
            </a:pPr>
            <a:r>
              <a:rPr lang="en-US" sz="1700" b="1" dirty="0">
                <a:solidFill>
                  <a:schemeClr val="tx2"/>
                </a:solidFill>
              </a:rPr>
              <a:t>Single-teacher schools</a:t>
            </a:r>
            <a:endParaRPr lang="en-US" sz="1700" dirty="0"/>
          </a:p>
        </p:txBody>
      </p:sp>
      <p:sp>
        <p:nvSpPr>
          <p:cNvPr id="9" name="Text 6"/>
          <p:cNvSpPr txBox="1"/>
          <p:nvPr/>
        </p:nvSpPr>
        <p:spPr>
          <a:xfrm>
            <a:off x="822960" y="2807208"/>
            <a:ext cx="3017520" cy="777240"/>
          </a:xfrm>
          <a:prstGeom prst="rect">
            <a:avLst/>
          </a:prstGeom>
          <a:noFill/>
          <a:ln/>
        </p:spPr>
        <p:txBody>
          <a:bodyPr wrap="square" lIns="0" tIns="0" rIns="0" bIns="0" rtlCol="0" anchor="t"/>
          <a:lstStyle/>
          <a:p>
            <a:pPr indent="0" marL="0">
              <a:buNone/>
            </a:pPr>
            <a:r>
              <a:rPr lang="en-US" sz="1400" dirty="0">
                <a:solidFill>
                  <a:schemeClr val="tx1"/>
                </a:solidFill>
              </a:rPr>
              <a:t>5,973 schools run with only one teacher — serving 2.13 lakh children.</a:t>
            </a:r>
            <a:endParaRPr lang="en-US" sz="1400" dirty="0"/>
          </a:p>
        </p:txBody>
      </p:sp>
      <p:sp>
        <p:nvSpPr>
          <p:cNvPr id="10" name="Remote and tribal areas"/>
          <p:cNvSpPr/>
          <p:nvPr/>
        </p:nvSpPr>
        <p:spPr>
          <a:xfrm>
            <a:off x="4297680" y="18288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Remote and tribal areas circle"/>
          <p:cNvSpPr/>
          <p:nvPr/>
        </p:nvSpPr>
        <p:spPr>
          <a:xfrm>
            <a:off x="4572000" y="2103120"/>
            <a:ext cx="594360" cy="594360"/>
          </a:xfrm>
          <a:prstGeom prst="ellipse">
            <a:avLst/>
          </a:prstGeom>
          <a:solidFill>
            <a:schemeClr val="accent2"/>
          </a:solidFill>
          <a:ln/>
        </p:spPr>
      </p:sp>
      <p:pic>
        <p:nvPicPr>
          <p:cNvPr id="12" name="Remote and tribal areas icon" descr="Remote and tribal areas">    </p:cNvPr>
          <p:cNvPicPr>
            <a:picLocks noChangeAspect="1"/>
          </p:cNvPicPr>
          <p:nvPr/>
        </p:nvPicPr>
        <p:blipFill>
          <a:blip r:embed="rId2"/>
          <a:stretch>
            <a:fillRect/>
          </a:stretch>
        </p:blipFill>
        <p:spPr>
          <a:xfrm>
            <a:off x="4720590" y="2251710"/>
            <a:ext cx="297180" cy="297180"/>
          </a:xfrm>
          <a:prstGeom prst="rect">
            <a:avLst/>
          </a:prstGeom>
        </p:spPr>
      </p:pic>
      <p:sp>
        <p:nvSpPr>
          <p:cNvPr id="13" name="Text 9"/>
          <p:cNvSpPr txBox="1"/>
          <p:nvPr/>
        </p:nvSpPr>
        <p:spPr>
          <a:xfrm>
            <a:off x="5303520" y="2103120"/>
            <a:ext cx="2331720" cy="594360"/>
          </a:xfrm>
          <a:prstGeom prst="rect">
            <a:avLst/>
          </a:prstGeom>
          <a:noFill/>
          <a:ln/>
        </p:spPr>
        <p:txBody>
          <a:bodyPr wrap="square" lIns="0" tIns="0" rIns="0" bIns="0" rtlCol="0" anchor="ctr"/>
          <a:lstStyle/>
          <a:p>
            <a:pPr indent="0" marL="0">
              <a:buNone/>
            </a:pPr>
            <a:r>
              <a:rPr lang="en-US" sz="1700" b="1" dirty="0">
                <a:solidFill>
                  <a:schemeClr val="tx2"/>
                </a:solidFill>
              </a:rPr>
              <a:t>Remote and tribal areas</a:t>
            </a:r>
            <a:endParaRPr lang="en-US" sz="1700" dirty="0"/>
          </a:p>
        </p:txBody>
      </p:sp>
      <p:sp>
        <p:nvSpPr>
          <p:cNvPr id="14" name="Text 10"/>
          <p:cNvSpPr txBox="1"/>
          <p:nvPr/>
        </p:nvSpPr>
        <p:spPr>
          <a:xfrm>
            <a:off x="4572000" y="2807208"/>
            <a:ext cx="3017520" cy="777240"/>
          </a:xfrm>
          <a:prstGeom prst="rect">
            <a:avLst/>
          </a:prstGeom>
          <a:noFill/>
          <a:ln/>
        </p:spPr>
        <p:txBody>
          <a:bodyPr wrap="square" lIns="0" tIns="0" rIns="0" bIns="0" rtlCol="0" anchor="t"/>
          <a:lstStyle/>
          <a:p>
            <a:pPr indent="0" marL="0">
              <a:buNone/>
            </a:pPr>
            <a:r>
              <a:rPr lang="en-US" sz="1400" dirty="0">
                <a:solidFill>
                  <a:schemeClr val="tx1"/>
                </a:solidFill>
              </a:rPr>
              <a:t>Bastar and Surguja regions; about 30% of people belong to Scheduled Tribes.</a:t>
            </a:r>
            <a:endParaRPr lang="en-US" sz="1400" dirty="0"/>
          </a:p>
        </p:txBody>
      </p:sp>
      <p:sp>
        <p:nvSpPr>
          <p:cNvPr id="15" name="Weak internet"/>
          <p:cNvSpPr/>
          <p:nvPr/>
        </p:nvSpPr>
        <p:spPr>
          <a:xfrm>
            <a:off x="8046720" y="18288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Weak internet circle"/>
          <p:cNvSpPr/>
          <p:nvPr/>
        </p:nvSpPr>
        <p:spPr>
          <a:xfrm>
            <a:off x="8321040" y="2103120"/>
            <a:ext cx="594360" cy="594360"/>
          </a:xfrm>
          <a:prstGeom prst="ellipse">
            <a:avLst/>
          </a:prstGeom>
          <a:solidFill>
            <a:schemeClr val="accent3"/>
          </a:solidFill>
          <a:ln/>
        </p:spPr>
      </p:sp>
      <p:pic>
        <p:nvPicPr>
          <p:cNvPr id="17" name="Weak internet icon" descr="Weak internet">    </p:cNvPr>
          <p:cNvPicPr>
            <a:picLocks noChangeAspect="1"/>
          </p:cNvPicPr>
          <p:nvPr/>
        </p:nvPicPr>
        <p:blipFill>
          <a:blip r:embed="rId3"/>
          <a:stretch>
            <a:fillRect/>
          </a:stretch>
        </p:blipFill>
        <p:spPr>
          <a:xfrm>
            <a:off x="8469630" y="2251710"/>
            <a:ext cx="297180" cy="297180"/>
          </a:xfrm>
          <a:prstGeom prst="rect">
            <a:avLst/>
          </a:prstGeom>
        </p:spPr>
      </p:pic>
      <p:sp>
        <p:nvSpPr>
          <p:cNvPr id="18" name="Text 13"/>
          <p:cNvSpPr txBox="1"/>
          <p:nvPr/>
        </p:nvSpPr>
        <p:spPr>
          <a:xfrm>
            <a:off x="9052560" y="2103120"/>
            <a:ext cx="2331720" cy="594360"/>
          </a:xfrm>
          <a:prstGeom prst="rect">
            <a:avLst/>
          </a:prstGeom>
          <a:noFill/>
          <a:ln/>
        </p:spPr>
        <p:txBody>
          <a:bodyPr wrap="square" lIns="0" tIns="0" rIns="0" bIns="0" rtlCol="0" anchor="ctr"/>
          <a:lstStyle/>
          <a:p>
            <a:pPr indent="0" marL="0">
              <a:buNone/>
            </a:pPr>
            <a:r>
              <a:rPr lang="en-US" sz="1700" b="1" dirty="0">
                <a:solidFill>
                  <a:schemeClr val="tx2"/>
                </a:solidFill>
              </a:rPr>
              <a:t>Weak internet</a:t>
            </a:r>
            <a:endParaRPr lang="en-US" sz="1700" dirty="0"/>
          </a:p>
        </p:txBody>
      </p:sp>
      <p:sp>
        <p:nvSpPr>
          <p:cNvPr id="19" name="Text 14"/>
          <p:cNvSpPr txBox="1"/>
          <p:nvPr/>
        </p:nvSpPr>
        <p:spPr>
          <a:xfrm>
            <a:off x="8321040" y="2807208"/>
            <a:ext cx="3017520" cy="777240"/>
          </a:xfrm>
          <a:prstGeom prst="rect">
            <a:avLst/>
          </a:prstGeom>
          <a:noFill/>
          <a:ln/>
        </p:spPr>
        <p:txBody>
          <a:bodyPr wrap="square" lIns="0" tIns="0" rIns="0" bIns="0" rtlCol="0" anchor="t"/>
          <a:lstStyle/>
          <a:p>
            <a:pPr indent="0" marL="0">
              <a:buNone/>
            </a:pPr>
            <a:r>
              <a:rPr lang="en-US" sz="1400" dirty="0">
                <a:solidFill>
                  <a:schemeClr val="tx1"/>
                </a:solidFill>
              </a:rPr>
              <a:t>Patchy mobile data in many villages — tools must work on low bandwidth.</a:t>
            </a:r>
            <a:endParaRPr lang="en-US" sz="1400" dirty="0"/>
          </a:p>
        </p:txBody>
      </p:sp>
      <p:sp>
        <p:nvSpPr>
          <p:cNvPr id="20" name="Many home languages"/>
          <p:cNvSpPr/>
          <p:nvPr/>
        </p:nvSpPr>
        <p:spPr>
          <a:xfrm>
            <a:off x="548640" y="384048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Many home languages circle"/>
          <p:cNvSpPr/>
          <p:nvPr/>
        </p:nvSpPr>
        <p:spPr>
          <a:xfrm>
            <a:off x="822960" y="4114800"/>
            <a:ext cx="594360" cy="594360"/>
          </a:xfrm>
          <a:prstGeom prst="ellipse">
            <a:avLst/>
          </a:prstGeom>
          <a:solidFill>
            <a:schemeClr val="accent4"/>
          </a:solidFill>
          <a:ln/>
        </p:spPr>
      </p:sp>
      <p:pic>
        <p:nvPicPr>
          <p:cNvPr id="22" name="Many home languages icon" descr="Many home languages">    </p:cNvPr>
          <p:cNvPicPr>
            <a:picLocks noChangeAspect="1"/>
          </p:cNvPicPr>
          <p:nvPr/>
        </p:nvPicPr>
        <p:blipFill>
          <a:blip r:embed="rId4"/>
          <a:stretch>
            <a:fillRect/>
          </a:stretch>
        </p:blipFill>
        <p:spPr>
          <a:xfrm>
            <a:off x="971550" y="4263390"/>
            <a:ext cx="297180" cy="297180"/>
          </a:xfrm>
          <a:prstGeom prst="rect">
            <a:avLst/>
          </a:prstGeom>
        </p:spPr>
      </p:pic>
      <p:sp>
        <p:nvSpPr>
          <p:cNvPr id="23" name="Text 17"/>
          <p:cNvSpPr txBox="1"/>
          <p:nvPr/>
        </p:nvSpPr>
        <p:spPr>
          <a:xfrm>
            <a:off x="1554480" y="4114800"/>
            <a:ext cx="2331720" cy="594360"/>
          </a:xfrm>
          <a:prstGeom prst="rect">
            <a:avLst/>
          </a:prstGeom>
          <a:noFill/>
          <a:ln/>
        </p:spPr>
        <p:txBody>
          <a:bodyPr wrap="square" lIns="0" tIns="0" rIns="0" bIns="0" rtlCol="0" anchor="ctr"/>
          <a:lstStyle/>
          <a:p>
            <a:pPr indent="0" marL="0">
              <a:buNone/>
            </a:pPr>
            <a:r>
              <a:rPr lang="en-US" sz="1700" b="1" dirty="0">
                <a:solidFill>
                  <a:schemeClr val="tx2"/>
                </a:solidFill>
              </a:rPr>
              <a:t>Many home languages</a:t>
            </a:r>
            <a:endParaRPr lang="en-US" sz="1700" dirty="0"/>
          </a:p>
        </p:txBody>
      </p:sp>
      <p:sp>
        <p:nvSpPr>
          <p:cNvPr id="24" name="Text 18"/>
          <p:cNvSpPr txBox="1"/>
          <p:nvPr/>
        </p:nvSpPr>
        <p:spPr>
          <a:xfrm>
            <a:off x="822960" y="4818888"/>
            <a:ext cx="3017520" cy="777240"/>
          </a:xfrm>
          <a:prstGeom prst="rect">
            <a:avLst/>
          </a:prstGeom>
          <a:noFill/>
          <a:ln/>
        </p:spPr>
        <p:txBody>
          <a:bodyPr wrap="square" lIns="0" tIns="0" rIns="0" bIns="0" rtlCol="0" anchor="t"/>
          <a:lstStyle/>
          <a:p>
            <a:pPr indent="0" marL="0">
              <a:buNone/>
            </a:pPr>
            <a:r>
              <a:rPr lang="en-US" sz="1400" dirty="0">
                <a:solidFill>
                  <a:schemeClr val="tx1"/>
                </a:solidFill>
              </a:rPr>
              <a:t>Chhattisgarhi, Halbi, Gondi, Sadri, Kurukh, Sargujiha and more.</a:t>
            </a:r>
            <a:endParaRPr lang="en-US" sz="1400" dirty="0"/>
          </a:p>
        </p:txBody>
      </p:sp>
      <p:sp>
        <p:nvSpPr>
          <p:cNvPr id="25" name="Heavy paperwork"/>
          <p:cNvSpPr/>
          <p:nvPr/>
        </p:nvSpPr>
        <p:spPr>
          <a:xfrm>
            <a:off x="4297680" y="384048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6" name="Heavy paperwork circle"/>
          <p:cNvSpPr/>
          <p:nvPr/>
        </p:nvSpPr>
        <p:spPr>
          <a:xfrm>
            <a:off x="4572000" y="4114800"/>
            <a:ext cx="594360" cy="594360"/>
          </a:xfrm>
          <a:prstGeom prst="ellipse">
            <a:avLst/>
          </a:prstGeom>
          <a:solidFill>
            <a:schemeClr val="accent5"/>
          </a:solidFill>
          <a:ln/>
        </p:spPr>
      </p:sp>
      <p:pic>
        <p:nvPicPr>
          <p:cNvPr id="27" name="Heavy paperwork icon" descr="Heavy paperwork">    </p:cNvPr>
          <p:cNvPicPr>
            <a:picLocks noChangeAspect="1"/>
          </p:cNvPicPr>
          <p:nvPr/>
        </p:nvPicPr>
        <p:blipFill>
          <a:blip r:embed="rId5"/>
          <a:stretch>
            <a:fillRect/>
          </a:stretch>
        </p:blipFill>
        <p:spPr>
          <a:xfrm>
            <a:off x="4720590" y="4263390"/>
            <a:ext cx="297180" cy="297180"/>
          </a:xfrm>
          <a:prstGeom prst="rect">
            <a:avLst/>
          </a:prstGeom>
        </p:spPr>
      </p:pic>
      <p:sp>
        <p:nvSpPr>
          <p:cNvPr id="28" name="Text 21"/>
          <p:cNvSpPr txBox="1"/>
          <p:nvPr/>
        </p:nvSpPr>
        <p:spPr>
          <a:xfrm>
            <a:off x="5303520" y="4114800"/>
            <a:ext cx="2331720" cy="594360"/>
          </a:xfrm>
          <a:prstGeom prst="rect">
            <a:avLst/>
          </a:prstGeom>
          <a:noFill/>
          <a:ln/>
        </p:spPr>
        <p:txBody>
          <a:bodyPr wrap="square" lIns="0" tIns="0" rIns="0" bIns="0" rtlCol="0" anchor="ctr"/>
          <a:lstStyle/>
          <a:p>
            <a:pPr indent="0" marL="0">
              <a:buNone/>
            </a:pPr>
            <a:r>
              <a:rPr lang="en-US" sz="1700" b="1" dirty="0">
                <a:solidFill>
                  <a:schemeClr val="tx2"/>
                </a:solidFill>
              </a:rPr>
              <a:t>Heavy paperwork</a:t>
            </a:r>
            <a:endParaRPr lang="en-US" sz="1700" dirty="0"/>
          </a:p>
        </p:txBody>
      </p:sp>
      <p:sp>
        <p:nvSpPr>
          <p:cNvPr id="29" name="Text 22"/>
          <p:cNvSpPr txBox="1"/>
          <p:nvPr/>
        </p:nvSpPr>
        <p:spPr>
          <a:xfrm>
            <a:off x="4572000" y="4818888"/>
            <a:ext cx="3017520" cy="777240"/>
          </a:xfrm>
          <a:prstGeom prst="rect">
            <a:avLst/>
          </a:prstGeom>
          <a:noFill/>
          <a:ln/>
        </p:spPr>
        <p:txBody>
          <a:bodyPr wrap="square" lIns="0" tIns="0" rIns="0" bIns="0" rtlCol="0" anchor="t"/>
          <a:lstStyle/>
          <a:p>
            <a:pPr indent="0" marL="0">
              <a:buNone/>
            </a:pPr>
            <a:r>
              <a:rPr lang="en-US" sz="1400" dirty="0">
                <a:solidFill>
                  <a:schemeClr val="tx1"/>
                </a:solidFill>
              </a:rPr>
              <a:t>Attendance, PM POSHAN, UDISE+ and block reports take away teaching time.</a:t>
            </a:r>
            <a:endParaRPr lang="en-US" sz="1400" dirty="0"/>
          </a:p>
        </p:txBody>
      </p:sp>
      <p:sp>
        <p:nvSpPr>
          <p:cNvPr id="30" name="Board exam pressure"/>
          <p:cNvSpPr/>
          <p:nvPr/>
        </p:nvSpPr>
        <p:spPr>
          <a:xfrm>
            <a:off x="8046720" y="384048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1" name="Board exam pressure circle"/>
          <p:cNvSpPr/>
          <p:nvPr/>
        </p:nvSpPr>
        <p:spPr>
          <a:xfrm>
            <a:off x="8321040" y="4114800"/>
            <a:ext cx="594360" cy="594360"/>
          </a:xfrm>
          <a:prstGeom prst="ellipse">
            <a:avLst/>
          </a:prstGeom>
          <a:solidFill>
            <a:schemeClr val="accent6"/>
          </a:solidFill>
          <a:ln/>
        </p:spPr>
      </p:sp>
      <p:pic>
        <p:nvPicPr>
          <p:cNvPr id="32" name="Board exam pressure icon" descr="Board exam pressure">    </p:cNvPr>
          <p:cNvPicPr>
            <a:picLocks noChangeAspect="1"/>
          </p:cNvPicPr>
          <p:nvPr/>
        </p:nvPicPr>
        <p:blipFill>
          <a:blip r:embed="rId6"/>
          <a:stretch>
            <a:fillRect/>
          </a:stretch>
        </p:blipFill>
        <p:spPr>
          <a:xfrm>
            <a:off x="8469630" y="4263390"/>
            <a:ext cx="297180" cy="297180"/>
          </a:xfrm>
          <a:prstGeom prst="rect">
            <a:avLst/>
          </a:prstGeom>
        </p:spPr>
      </p:pic>
      <p:sp>
        <p:nvSpPr>
          <p:cNvPr id="33" name="Text 25"/>
          <p:cNvSpPr txBox="1"/>
          <p:nvPr/>
        </p:nvSpPr>
        <p:spPr>
          <a:xfrm>
            <a:off x="9052560" y="4114800"/>
            <a:ext cx="2331720" cy="594360"/>
          </a:xfrm>
          <a:prstGeom prst="rect">
            <a:avLst/>
          </a:prstGeom>
          <a:noFill/>
          <a:ln/>
        </p:spPr>
        <p:txBody>
          <a:bodyPr wrap="square" lIns="0" tIns="0" rIns="0" bIns="0" rtlCol="0" anchor="ctr"/>
          <a:lstStyle/>
          <a:p>
            <a:pPr indent="0" marL="0">
              <a:buNone/>
            </a:pPr>
            <a:r>
              <a:rPr lang="en-US" sz="1700" b="1" dirty="0">
                <a:solidFill>
                  <a:schemeClr val="tx2"/>
                </a:solidFill>
              </a:rPr>
              <a:t>Board exam pressure</a:t>
            </a:r>
            <a:endParaRPr lang="en-US" sz="1700" dirty="0"/>
          </a:p>
        </p:txBody>
      </p:sp>
      <p:sp>
        <p:nvSpPr>
          <p:cNvPr id="34" name="Text 26"/>
          <p:cNvSpPr txBox="1"/>
          <p:nvPr/>
        </p:nvSpPr>
        <p:spPr>
          <a:xfrm>
            <a:off x="8321040" y="4818888"/>
            <a:ext cx="3017520" cy="777240"/>
          </a:xfrm>
          <a:prstGeom prst="rect">
            <a:avLst/>
          </a:prstGeom>
          <a:noFill/>
          <a:ln/>
        </p:spPr>
        <p:txBody>
          <a:bodyPr wrap="square" lIns="0" tIns="0" rIns="0" bIns="0" rtlCol="0" anchor="t"/>
          <a:lstStyle/>
          <a:p>
            <a:pPr indent="0" marL="0">
              <a:buNone/>
            </a:pPr>
            <a:r>
              <a:rPr lang="en-US" sz="1400" dirty="0">
                <a:solidFill>
                  <a:schemeClr val="tx1"/>
                </a:solidFill>
              </a:rPr>
              <a:t>CGBSE Class 10 and 12 results need early, topic-wise support.</a:t>
            </a:r>
            <a:endParaRPr lang="en-US" sz="1400" dirty="0"/>
          </a:p>
        </p:txBody>
      </p:sp>
      <p:sp>
        <p:nvSpPr>
          <p:cNvPr id="35" name="Text 27"/>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accent6"/>
                </a:solidFill>
              </a:rPr>
              <a:t>Source: UDISE+ 2024-25 (Lok Sabha reply, March 2026); Census 2011 (ST population 30.6%).</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CHHATTISGARH CONTEXT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Many home languages in one classroom</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Not every Class 1 child thinks in Hindi — learning tools must respect that.</a:t>
            </a:r>
            <a:endParaRPr lang="en-US" sz="1600" dirty="0"/>
          </a:p>
        </p:txBody>
      </p:sp>
      <p:graphicFrame>
        <p:nvGraphicFramePr>
          <p:cNvPr id="5" name="Chart 0" descr=""/>
          <p:cNvGraphicFramePr/>
          <p:nvPr/>
        </p:nvGraphicFramePr>
        <p:xfrm>
          <a:off x="548640" y="1783080"/>
          <a:ext cx="6400800" cy="4160520"/>
        </p:xfrm>
        <a:graphic xmlns:a="http://schemas.openxmlformats.org/drawingml/2006/main">
          <a:graphicData uri="http://schemas.openxmlformats.org/drawingml/2006/chart">
            <c:chart xmlns:c="http://schemas.openxmlformats.org/drawingml/2006/chart" r:id="rId1"/>
          </a:graphicData>
        </a:graphic>
      </p:graphicFrame>
      <p:sp>
        <p:nvSpPr>
          <p:cNvPr id="6" name="language plan"/>
          <p:cNvSpPr/>
          <p:nvPr/>
        </p:nvSpPr>
        <p:spPr>
          <a:xfrm>
            <a:off x="7315200" y="1874520"/>
            <a:ext cx="4325112" cy="4023360"/>
          </a:xfrm>
          <a:prstGeom prst="roundRect">
            <a:avLst>
              <a:gd name="adj" fmla="val 272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635240" y="2103120"/>
            <a:ext cx="3749040" cy="365760"/>
          </a:xfrm>
          <a:prstGeom prst="rect">
            <a:avLst/>
          </a:prstGeom>
          <a:noFill/>
          <a:ln/>
        </p:spPr>
        <p:txBody>
          <a:bodyPr wrap="square" lIns="0" tIns="0" rIns="0" bIns="0" rtlCol="0" anchor="t"/>
          <a:lstStyle/>
          <a:p>
            <a:pPr indent="0" marL="0">
              <a:buNone/>
            </a:pPr>
            <a:r>
              <a:rPr lang="en-US" sz="1800" b="1" dirty="0">
                <a:solidFill>
                  <a:schemeClr val="tx2"/>
                </a:solidFill>
              </a:rPr>
              <a:t>What the state is doing</a:t>
            </a:r>
            <a:endParaRPr lang="en-US" sz="1800" dirty="0"/>
          </a:p>
        </p:txBody>
      </p:sp>
      <p:sp>
        <p:nvSpPr>
          <p:cNvPr id="8" name="Text 5"/>
          <p:cNvSpPr txBox="1"/>
          <p:nvPr/>
        </p:nvSpPr>
        <p:spPr>
          <a:xfrm>
            <a:off x="7635240" y="2514600"/>
            <a:ext cx="3749040" cy="1005840"/>
          </a:xfrm>
          <a:prstGeom prst="rect">
            <a:avLst/>
          </a:prstGeom>
          <a:noFill/>
          <a:ln/>
        </p:spPr>
        <p:txBody>
          <a:bodyPr wrap="square" lIns="0" tIns="0" rIns="0" bIns="0" rtlCol="0" anchor="t"/>
          <a:lstStyle/>
          <a:p>
            <a:pPr indent="0" marL="0">
              <a:buNone/>
            </a:pPr>
            <a:r>
              <a:rPr lang="en-US" sz="1400" dirty="0">
                <a:solidFill>
                  <a:schemeClr val="tx1"/>
                </a:solidFill>
              </a:rPr>
              <a:t>SCERT is introducing bilingual textbooks — Hindi on one page, local language on the facing page — for primary classes.</a:t>
            </a:r>
            <a:endParaRPr lang="en-US" sz="1400" dirty="0"/>
          </a:p>
        </p:txBody>
      </p:sp>
      <p:sp>
        <p:nvSpPr>
          <p:cNvPr id="9" name="Text 6"/>
          <p:cNvSpPr txBox="1"/>
          <p:nvPr/>
        </p:nvSpPr>
        <p:spPr>
          <a:xfrm>
            <a:off x="7635240" y="3611880"/>
            <a:ext cx="3749040" cy="365760"/>
          </a:xfrm>
          <a:prstGeom prst="rect">
            <a:avLst/>
          </a:prstGeom>
          <a:noFill/>
          <a:ln/>
        </p:spPr>
        <p:txBody>
          <a:bodyPr wrap="square" lIns="0" tIns="0" rIns="0" bIns="0" rtlCol="0" anchor="t"/>
          <a:lstStyle/>
          <a:p>
            <a:pPr indent="0" marL="0">
              <a:buNone/>
            </a:pPr>
            <a:r>
              <a:rPr lang="en-US" sz="1800" b="1" dirty="0">
                <a:solidFill>
                  <a:schemeClr val="accent1"/>
                </a:solidFill>
              </a:rPr>
              <a:t>What AI Gurukul will do</a:t>
            </a:r>
            <a:endParaRPr lang="en-US" sz="1800" dirty="0"/>
          </a:p>
        </p:txBody>
      </p:sp>
      <p:sp>
        <p:nvSpPr>
          <p:cNvPr id="10" name="Text 7"/>
          <p:cNvSpPr txBox="1"/>
          <p:nvPr/>
        </p:nvSpPr>
        <p:spPr>
          <a:xfrm>
            <a:off x="7635240" y="4023360"/>
            <a:ext cx="37490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Hindi and English at launch</a:t>
            </a:r>
            <a:endParaRPr lang="en-US" sz="1400" dirty="0"/>
          </a:p>
          <a:p>
            <a:pPr marL="342900" indent="-342900">
              <a:spcAft>
                <a:spcPts val="600"/>
              </a:spcAft>
              <a:buSzPct val="100000"/>
              <a:buChar char="•"/>
            </a:pPr>
            <a:r>
              <a:rPr lang="en-US" sz="1400" dirty="0">
                <a:solidFill>
                  <a:schemeClr val="tx1"/>
                </a:solidFill>
              </a:rPr>
              <a:t>Chhattisgarhi as the next language</a:t>
            </a:r>
            <a:endParaRPr lang="en-US" sz="1400" dirty="0"/>
          </a:p>
          <a:p>
            <a:pPr marL="342900" indent="-342900">
              <a:spcAft>
                <a:spcPts val="600"/>
              </a:spcAft>
              <a:buSzPct val="100000"/>
              <a:buChar char="•"/>
            </a:pPr>
            <a:r>
              <a:rPr lang="en-US" sz="1400" dirty="0">
                <a:solidFill>
                  <a:schemeClr val="tx1"/>
                </a:solidFill>
              </a:rPr>
              <a:t>Tribal languages using SCERT content, with teacher review</a:t>
            </a:r>
            <a:endParaRPr lang="en-US" sz="1400" dirty="0"/>
          </a:p>
        </p:txBody>
      </p:sp>
      <p:sp>
        <p:nvSpPr>
          <p:cNvPr id="11" name="Text 8"/>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accent6"/>
                </a:solidFill>
              </a:rPr>
              <a:t>Source: Chhattisgarh School Education Department survey of Class 1 students, as reported in 2024.</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CHHATTISGARH CONTEXT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How AI Gurukul supports state priorities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state priority is matched with a clear, practical feature.</a:t>
            </a:r>
            <a:endParaRPr lang="en-US" sz="1600" dirty="0"/>
          </a:p>
        </p:txBody>
      </p:sp>
      <p:sp>
        <p:nvSpPr>
          <p:cNvPr id="5" name="Text 3"/>
          <p:cNvSpPr txBox="1"/>
          <p:nvPr/>
        </p:nvSpPr>
        <p:spPr>
          <a:xfrm>
            <a:off x="1417320" y="1783080"/>
            <a:ext cx="4572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STATE PRIORITY</a:t>
            </a:r>
            <a:endParaRPr lang="en-US" sz="1200" dirty="0"/>
          </a:p>
        </p:txBody>
      </p:sp>
      <p:sp>
        <p:nvSpPr>
          <p:cNvPr id="6" name="Text 4"/>
          <p:cNvSpPr txBox="1"/>
          <p:nvPr/>
        </p:nvSpPr>
        <p:spPr>
          <a:xfrm>
            <a:off x="6629400" y="1783080"/>
            <a:ext cx="4572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HOW AI GURUKUL HELPS</a:t>
            </a:r>
            <a:endParaRPr lang="en-US" sz="1200" dirty="0"/>
          </a:p>
        </p:txBody>
      </p:sp>
      <p:sp>
        <p:nvSpPr>
          <p:cNvPr id="7" name="row 1"/>
          <p:cNvSpPr/>
          <p:nvPr/>
        </p:nvSpPr>
        <p:spPr>
          <a:xfrm>
            <a:off x="548640" y="2103120"/>
            <a:ext cx="11094415" cy="566928"/>
          </a:xfrm>
          <a:prstGeom prst="roundRect">
            <a:avLst>
              <a:gd name="adj" fmla="val 19355"/>
            </a:avLst>
          </a:prstGeom>
          <a:solidFill>
            <a:schemeClr val="accent1">
              <a:alpha val="8000"/>
            </a:schemeClr>
          </a:solidFill>
          <a:ln/>
        </p:spPr>
      </p:sp>
      <p:sp>
        <p:nvSpPr>
          <p:cNvPr id="8" name="NEP 2020 and NIPUN Bharat (foundational learning) circle"/>
          <p:cNvSpPr/>
          <p:nvPr/>
        </p:nvSpPr>
        <p:spPr>
          <a:xfrm>
            <a:off x="685800" y="2176272"/>
            <a:ext cx="420624" cy="420624"/>
          </a:xfrm>
          <a:prstGeom prst="ellipse">
            <a:avLst/>
          </a:prstGeom>
          <a:solidFill>
            <a:schemeClr val="accent1"/>
          </a:solidFill>
          <a:ln/>
        </p:spPr>
      </p:sp>
      <p:pic>
        <p:nvPicPr>
          <p:cNvPr id="9" name="NEP 2020 and NIPUN Bharat (foundational learning) icon" descr="NEP 2020 and NIPUN Bharat (foundational learning)">    </p:cNvPr>
          <p:cNvPicPr>
            <a:picLocks noChangeAspect="1"/>
          </p:cNvPicPr>
          <p:nvPr/>
        </p:nvPicPr>
        <p:blipFill>
          <a:blip r:embed="rId1"/>
          <a:stretch>
            <a:fillRect/>
          </a:stretch>
        </p:blipFill>
        <p:spPr>
          <a:xfrm>
            <a:off x="790956" y="2281428"/>
            <a:ext cx="210312" cy="210312"/>
          </a:xfrm>
          <a:prstGeom prst="rect">
            <a:avLst/>
          </a:prstGeom>
        </p:spPr>
      </p:pic>
      <p:sp>
        <p:nvSpPr>
          <p:cNvPr id="10" name="Text 7"/>
          <p:cNvSpPr txBox="1"/>
          <p:nvPr/>
        </p:nvSpPr>
        <p:spPr>
          <a:xfrm>
            <a:off x="1417320" y="2103120"/>
            <a:ext cx="5074920" cy="566928"/>
          </a:xfrm>
          <a:prstGeom prst="rect">
            <a:avLst/>
          </a:prstGeom>
          <a:noFill/>
          <a:ln/>
        </p:spPr>
        <p:txBody>
          <a:bodyPr wrap="square" lIns="0" tIns="0" rIns="0" bIns="0" rtlCol="0" anchor="ctr"/>
          <a:lstStyle/>
          <a:p>
            <a:pPr indent="0" marL="0">
              <a:buNone/>
            </a:pPr>
            <a:r>
              <a:rPr lang="en-US" sz="1500" b="1" dirty="0">
                <a:solidFill>
                  <a:schemeClr val="tx2"/>
                </a:solidFill>
              </a:rPr>
              <a:t>NEP 2020 and NIPUN Bharat (foundational learning)</a:t>
            </a:r>
            <a:endParaRPr lang="en-US" sz="1500" dirty="0"/>
          </a:p>
        </p:txBody>
      </p:sp>
      <p:pic>
        <p:nvPicPr>
          <p:cNvPr id="11" name="Image 1" descr="leads to">    </p:cNvPr>
          <p:cNvPicPr>
            <a:picLocks noChangeAspect="1"/>
          </p:cNvPicPr>
          <p:nvPr/>
        </p:nvPicPr>
        <p:blipFill>
          <a:blip r:embed="rId2"/>
          <a:stretch>
            <a:fillRect/>
          </a:stretch>
        </p:blipFill>
        <p:spPr>
          <a:xfrm>
            <a:off x="6172200" y="2286000"/>
            <a:ext cx="201168" cy="201168"/>
          </a:xfrm>
          <a:prstGeom prst="rect">
            <a:avLst/>
          </a:prstGeom>
        </p:spPr>
      </p:pic>
      <p:sp>
        <p:nvSpPr>
          <p:cNvPr id="12" name="Text 8"/>
          <p:cNvSpPr txBox="1"/>
          <p:nvPr/>
        </p:nvSpPr>
        <p:spPr>
          <a:xfrm>
            <a:off x="6629400" y="2103120"/>
            <a:ext cx="4937760" cy="566928"/>
          </a:xfrm>
          <a:prstGeom prst="rect">
            <a:avLst/>
          </a:prstGeom>
          <a:noFill/>
          <a:ln/>
        </p:spPr>
        <p:txBody>
          <a:bodyPr wrap="square" lIns="0" tIns="0" rIns="0" bIns="0" rtlCol="0" anchor="ctr"/>
          <a:lstStyle/>
          <a:p>
            <a:pPr indent="0" marL="0">
              <a:buNone/>
            </a:pPr>
            <a:r>
              <a:rPr lang="en-US" sz="1500" dirty="0">
                <a:solidFill>
                  <a:schemeClr val="tx1"/>
                </a:solidFill>
              </a:rPr>
              <a:t>Track reading and maths levels for Classes 1–3, child by child</a:t>
            </a:r>
            <a:endParaRPr lang="en-US" sz="1500" dirty="0"/>
          </a:p>
        </p:txBody>
      </p:sp>
      <p:sp>
        <p:nvSpPr>
          <p:cNvPr id="13" name="row 2"/>
          <p:cNvSpPr/>
          <p:nvPr/>
        </p:nvSpPr>
        <p:spPr>
          <a:xfrm>
            <a:off x="548640" y="2761488"/>
            <a:ext cx="11094415" cy="566928"/>
          </a:xfrm>
          <a:prstGeom prst="roundRect">
            <a:avLst>
              <a:gd name="adj" fmla="val 19355"/>
            </a:avLst>
          </a:prstGeom>
          <a:solidFill>
            <a:schemeClr val="accent6">
              <a:alpha val="7000"/>
            </a:schemeClr>
          </a:solidFill>
          <a:ln/>
        </p:spPr>
      </p:sp>
      <p:sp>
        <p:nvSpPr>
          <p:cNvPr id="14" name="Bilingual primary education circle"/>
          <p:cNvSpPr/>
          <p:nvPr/>
        </p:nvSpPr>
        <p:spPr>
          <a:xfrm>
            <a:off x="685800" y="2834640"/>
            <a:ext cx="420624" cy="420624"/>
          </a:xfrm>
          <a:prstGeom prst="ellipse">
            <a:avLst/>
          </a:prstGeom>
          <a:solidFill>
            <a:schemeClr val="accent2"/>
          </a:solidFill>
          <a:ln/>
        </p:spPr>
      </p:sp>
      <p:pic>
        <p:nvPicPr>
          <p:cNvPr id="15" name="Bilingual primary education icon" descr="Bilingual primary education">    </p:cNvPr>
          <p:cNvPicPr>
            <a:picLocks noChangeAspect="1"/>
          </p:cNvPicPr>
          <p:nvPr/>
        </p:nvPicPr>
        <p:blipFill>
          <a:blip r:embed="rId3"/>
          <a:stretch>
            <a:fillRect/>
          </a:stretch>
        </p:blipFill>
        <p:spPr>
          <a:xfrm>
            <a:off x="790956" y="2939796"/>
            <a:ext cx="210312" cy="210312"/>
          </a:xfrm>
          <a:prstGeom prst="rect">
            <a:avLst/>
          </a:prstGeom>
        </p:spPr>
      </p:pic>
      <p:sp>
        <p:nvSpPr>
          <p:cNvPr id="16" name="Text 11"/>
          <p:cNvSpPr txBox="1"/>
          <p:nvPr/>
        </p:nvSpPr>
        <p:spPr>
          <a:xfrm>
            <a:off x="1417320" y="2761488"/>
            <a:ext cx="5074920" cy="566928"/>
          </a:xfrm>
          <a:prstGeom prst="rect">
            <a:avLst/>
          </a:prstGeom>
          <a:noFill/>
          <a:ln/>
        </p:spPr>
        <p:txBody>
          <a:bodyPr wrap="square" lIns="0" tIns="0" rIns="0" bIns="0" rtlCol="0" anchor="ctr"/>
          <a:lstStyle/>
          <a:p>
            <a:pPr indent="0" marL="0">
              <a:buNone/>
            </a:pPr>
            <a:r>
              <a:rPr lang="en-US" sz="1500" b="1" dirty="0">
                <a:solidFill>
                  <a:schemeClr val="tx2"/>
                </a:solidFill>
              </a:rPr>
              <a:t>Bilingual primary education</a:t>
            </a:r>
            <a:endParaRPr lang="en-US" sz="1500" dirty="0"/>
          </a:p>
        </p:txBody>
      </p:sp>
      <p:pic>
        <p:nvPicPr>
          <p:cNvPr id="17" name="Image 3" descr="leads to">    </p:cNvPr>
          <p:cNvPicPr>
            <a:picLocks noChangeAspect="1"/>
          </p:cNvPicPr>
          <p:nvPr/>
        </p:nvPicPr>
        <p:blipFill>
          <a:blip r:embed="rId4"/>
          <a:stretch>
            <a:fillRect/>
          </a:stretch>
        </p:blipFill>
        <p:spPr>
          <a:xfrm>
            <a:off x="6172200" y="2944368"/>
            <a:ext cx="201168" cy="201168"/>
          </a:xfrm>
          <a:prstGeom prst="rect">
            <a:avLst/>
          </a:prstGeom>
        </p:spPr>
      </p:pic>
      <p:sp>
        <p:nvSpPr>
          <p:cNvPr id="18" name="Text 12"/>
          <p:cNvSpPr txBox="1"/>
          <p:nvPr/>
        </p:nvSpPr>
        <p:spPr>
          <a:xfrm>
            <a:off x="6629400" y="2761488"/>
            <a:ext cx="4937760" cy="566928"/>
          </a:xfrm>
          <a:prstGeom prst="rect">
            <a:avLst/>
          </a:prstGeom>
          <a:noFill/>
          <a:ln/>
        </p:spPr>
        <p:txBody>
          <a:bodyPr wrap="square" lIns="0" tIns="0" rIns="0" bIns="0" rtlCol="0" anchor="ctr"/>
          <a:lstStyle/>
          <a:p>
            <a:pPr indent="0" marL="0">
              <a:buNone/>
            </a:pPr>
            <a:r>
              <a:rPr lang="en-US" sz="1500" dirty="0">
                <a:solidFill>
                  <a:schemeClr val="tx1"/>
                </a:solidFill>
              </a:rPr>
              <a:t>Hindi and English first; local-language content in later phases</a:t>
            </a:r>
            <a:endParaRPr lang="en-US" sz="1500" dirty="0"/>
          </a:p>
        </p:txBody>
      </p:sp>
      <p:sp>
        <p:nvSpPr>
          <p:cNvPr id="19" name="row 3"/>
          <p:cNvSpPr/>
          <p:nvPr/>
        </p:nvSpPr>
        <p:spPr>
          <a:xfrm>
            <a:off x="548640" y="3419856"/>
            <a:ext cx="11094415" cy="566928"/>
          </a:xfrm>
          <a:prstGeom prst="roundRect">
            <a:avLst>
              <a:gd name="adj" fmla="val 19355"/>
            </a:avLst>
          </a:prstGeom>
          <a:solidFill>
            <a:schemeClr val="accent1">
              <a:alpha val="8000"/>
            </a:schemeClr>
          </a:solidFill>
          <a:ln/>
        </p:spPr>
      </p:sp>
      <p:sp>
        <p:nvSpPr>
          <p:cNvPr id="20" name="Better CGBSE board results circle"/>
          <p:cNvSpPr/>
          <p:nvPr/>
        </p:nvSpPr>
        <p:spPr>
          <a:xfrm>
            <a:off x="685800" y="3493008"/>
            <a:ext cx="420624" cy="420624"/>
          </a:xfrm>
          <a:prstGeom prst="ellipse">
            <a:avLst/>
          </a:prstGeom>
          <a:solidFill>
            <a:schemeClr val="accent3"/>
          </a:solidFill>
          <a:ln/>
        </p:spPr>
      </p:sp>
      <p:pic>
        <p:nvPicPr>
          <p:cNvPr id="21" name="Better CGBSE board results icon" descr="Better CGBSE board results">    </p:cNvPr>
          <p:cNvPicPr>
            <a:picLocks noChangeAspect="1"/>
          </p:cNvPicPr>
          <p:nvPr/>
        </p:nvPicPr>
        <p:blipFill>
          <a:blip r:embed="rId5"/>
          <a:stretch>
            <a:fillRect/>
          </a:stretch>
        </p:blipFill>
        <p:spPr>
          <a:xfrm>
            <a:off x="790956" y="3598164"/>
            <a:ext cx="210312" cy="210312"/>
          </a:xfrm>
          <a:prstGeom prst="rect">
            <a:avLst/>
          </a:prstGeom>
        </p:spPr>
      </p:pic>
      <p:sp>
        <p:nvSpPr>
          <p:cNvPr id="22" name="Text 15"/>
          <p:cNvSpPr txBox="1"/>
          <p:nvPr/>
        </p:nvSpPr>
        <p:spPr>
          <a:xfrm>
            <a:off x="1417320" y="3419856"/>
            <a:ext cx="5074920" cy="566928"/>
          </a:xfrm>
          <a:prstGeom prst="rect">
            <a:avLst/>
          </a:prstGeom>
          <a:noFill/>
          <a:ln/>
        </p:spPr>
        <p:txBody>
          <a:bodyPr wrap="square" lIns="0" tIns="0" rIns="0" bIns="0" rtlCol="0" anchor="ctr"/>
          <a:lstStyle/>
          <a:p>
            <a:pPr indent="0" marL="0">
              <a:buNone/>
            </a:pPr>
            <a:r>
              <a:rPr lang="en-US" sz="1500" b="1" dirty="0">
                <a:solidFill>
                  <a:schemeClr val="tx2"/>
                </a:solidFill>
              </a:rPr>
              <a:t>Better CGBSE board results</a:t>
            </a:r>
            <a:endParaRPr lang="en-US" sz="1500" dirty="0"/>
          </a:p>
        </p:txBody>
      </p:sp>
      <p:pic>
        <p:nvPicPr>
          <p:cNvPr id="23" name="Image 5" descr="leads to">    </p:cNvPr>
          <p:cNvPicPr>
            <a:picLocks noChangeAspect="1"/>
          </p:cNvPicPr>
          <p:nvPr/>
        </p:nvPicPr>
        <p:blipFill>
          <a:blip r:embed="rId6"/>
          <a:stretch>
            <a:fillRect/>
          </a:stretch>
        </p:blipFill>
        <p:spPr>
          <a:xfrm>
            <a:off x="6172200" y="3602736"/>
            <a:ext cx="201168" cy="201168"/>
          </a:xfrm>
          <a:prstGeom prst="rect">
            <a:avLst/>
          </a:prstGeom>
        </p:spPr>
      </p:pic>
      <p:sp>
        <p:nvSpPr>
          <p:cNvPr id="24" name="Text 16"/>
          <p:cNvSpPr txBox="1"/>
          <p:nvPr/>
        </p:nvSpPr>
        <p:spPr>
          <a:xfrm>
            <a:off x="6629400" y="3419856"/>
            <a:ext cx="4937760" cy="566928"/>
          </a:xfrm>
          <a:prstGeom prst="rect">
            <a:avLst/>
          </a:prstGeom>
          <a:noFill/>
          <a:ln/>
        </p:spPr>
        <p:txBody>
          <a:bodyPr wrap="square" lIns="0" tIns="0" rIns="0" bIns="0" rtlCol="0" anchor="ctr"/>
          <a:lstStyle/>
          <a:p>
            <a:pPr indent="0" marL="0">
              <a:buNone/>
            </a:pPr>
            <a:r>
              <a:rPr lang="en-US" sz="1500" dirty="0">
                <a:solidFill>
                  <a:schemeClr val="tx1"/>
                </a:solidFill>
              </a:rPr>
              <a:t>Topic-wise gap reports and revision plans well before exams</a:t>
            </a:r>
            <a:endParaRPr lang="en-US" sz="1500" dirty="0"/>
          </a:p>
        </p:txBody>
      </p:sp>
      <p:sp>
        <p:nvSpPr>
          <p:cNvPr id="25" name="row 4"/>
          <p:cNvSpPr/>
          <p:nvPr/>
        </p:nvSpPr>
        <p:spPr>
          <a:xfrm>
            <a:off x="548640" y="4078224"/>
            <a:ext cx="11094415" cy="566928"/>
          </a:xfrm>
          <a:prstGeom prst="roundRect">
            <a:avLst>
              <a:gd name="adj" fmla="val 19355"/>
            </a:avLst>
          </a:prstGeom>
          <a:solidFill>
            <a:schemeClr val="accent6">
              <a:alpha val="7000"/>
            </a:schemeClr>
          </a:solidFill>
          <a:ln/>
        </p:spPr>
      </p:sp>
      <p:sp>
        <p:nvSpPr>
          <p:cNvPr id="26" name="Teacher shortage and 2025 school rationalisation circle"/>
          <p:cNvSpPr/>
          <p:nvPr/>
        </p:nvSpPr>
        <p:spPr>
          <a:xfrm>
            <a:off x="685800" y="4151376"/>
            <a:ext cx="420624" cy="420624"/>
          </a:xfrm>
          <a:prstGeom prst="ellipse">
            <a:avLst/>
          </a:prstGeom>
          <a:solidFill>
            <a:schemeClr val="accent4"/>
          </a:solidFill>
          <a:ln/>
        </p:spPr>
      </p:sp>
      <p:pic>
        <p:nvPicPr>
          <p:cNvPr id="27" name="Teacher shortage and 2025 school rationalisation icon" descr="Teacher shortage and 2025 school rationalisation">    </p:cNvPr>
          <p:cNvPicPr>
            <a:picLocks noChangeAspect="1"/>
          </p:cNvPicPr>
          <p:nvPr/>
        </p:nvPicPr>
        <p:blipFill>
          <a:blip r:embed="rId7"/>
          <a:stretch>
            <a:fillRect/>
          </a:stretch>
        </p:blipFill>
        <p:spPr>
          <a:xfrm>
            <a:off x="790956" y="4256532"/>
            <a:ext cx="210312" cy="210312"/>
          </a:xfrm>
          <a:prstGeom prst="rect">
            <a:avLst/>
          </a:prstGeom>
        </p:spPr>
      </p:pic>
      <p:sp>
        <p:nvSpPr>
          <p:cNvPr id="28" name="Text 19"/>
          <p:cNvSpPr txBox="1"/>
          <p:nvPr/>
        </p:nvSpPr>
        <p:spPr>
          <a:xfrm>
            <a:off x="1417320" y="4078224"/>
            <a:ext cx="5074920" cy="566928"/>
          </a:xfrm>
          <a:prstGeom prst="rect">
            <a:avLst/>
          </a:prstGeom>
          <a:noFill/>
          <a:ln/>
        </p:spPr>
        <p:txBody>
          <a:bodyPr wrap="square" lIns="0" tIns="0" rIns="0" bIns="0" rtlCol="0" anchor="ctr"/>
          <a:lstStyle/>
          <a:p>
            <a:pPr indent="0" marL="0">
              <a:buNone/>
            </a:pPr>
            <a:r>
              <a:rPr lang="en-US" sz="1500" b="1" dirty="0">
                <a:solidFill>
                  <a:schemeClr val="tx2"/>
                </a:solidFill>
              </a:rPr>
              <a:t>Teacher shortage and 2025 school rationalisation</a:t>
            </a:r>
            <a:endParaRPr lang="en-US" sz="1500" dirty="0"/>
          </a:p>
        </p:txBody>
      </p:sp>
      <p:pic>
        <p:nvPicPr>
          <p:cNvPr id="29" name="Image 7" descr="leads to">    </p:cNvPr>
          <p:cNvPicPr>
            <a:picLocks noChangeAspect="1"/>
          </p:cNvPicPr>
          <p:nvPr/>
        </p:nvPicPr>
        <p:blipFill>
          <a:blip r:embed="rId8"/>
          <a:stretch>
            <a:fillRect/>
          </a:stretch>
        </p:blipFill>
        <p:spPr>
          <a:xfrm>
            <a:off x="6172200" y="4261104"/>
            <a:ext cx="201168" cy="201168"/>
          </a:xfrm>
          <a:prstGeom prst="rect">
            <a:avLst/>
          </a:prstGeom>
        </p:spPr>
      </p:pic>
      <p:sp>
        <p:nvSpPr>
          <p:cNvPr id="30" name="Text 20"/>
          <p:cNvSpPr txBox="1"/>
          <p:nvPr/>
        </p:nvSpPr>
        <p:spPr>
          <a:xfrm>
            <a:off x="6629400" y="4078224"/>
            <a:ext cx="4937760" cy="566928"/>
          </a:xfrm>
          <a:prstGeom prst="rect">
            <a:avLst/>
          </a:prstGeom>
          <a:noFill/>
          <a:ln/>
        </p:spPr>
        <p:txBody>
          <a:bodyPr wrap="square" lIns="0" tIns="0" rIns="0" bIns="0" rtlCol="0" anchor="ctr"/>
          <a:lstStyle/>
          <a:p>
            <a:pPr indent="0" marL="0">
              <a:buNone/>
            </a:pPr>
            <a:r>
              <a:rPr lang="en-US" sz="1500" dirty="0">
                <a:solidFill>
                  <a:schemeClr val="tx1"/>
                </a:solidFill>
              </a:rPr>
              <a:t>AI teacher copilot cuts preparation time; supports multi-grade classes</a:t>
            </a:r>
            <a:endParaRPr lang="en-US" sz="1500" dirty="0"/>
          </a:p>
        </p:txBody>
      </p:sp>
      <p:sp>
        <p:nvSpPr>
          <p:cNvPr id="31" name="row 5"/>
          <p:cNvSpPr/>
          <p:nvPr/>
        </p:nvSpPr>
        <p:spPr>
          <a:xfrm>
            <a:off x="548640" y="4736592"/>
            <a:ext cx="11094415" cy="566928"/>
          </a:xfrm>
          <a:prstGeom prst="roundRect">
            <a:avLst>
              <a:gd name="adj" fmla="val 19355"/>
            </a:avLst>
          </a:prstGeom>
          <a:solidFill>
            <a:schemeClr val="accent1">
              <a:alpha val="8000"/>
            </a:schemeClr>
          </a:solidFill>
          <a:ln/>
        </p:spPr>
      </p:sp>
      <p:sp>
        <p:nvSpPr>
          <p:cNvPr id="32" name="UDISE+ and department reporting circle"/>
          <p:cNvSpPr/>
          <p:nvPr/>
        </p:nvSpPr>
        <p:spPr>
          <a:xfrm>
            <a:off x="685800" y="4809744"/>
            <a:ext cx="420624" cy="420624"/>
          </a:xfrm>
          <a:prstGeom prst="ellipse">
            <a:avLst/>
          </a:prstGeom>
          <a:solidFill>
            <a:schemeClr val="accent5"/>
          </a:solidFill>
          <a:ln/>
        </p:spPr>
      </p:sp>
      <p:pic>
        <p:nvPicPr>
          <p:cNvPr id="33" name="UDISE+ and department reporting icon" descr="UDISE+ and department reporting">    </p:cNvPr>
          <p:cNvPicPr>
            <a:picLocks noChangeAspect="1"/>
          </p:cNvPicPr>
          <p:nvPr/>
        </p:nvPicPr>
        <p:blipFill>
          <a:blip r:embed="rId9"/>
          <a:stretch>
            <a:fillRect/>
          </a:stretch>
        </p:blipFill>
        <p:spPr>
          <a:xfrm>
            <a:off x="790956" y="4914900"/>
            <a:ext cx="210312" cy="210312"/>
          </a:xfrm>
          <a:prstGeom prst="rect">
            <a:avLst/>
          </a:prstGeom>
        </p:spPr>
      </p:pic>
      <p:sp>
        <p:nvSpPr>
          <p:cNvPr id="34" name="Text 23"/>
          <p:cNvSpPr txBox="1"/>
          <p:nvPr/>
        </p:nvSpPr>
        <p:spPr>
          <a:xfrm>
            <a:off x="1417320" y="4736592"/>
            <a:ext cx="5074920" cy="566928"/>
          </a:xfrm>
          <a:prstGeom prst="rect">
            <a:avLst/>
          </a:prstGeom>
          <a:noFill/>
          <a:ln/>
        </p:spPr>
        <p:txBody>
          <a:bodyPr wrap="square" lIns="0" tIns="0" rIns="0" bIns="0" rtlCol="0" anchor="ctr"/>
          <a:lstStyle/>
          <a:p>
            <a:pPr indent="0" marL="0">
              <a:buNone/>
            </a:pPr>
            <a:r>
              <a:rPr lang="en-US" sz="1500" b="1" dirty="0">
                <a:solidFill>
                  <a:schemeClr val="tx2"/>
                </a:solidFill>
              </a:rPr>
              <a:t>UDISE+ and department reporting</a:t>
            </a:r>
            <a:endParaRPr lang="en-US" sz="1500" dirty="0"/>
          </a:p>
        </p:txBody>
      </p:sp>
      <p:pic>
        <p:nvPicPr>
          <p:cNvPr id="35" name="Image 9" descr="leads to">    </p:cNvPr>
          <p:cNvPicPr>
            <a:picLocks noChangeAspect="1"/>
          </p:cNvPicPr>
          <p:nvPr/>
        </p:nvPicPr>
        <p:blipFill>
          <a:blip r:embed="rId10"/>
          <a:stretch>
            <a:fillRect/>
          </a:stretch>
        </p:blipFill>
        <p:spPr>
          <a:xfrm>
            <a:off x="6172200" y="4919472"/>
            <a:ext cx="201168" cy="201168"/>
          </a:xfrm>
          <a:prstGeom prst="rect">
            <a:avLst/>
          </a:prstGeom>
        </p:spPr>
      </p:pic>
      <p:sp>
        <p:nvSpPr>
          <p:cNvPr id="36" name="Text 24"/>
          <p:cNvSpPr txBox="1"/>
          <p:nvPr/>
        </p:nvSpPr>
        <p:spPr>
          <a:xfrm>
            <a:off x="6629400" y="4736592"/>
            <a:ext cx="4937760" cy="566928"/>
          </a:xfrm>
          <a:prstGeom prst="rect">
            <a:avLst/>
          </a:prstGeom>
          <a:noFill/>
          <a:ln/>
        </p:spPr>
        <p:txBody>
          <a:bodyPr wrap="square" lIns="0" tIns="0" rIns="0" bIns="0" rtlCol="0" anchor="ctr"/>
          <a:lstStyle/>
          <a:p>
            <a:pPr indent="0" marL="0">
              <a:buNone/>
            </a:pPr>
            <a:r>
              <a:rPr lang="en-US" sz="1500" dirty="0">
                <a:solidFill>
                  <a:schemeClr val="tx1"/>
                </a:solidFill>
              </a:rPr>
              <a:t>Enter data once; reports are ready to export, not re-typed</a:t>
            </a:r>
            <a:endParaRPr lang="en-US" sz="1500" dirty="0"/>
          </a:p>
        </p:txBody>
      </p:sp>
      <p:sp>
        <p:nvSpPr>
          <p:cNvPr id="37" name="row 6"/>
          <p:cNvSpPr/>
          <p:nvPr/>
        </p:nvSpPr>
        <p:spPr>
          <a:xfrm>
            <a:off x="548640" y="5394960"/>
            <a:ext cx="11094415" cy="566928"/>
          </a:xfrm>
          <a:prstGeom prst="roundRect">
            <a:avLst>
              <a:gd name="adj" fmla="val 19355"/>
            </a:avLst>
          </a:prstGeom>
          <a:solidFill>
            <a:schemeClr val="accent6">
              <a:alpha val="7000"/>
            </a:schemeClr>
          </a:solidFill>
          <a:ln/>
        </p:spPr>
      </p:sp>
      <p:sp>
        <p:nvSpPr>
          <p:cNvPr id="38" name="Remote, low-connectivity schools circle"/>
          <p:cNvSpPr/>
          <p:nvPr/>
        </p:nvSpPr>
        <p:spPr>
          <a:xfrm>
            <a:off x="685800" y="5468112"/>
            <a:ext cx="420624" cy="420624"/>
          </a:xfrm>
          <a:prstGeom prst="ellipse">
            <a:avLst/>
          </a:prstGeom>
          <a:solidFill>
            <a:schemeClr val="accent6"/>
          </a:solidFill>
          <a:ln/>
        </p:spPr>
      </p:sp>
      <p:pic>
        <p:nvPicPr>
          <p:cNvPr id="39" name="Remote, low-connectivity schools icon" descr="Remote, low-connectivity schools">    </p:cNvPr>
          <p:cNvPicPr>
            <a:picLocks noChangeAspect="1"/>
          </p:cNvPicPr>
          <p:nvPr/>
        </p:nvPicPr>
        <p:blipFill>
          <a:blip r:embed="rId11"/>
          <a:stretch>
            <a:fillRect/>
          </a:stretch>
        </p:blipFill>
        <p:spPr>
          <a:xfrm>
            <a:off x="790956" y="5573268"/>
            <a:ext cx="210312" cy="210312"/>
          </a:xfrm>
          <a:prstGeom prst="rect">
            <a:avLst/>
          </a:prstGeom>
        </p:spPr>
      </p:pic>
      <p:sp>
        <p:nvSpPr>
          <p:cNvPr id="40" name="Text 27"/>
          <p:cNvSpPr txBox="1"/>
          <p:nvPr/>
        </p:nvSpPr>
        <p:spPr>
          <a:xfrm>
            <a:off x="1417320" y="5394960"/>
            <a:ext cx="5074920" cy="566928"/>
          </a:xfrm>
          <a:prstGeom prst="rect">
            <a:avLst/>
          </a:prstGeom>
          <a:noFill/>
          <a:ln/>
        </p:spPr>
        <p:txBody>
          <a:bodyPr wrap="square" lIns="0" tIns="0" rIns="0" bIns="0" rtlCol="0" anchor="ctr"/>
          <a:lstStyle/>
          <a:p>
            <a:pPr indent="0" marL="0">
              <a:buNone/>
            </a:pPr>
            <a:r>
              <a:rPr lang="en-US" sz="1500" b="1" dirty="0">
                <a:solidFill>
                  <a:schemeClr val="tx2"/>
                </a:solidFill>
              </a:rPr>
              <a:t>Remote, low-connectivity schools</a:t>
            </a:r>
            <a:endParaRPr lang="en-US" sz="1500" dirty="0"/>
          </a:p>
        </p:txBody>
      </p:sp>
      <p:pic>
        <p:nvPicPr>
          <p:cNvPr id="41" name="Image 11" descr="leads to">    </p:cNvPr>
          <p:cNvPicPr>
            <a:picLocks noChangeAspect="1"/>
          </p:cNvPicPr>
          <p:nvPr/>
        </p:nvPicPr>
        <p:blipFill>
          <a:blip r:embed="rId12"/>
          <a:stretch>
            <a:fillRect/>
          </a:stretch>
        </p:blipFill>
        <p:spPr>
          <a:xfrm>
            <a:off x="6172200" y="5577840"/>
            <a:ext cx="201168" cy="201168"/>
          </a:xfrm>
          <a:prstGeom prst="rect">
            <a:avLst/>
          </a:prstGeom>
        </p:spPr>
      </p:pic>
      <p:sp>
        <p:nvSpPr>
          <p:cNvPr id="42" name="Text 28"/>
          <p:cNvSpPr txBox="1"/>
          <p:nvPr/>
        </p:nvSpPr>
        <p:spPr>
          <a:xfrm>
            <a:off x="6629400" y="5394960"/>
            <a:ext cx="4937760" cy="566928"/>
          </a:xfrm>
          <a:prstGeom prst="rect">
            <a:avLst/>
          </a:prstGeom>
          <a:noFill/>
          <a:ln/>
        </p:spPr>
        <p:txBody>
          <a:bodyPr wrap="square" lIns="0" tIns="0" rIns="0" bIns="0" rtlCol="0" anchor="ctr"/>
          <a:lstStyle/>
          <a:p>
            <a:pPr indent="0" marL="0">
              <a:buNone/>
            </a:pPr>
            <a:r>
              <a:rPr lang="en-US" sz="1500" dirty="0">
                <a:solidFill>
                  <a:schemeClr val="tx1"/>
                </a:solidFill>
              </a:rPr>
              <a:t>Light web app; offline-ready workflows planned and tested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CHHATTISGARH CONTEXT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A school day with AI Gurukul</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Illustrative example: a government middle school in a village of Kanker district.</a:t>
            </a:r>
            <a:endParaRPr lang="en-US" sz="1600" dirty="0"/>
          </a:p>
        </p:txBody>
      </p:sp>
      <p:sp>
        <p:nvSpPr>
          <p:cNvPr id="5" name="timeline"/>
          <p:cNvSpPr/>
          <p:nvPr/>
        </p:nvSpPr>
        <p:spPr>
          <a:xfrm>
            <a:off x="1554480" y="2606040"/>
            <a:ext cx="9082735" cy="0"/>
          </a:xfrm>
          <a:prstGeom prst="line">
            <a:avLst/>
          </a:prstGeom>
          <a:noFill/>
          <a:ln w="19050">
            <a:solidFill>
              <a:srgbClr val="5E6B7D"/>
            </a:solidFill>
            <a:prstDash val="dash"/>
          </a:ln>
        </p:spPr>
      </p:sp>
      <p:sp>
        <p:nvSpPr>
          <p:cNvPr id="6" name="Attendance in one tap circle"/>
          <p:cNvSpPr/>
          <p:nvPr/>
        </p:nvSpPr>
        <p:spPr>
          <a:xfrm>
            <a:off x="1207008" y="2148840"/>
            <a:ext cx="914400" cy="914400"/>
          </a:xfrm>
          <a:prstGeom prst="ellipse">
            <a:avLst/>
          </a:prstGeom>
          <a:solidFill>
            <a:schemeClr val="accent1"/>
          </a:solidFill>
          <a:ln/>
        </p:spPr>
      </p:sp>
      <p:pic>
        <p:nvPicPr>
          <p:cNvPr id="7" name="Attendance in one tap icon" descr="Attendance in one tap">    </p:cNvPr>
          <p:cNvPicPr>
            <a:picLocks noChangeAspect="1"/>
          </p:cNvPicPr>
          <p:nvPr/>
        </p:nvPicPr>
        <p:blipFill>
          <a:blip r:embed="rId1"/>
          <a:stretch>
            <a:fillRect/>
          </a:stretch>
        </p:blipFill>
        <p:spPr>
          <a:xfrm>
            <a:off x="1435608" y="2377440"/>
            <a:ext cx="457200" cy="457200"/>
          </a:xfrm>
          <a:prstGeom prst="rect">
            <a:avLst/>
          </a:prstGeom>
        </p:spPr>
      </p:pic>
      <p:sp>
        <p:nvSpPr>
          <p:cNvPr id="8" name="Text 5"/>
          <p:cNvSpPr txBox="1"/>
          <p:nvPr/>
        </p:nvSpPr>
        <p:spPr>
          <a:xfrm>
            <a:off x="548640" y="3200400"/>
            <a:ext cx="2103120" cy="320040"/>
          </a:xfrm>
          <a:prstGeom prst="rect">
            <a:avLst/>
          </a:prstGeom>
          <a:noFill/>
          <a:ln/>
        </p:spPr>
        <p:txBody>
          <a:bodyPr wrap="square" lIns="0" tIns="0" rIns="0" bIns="0" rtlCol="0" anchor="t"/>
          <a:lstStyle/>
          <a:p>
            <a:pPr algn="ctr" indent="0" marL="0">
              <a:buNone/>
            </a:pPr>
            <a:r>
              <a:rPr lang="en-US" sz="1400" b="1" dirty="0">
                <a:solidFill>
                  <a:schemeClr val="accent1"/>
                </a:solidFill>
              </a:rPr>
              <a:t>8:00 AM</a:t>
            </a:r>
            <a:endParaRPr lang="en-US" sz="1400" dirty="0"/>
          </a:p>
        </p:txBody>
      </p:sp>
      <p:sp>
        <p:nvSpPr>
          <p:cNvPr id="9" name="Attendance in one tap"/>
          <p:cNvSpPr/>
          <p:nvPr/>
        </p:nvSpPr>
        <p:spPr>
          <a:xfrm>
            <a:off x="548640" y="3611880"/>
            <a:ext cx="2103120" cy="224028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731520" y="3749040"/>
            <a:ext cx="1737360" cy="594360"/>
          </a:xfrm>
          <a:prstGeom prst="rect">
            <a:avLst/>
          </a:prstGeom>
          <a:noFill/>
          <a:ln/>
        </p:spPr>
        <p:txBody>
          <a:bodyPr wrap="square" lIns="0" tIns="0" rIns="0" bIns="0" rtlCol="0" anchor="t"/>
          <a:lstStyle/>
          <a:p>
            <a:pPr indent="0" marL="0">
              <a:buNone/>
            </a:pPr>
            <a:r>
              <a:rPr lang="en-US" sz="1600" b="1" dirty="0">
                <a:solidFill>
                  <a:schemeClr val="tx2"/>
                </a:solidFill>
              </a:rPr>
              <a:t>Attendance in one tap</a:t>
            </a:r>
            <a:endParaRPr lang="en-US" sz="1600" dirty="0"/>
          </a:p>
        </p:txBody>
      </p:sp>
      <p:sp>
        <p:nvSpPr>
          <p:cNvPr id="11" name="Text 8"/>
          <p:cNvSpPr txBox="1"/>
          <p:nvPr/>
        </p:nvSpPr>
        <p:spPr>
          <a:xfrm>
            <a:off x="731520" y="4389120"/>
            <a:ext cx="1737360" cy="1371600"/>
          </a:xfrm>
          <a:prstGeom prst="rect">
            <a:avLst/>
          </a:prstGeom>
          <a:noFill/>
          <a:ln/>
        </p:spPr>
        <p:txBody>
          <a:bodyPr wrap="square" lIns="0" tIns="0" rIns="0" bIns="0" rtlCol="0" anchor="t"/>
          <a:lstStyle/>
          <a:p>
            <a:pPr indent="0" marL="0">
              <a:buNone/>
            </a:pPr>
            <a:r>
              <a:rPr lang="en-US" sz="1400" dirty="0">
                <a:solidFill>
                  <a:schemeClr val="tx1"/>
                </a:solidFill>
              </a:rPr>
              <a:t>Teacher marks attendance on the phone; parents of absent children get an SMS.</a:t>
            </a:r>
            <a:endParaRPr lang="en-US" sz="1400" dirty="0"/>
          </a:p>
        </p:txBody>
      </p:sp>
      <p:sp>
        <p:nvSpPr>
          <p:cNvPr id="12" name="Worksheet in minutes circle"/>
          <p:cNvSpPr/>
          <p:nvPr/>
        </p:nvSpPr>
        <p:spPr>
          <a:xfrm>
            <a:off x="3456432" y="2148840"/>
            <a:ext cx="914400" cy="914400"/>
          </a:xfrm>
          <a:prstGeom prst="ellipse">
            <a:avLst/>
          </a:prstGeom>
          <a:solidFill>
            <a:schemeClr val="accent2"/>
          </a:solidFill>
          <a:ln/>
        </p:spPr>
      </p:sp>
      <p:pic>
        <p:nvPicPr>
          <p:cNvPr id="13" name="Worksheet in minutes icon" descr="Worksheet in minutes">    </p:cNvPr>
          <p:cNvPicPr>
            <a:picLocks noChangeAspect="1"/>
          </p:cNvPicPr>
          <p:nvPr/>
        </p:nvPicPr>
        <p:blipFill>
          <a:blip r:embed="rId2"/>
          <a:stretch>
            <a:fillRect/>
          </a:stretch>
        </p:blipFill>
        <p:spPr>
          <a:xfrm>
            <a:off x="3685032" y="2377440"/>
            <a:ext cx="457200" cy="457200"/>
          </a:xfrm>
          <a:prstGeom prst="rect">
            <a:avLst/>
          </a:prstGeom>
        </p:spPr>
      </p:pic>
      <p:sp>
        <p:nvSpPr>
          <p:cNvPr id="14" name="Text 10"/>
          <p:cNvSpPr txBox="1"/>
          <p:nvPr/>
        </p:nvSpPr>
        <p:spPr>
          <a:xfrm>
            <a:off x="2798064" y="3200400"/>
            <a:ext cx="2103120" cy="320040"/>
          </a:xfrm>
          <a:prstGeom prst="rect">
            <a:avLst/>
          </a:prstGeom>
          <a:noFill/>
          <a:ln/>
        </p:spPr>
        <p:txBody>
          <a:bodyPr wrap="square" lIns="0" tIns="0" rIns="0" bIns="0" rtlCol="0" anchor="t"/>
          <a:lstStyle/>
          <a:p>
            <a:pPr algn="ctr" indent="0" marL="0">
              <a:buNone/>
            </a:pPr>
            <a:r>
              <a:rPr lang="en-US" sz="1400" b="1" dirty="0">
                <a:solidFill>
                  <a:schemeClr val="accent2"/>
                </a:solidFill>
              </a:rPr>
              <a:t>10:30 AM</a:t>
            </a:r>
            <a:endParaRPr lang="en-US" sz="1400" dirty="0"/>
          </a:p>
        </p:txBody>
      </p:sp>
      <p:sp>
        <p:nvSpPr>
          <p:cNvPr id="15" name="Worksheet in minutes"/>
          <p:cNvSpPr/>
          <p:nvPr/>
        </p:nvSpPr>
        <p:spPr>
          <a:xfrm>
            <a:off x="2798064" y="3611880"/>
            <a:ext cx="2103120" cy="224028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Text 12"/>
          <p:cNvSpPr txBox="1"/>
          <p:nvPr/>
        </p:nvSpPr>
        <p:spPr>
          <a:xfrm>
            <a:off x="2980944" y="3749040"/>
            <a:ext cx="1737360" cy="594360"/>
          </a:xfrm>
          <a:prstGeom prst="rect">
            <a:avLst/>
          </a:prstGeom>
          <a:noFill/>
          <a:ln/>
        </p:spPr>
        <p:txBody>
          <a:bodyPr wrap="square" lIns="0" tIns="0" rIns="0" bIns="0" rtlCol="0" anchor="t"/>
          <a:lstStyle/>
          <a:p>
            <a:pPr indent="0" marL="0">
              <a:buNone/>
            </a:pPr>
            <a:r>
              <a:rPr lang="en-US" sz="1600" b="1" dirty="0">
                <a:solidFill>
                  <a:schemeClr val="tx2"/>
                </a:solidFill>
              </a:rPr>
              <a:t>Worksheet in minutes</a:t>
            </a:r>
            <a:endParaRPr lang="en-US" sz="1600" dirty="0"/>
          </a:p>
        </p:txBody>
      </p:sp>
      <p:sp>
        <p:nvSpPr>
          <p:cNvPr id="17" name="Text 13"/>
          <p:cNvSpPr txBox="1"/>
          <p:nvPr/>
        </p:nvSpPr>
        <p:spPr>
          <a:xfrm>
            <a:off x="2980944" y="4389120"/>
            <a:ext cx="1737360" cy="1371600"/>
          </a:xfrm>
          <a:prstGeom prst="rect">
            <a:avLst/>
          </a:prstGeom>
          <a:noFill/>
          <a:ln/>
        </p:spPr>
        <p:txBody>
          <a:bodyPr wrap="square" lIns="0" tIns="0" rIns="0" bIns="0" rtlCol="0" anchor="t"/>
          <a:lstStyle/>
          <a:p>
            <a:pPr indent="0" marL="0">
              <a:buNone/>
            </a:pPr>
            <a:r>
              <a:rPr lang="en-US" sz="1400" dirty="0">
                <a:solidFill>
                  <a:schemeClr val="tx1"/>
                </a:solidFill>
              </a:rPr>
              <a:t>AI drafts a Science worksheet; the teacher checks it and shares it.</a:t>
            </a:r>
            <a:endParaRPr lang="en-US" sz="1400" dirty="0"/>
          </a:p>
        </p:txBody>
      </p:sp>
      <p:sp>
        <p:nvSpPr>
          <p:cNvPr id="18" name="Doubt solved at home circle"/>
          <p:cNvSpPr/>
          <p:nvPr/>
        </p:nvSpPr>
        <p:spPr>
          <a:xfrm>
            <a:off x="5705856" y="2148840"/>
            <a:ext cx="914400" cy="914400"/>
          </a:xfrm>
          <a:prstGeom prst="ellipse">
            <a:avLst/>
          </a:prstGeom>
          <a:solidFill>
            <a:schemeClr val="accent3"/>
          </a:solidFill>
          <a:ln/>
        </p:spPr>
      </p:sp>
      <p:pic>
        <p:nvPicPr>
          <p:cNvPr id="19" name="Doubt solved at home icon" descr="Doubt solved at home">    </p:cNvPr>
          <p:cNvPicPr>
            <a:picLocks noChangeAspect="1"/>
          </p:cNvPicPr>
          <p:nvPr/>
        </p:nvPicPr>
        <p:blipFill>
          <a:blip r:embed="rId3"/>
          <a:stretch>
            <a:fillRect/>
          </a:stretch>
        </p:blipFill>
        <p:spPr>
          <a:xfrm>
            <a:off x="5934456" y="2377440"/>
            <a:ext cx="457200" cy="457200"/>
          </a:xfrm>
          <a:prstGeom prst="rect">
            <a:avLst/>
          </a:prstGeom>
        </p:spPr>
      </p:pic>
      <p:sp>
        <p:nvSpPr>
          <p:cNvPr id="20" name="Text 15"/>
          <p:cNvSpPr txBox="1"/>
          <p:nvPr/>
        </p:nvSpPr>
        <p:spPr>
          <a:xfrm>
            <a:off x="5047488" y="3200400"/>
            <a:ext cx="2103120" cy="320040"/>
          </a:xfrm>
          <a:prstGeom prst="rect">
            <a:avLst/>
          </a:prstGeom>
          <a:noFill/>
          <a:ln/>
        </p:spPr>
        <p:txBody>
          <a:bodyPr wrap="square" lIns="0" tIns="0" rIns="0" bIns="0" rtlCol="0" anchor="t"/>
          <a:lstStyle/>
          <a:p>
            <a:pPr algn="ctr" indent="0" marL="0">
              <a:buNone/>
            </a:pPr>
            <a:r>
              <a:rPr lang="en-US" sz="1400" b="1" dirty="0">
                <a:solidFill>
                  <a:schemeClr val="accent3"/>
                </a:solidFill>
              </a:rPr>
              <a:t>4:00 PM</a:t>
            </a:r>
            <a:endParaRPr lang="en-US" sz="1400" dirty="0"/>
          </a:p>
        </p:txBody>
      </p:sp>
      <p:sp>
        <p:nvSpPr>
          <p:cNvPr id="21" name="Doubt solved at home"/>
          <p:cNvSpPr/>
          <p:nvPr/>
        </p:nvSpPr>
        <p:spPr>
          <a:xfrm>
            <a:off x="5047488" y="3611880"/>
            <a:ext cx="2103120" cy="224028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2" name="Text 17"/>
          <p:cNvSpPr txBox="1"/>
          <p:nvPr/>
        </p:nvSpPr>
        <p:spPr>
          <a:xfrm>
            <a:off x="5230368" y="3749040"/>
            <a:ext cx="1737360" cy="594360"/>
          </a:xfrm>
          <a:prstGeom prst="rect">
            <a:avLst/>
          </a:prstGeom>
          <a:noFill/>
          <a:ln/>
        </p:spPr>
        <p:txBody>
          <a:bodyPr wrap="square" lIns="0" tIns="0" rIns="0" bIns="0" rtlCol="0" anchor="t"/>
          <a:lstStyle/>
          <a:p>
            <a:pPr indent="0" marL="0">
              <a:buNone/>
            </a:pPr>
            <a:r>
              <a:rPr lang="en-US" sz="1600" b="1" dirty="0">
                <a:solidFill>
                  <a:schemeClr val="tx2"/>
                </a:solidFill>
              </a:rPr>
              <a:t>Doubt solved at home</a:t>
            </a:r>
            <a:endParaRPr lang="en-US" sz="1600" dirty="0"/>
          </a:p>
        </p:txBody>
      </p:sp>
      <p:sp>
        <p:nvSpPr>
          <p:cNvPr id="23" name="Text 18"/>
          <p:cNvSpPr txBox="1"/>
          <p:nvPr/>
        </p:nvSpPr>
        <p:spPr>
          <a:xfrm>
            <a:off x="5230368" y="4389120"/>
            <a:ext cx="1737360" cy="1371600"/>
          </a:xfrm>
          <a:prstGeom prst="rect">
            <a:avLst/>
          </a:prstGeom>
          <a:noFill/>
          <a:ln/>
        </p:spPr>
        <p:txBody>
          <a:bodyPr wrap="square" lIns="0" tIns="0" rIns="0" bIns="0" rtlCol="0" anchor="t"/>
          <a:lstStyle/>
          <a:p>
            <a:pPr indent="0" marL="0">
              <a:buNone/>
            </a:pPr>
            <a:r>
              <a:rPr lang="en-US" sz="1400" dirty="0">
                <a:solidFill>
                  <a:schemeClr val="tx1"/>
                </a:solidFill>
              </a:rPr>
              <a:t>Meena (Class 7) asks a doubt in Hindi; AI explains from the textbook.</a:t>
            </a:r>
            <a:endParaRPr lang="en-US" sz="1400" dirty="0"/>
          </a:p>
        </p:txBody>
      </p:sp>
      <p:sp>
        <p:nvSpPr>
          <p:cNvPr id="24" name="Parent stays informed circle"/>
          <p:cNvSpPr/>
          <p:nvPr/>
        </p:nvSpPr>
        <p:spPr>
          <a:xfrm>
            <a:off x="7955280" y="2148840"/>
            <a:ext cx="914400" cy="914400"/>
          </a:xfrm>
          <a:prstGeom prst="ellipse">
            <a:avLst/>
          </a:prstGeom>
          <a:solidFill>
            <a:schemeClr val="accent4"/>
          </a:solidFill>
          <a:ln/>
        </p:spPr>
      </p:sp>
      <p:pic>
        <p:nvPicPr>
          <p:cNvPr id="25" name="Parent stays informed icon" descr="Parent stays informed">    </p:cNvPr>
          <p:cNvPicPr>
            <a:picLocks noChangeAspect="1"/>
          </p:cNvPicPr>
          <p:nvPr/>
        </p:nvPicPr>
        <p:blipFill>
          <a:blip r:embed="rId4"/>
          <a:stretch>
            <a:fillRect/>
          </a:stretch>
        </p:blipFill>
        <p:spPr>
          <a:xfrm>
            <a:off x="8183880" y="2377440"/>
            <a:ext cx="457200" cy="457200"/>
          </a:xfrm>
          <a:prstGeom prst="rect">
            <a:avLst/>
          </a:prstGeom>
        </p:spPr>
      </p:pic>
      <p:sp>
        <p:nvSpPr>
          <p:cNvPr id="26" name="Text 20"/>
          <p:cNvSpPr txBox="1"/>
          <p:nvPr/>
        </p:nvSpPr>
        <p:spPr>
          <a:xfrm>
            <a:off x="7296912" y="3200400"/>
            <a:ext cx="2103120" cy="320040"/>
          </a:xfrm>
          <a:prstGeom prst="rect">
            <a:avLst/>
          </a:prstGeom>
          <a:noFill/>
          <a:ln/>
        </p:spPr>
        <p:txBody>
          <a:bodyPr wrap="square" lIns="0" tIns="0" rIns="0" bIns="0" rtlCol="0" anchor="t"/>
          <a:lstStyle/>
          <a:p>
            <a:pPr algn="ctr" indent="0" marL="0">
              <a:buNone/>
            </a:pPr>
            <a:r>
              <a:rPr lang="en-US" sz="1400" b="1" dirty="0">
                <a:solidFill>
                  <a:schemeClr val="accent4"/>
                </a:solidFill>
              </a:rPr>
              <a:t>6:00 PM</a:t>
            </a:r>
            <a:endParaRPr lang="en-US" sz="1400" dirty="0"/>
          </a:p>
        </p:txBody>
      </p:sp>
      <p:sp>
        <p:nvSpPr>
          <p:cNvPr id="27" name="Parent stays informed"/>
          <p:cNvSpPr/>
          <p:nvPr/>
        </p:nvSpPr>
        <p:spPr>
          <a:xfrm>
            <a:off x="7296912" y="3611880"/>
            <a:ext cx="2103120" cy="224028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8" name="Text 22"/>
          <p:cNvSpPr txBox="1"/>
          <p:nvPr/>
        </p:nvSpPr>
        <p:spPr>
          <a:xfrm>
            <a:off x="7479792" y="3749040"/>
            <a:ext cx="1737360" cy="594360"/>
          </a:xfrm>
          <a:prstGeom prst="rect">
            <a:avLst/>
          </a:prstGeom>
          <a:noFill/>
          <a:ln/>
        </p:spPr>
        <p:txBody>
          <a:bodyPr wrap="square" lIns="0" tIns="0" rIns="0" bIns="0" rtlCol="0" anchor="t"/>
          <a:lstStyle/>
          <a:p>
            <a:pPr indent="0" marL="0">
              <a:buNone/>
            </a:pPr>
            <a:r>
              <a:rPr lang="en-US" sz="1600" b="1" dirty="0">
                <a:solidFill>
                  <a:schemeClr val="tx2"/>
                </a:solidFill>
              </a:rPr>
              <a:t>Parent stays informed</a:t>
            </a:r>
            <a:endParaRPr lang="en-US" sz="1600" dirty="0"/>
          </a:p>
        </p:txBody>
      </p:sp>
      <p:sp>
        <p:nvSpPr>
          <p:cNvPr id="29" name="Text 23"/>
          <p:cNvSpPr txBox="1"/>
          <p:nvPr/>
        </p:nvSpPr>
        <p:spPr>
          <a:xfrm>
            <a:off x="7479792" y="4389120"/>
            <a:ext cx="1737360" cy="1371600"/>
          </a:xfrm>
          <a:prstGeom prst="rect">
            <a:avLst/>
          </a:prstGeom>
          <a:noFill/>
          <a:ln/>
        </p:spPr>
        <p:txBody>
          <a:bodyPr wrap="square" lIns="0" tIns="0" rIns="0" bIns="0" rtlCol="0" anchor="t"/>
          <a:lstStyle/>
          <a:p>
            <a:pPr indent="0" marL="0">
              <a:buNone/>
            </a:pPr>
            <a:r>
              <a:rPr lang="en-US" sz="1400" dirty="0">
                <a:solidFill>
                  <a:schemeClr val="tx1"/>
                </a:solidFill>
              </a:rPr>
              <a:t>Her father sees homework status and marks on his phone.</a:t>
            </a:r>
            <a:endParaRPr lang="en-US" sz="1400" dirty="0"/>
          </a:p>
        </p:txBody>
      </p:sp>
      <p:sp>
        <p:nvSpPr>
          <p:cNvPr id="30" name="Reports without effort circle"/>
          <p:cNvSpPr/>
          <p:nvPr/>
        </p:nvSpPr>
        <p:spPr>
          <a:xfrm>
            <a:off x="10204704" y="2148840"/>
            <a:ext cx="914400" cy="914400"/>
          </a:xfrm>
          <a:prstGeom prst="ellipse">
            <a:avLst/>
          </a:prstGeom>
          <a:solidFill>
            <a:schemeClr val="accent5"/>
          </a:solidFill>
          <a:ln/>
        </p:spPr>
      </p:sp>
      <p:pic>
        <p:nvPicPr>
          <p:cNvPr id="31" name="Reports without effort icon" descr="Reports without effort">    </p:cNvPr>
          <p:cNvPicPr>
            <a:picLocks noChangeAspect="1"/>
          </p:cNvPicPr>
          <p:nvPr/>
        </p:nvPicPr>
        <p:blipFill>
          <a:blip r:embed="rId5"/>
          <a:stretch>
            <a:fillRect/>
          </a:stretch>
        </p:blipFill>
        <p:spPr>
          <a:xfrm>
            <a:off x="10433304" y="2377440"/>
            <a:ext cx="457200" cy="457200"/>
          </a:xfrm>
          <a:prstGeom prst="rect">
            <a:avLst/>
          </a:prstGeom>
        </p:spPr>
      </p:pic>
      <p:sp>
        <p:nvSpPr>
          <p:cNvPr id="32" name="Text 25"/>
          <p:cNvSpPr txBox="1"/>
          <p:nvPr/>
        </p:nvSpPr>
        <p:spPr>
          <a:xfrm>
            <a:off x="9546336" y="3200400"/>
            <a:ext cx="2103120" cy="320040"/>
          </a:xfrm>
          <a:prstGeom prst="rect">
            <a:avLst/>
          </a:prstGeom>
          <a:noFill/>
          <a:ln/>
        </p:spPr>
        <p:txBody>
          <a:bodyPr wrap="square" lIns="0" tIns="0" rIns="0" bIns="0" rtlCol="0" anchor="t"/>
          <a:lstStyle/>
          <a:p>
            <a:pPr algn="ctr" indent="0" marL="0">
              <a:buNone/>
            </a:pPr>
            <a:r>
              <a:rPr lang="en-US" sz="1400" b="1" dirty="0">
                <a:solidFill>
                  <a:schemeClr val="accent5"/>
                </a:solidFill>
              </a:rPr>
              <a:t>Every week</a:t>
            </a:r>
            <a:endParaRPr lang="en-US" sz="1400" dirty="0"/>
          </a:p>
        </p:txBody>
      </p:sp>
      <p:sp>
        <p:nvSpPr>
          <p:cNvPr id="33" name="Reports without effort"/>
          <p:cNvSpPr/>
          <p:nvPr/>
        </p:nvSpPr>
        <p:spPr>
          <a:xfrm>
            <a:off x="9546336" y="3611880"/>
            <a:ext cx="2103120" cy="224028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4" name="Text 27"/>
          <p:cNvSpPr txBox="1"/>
          <p:nvPr/>
        </p:nvSpPr>
        <p:spPr>
          <a:xfrm>
            <a:off x="9729216" y="3749040"/>
            <a:ext cx="1737360" cy="594360"/>
          </a:xfrm>
          <a:prstGeom prst="rect">
            <a:avLst/>
          </a:prstGeom>
          <a:noFill/>
          <a:ln/>
        </p:spPr>
        <p:txBody>
          <a:bodyPr wrap="square" lIns="0" tIns="0" rIns="0" bIns="0" rtlCol="0" anchor="t"/>
          <a:lstStyle/>
          <a:p>
            <a:pPr indent="0" marL="0">
              <a:buNone/>
            </a:pPr>
            <a:r>
              <a:rPr lang="en-US" sz="1600" b="1" dirty="0">
                <a:solidFill>
                  <a:schemeClr val="tx2"/>
                </a:solidFill>
              </a:rPr>
              <a:t>Reports without effort</a:t>
            </a:r>
            <a:endParaRPr lang="en-US" sz="1600" dirty="0"/>
          </a:p>
        </p:txBody>
      </p:sp>
      <p:sp>
        <p:nvSpPr>
          <p:cNvPr id="35" name="Text 28"/>
          <p:cNvSpPr txBox="1"/>
          <p:nvPr/>
        </p:nvSpPr>
        <p:spPr>
          <a:xfrm>
            <a:off x="9729216" y="4389120"/>
            <a:ext cx="1737360" cy="1371600"/>
          </a:xfrm>
          <a:prstGeom prst="rect">
            <a:avLst/>
          </a:prstGeom>
          <a:noFill/>
          <a:ln/>
        </p:spPr>
        <p:txBody>
          <a:bodyPr wrap="square" lIns="0" tIns="0" rIns="0" bIns="0" rtlCol="0" anchor="t"/>
          <a:lstStyle/>
          <a:p>
            <a:pPr indent="0" marL="0">
              <a:buNone/>
            </a:pPr>
            <a:r>
              <a:rPr lang="en-US" sz="1400" dirty="0">
                <a:solidFill>
                  <a:schemeClr val="tx1"/>
                </a:solidFill>
              </a:rPr>
              <a:t>Headmaster and BEO see a ready report — no manual compiling.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From scattered work to one connected system</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problem is not a lack of content — it is that the pieces don't talk to each other.</a:t>
            </a:r>
            <a:endParaRPr lang="en-US" sz="1600" dirty="0"/>
          </a:p>
        </p:txBody>
      </p:sp>
      <p:sp>
        <p:nvSpPr>
          <p:cNvPr id="5" name="today panel"/>
          <p:cNvSpPr/>
          <p:nvPr/>
        </p:nvSpPr>
        <p:spPr>
          <a:xfrm>
            <a:off x="548640" y="1828800"/>
            <a:ext cx="4983480" cy="4023360"/>
          </a:xfrm>
          <a:prstGeom prst="roundRect">
            <a:avLst>
              <a:gd name="adj" fmla="val 2727"/>
            </a:avLst>
          </a:prstGeom>
          <a:solidFill>
            <a:schemeClr val="accent3">
              <a:alpha val="9000"/>
            </a:schemeClr>
          </a:solidFill>
          <a:ln/>
        </p:spPr>
      </p:sp>
      <p:sp>
        <p:nvSpPr>
          <p:cNvPr id="6" name="with AI Gurukul panel"/>
          <p:cNvSpPr/>
          <p:nvPr/>
        </p:nvSpPr>
        <p:spPr>
          <a:xfrm>
            <a:off x="6656832" y="1828800"/>
            <a:ext cx="4983480" cy="4023360"/>
          </a:xfrm>
          <a:prstGeom prst="roundRect">
            <a:avLst>
              <a:gd name="adj" fmla="val 2727"/>
            </a:avLst>
          </a:prstGeom>
          <a:solidFill>
            <a:schemeClr val="accent1">
              <a:alpha val="11000"/>
            </a:schemeClr>
          </a:solidFill>
          <a:ln/>
        </p:spPr>
      </p:sp>
      <p:sp>
        <p:nvSpPr>
          <p:cNvPr id="7" name="Text 5"/>
          <p:cNvSpPr txBox="1"/>
          <p:nvPr/>
        </p:nvSpPr>
        <p:spPr>
          <a:xfrm>
            <a:off x="868680" y="2011680"/>
            <a:ext cx="3657600" cy="365760"/>
          </a:xfrm>
          <a:prstGeom prst="rect">
            <a:avLst/>
          </a:prstGeom>
          <a:noFill/>
          <a:ln/>
        </p:spPr>
        <p:txBody>
          <a:bodyPr wrap="square" lIns="0" tIns="0" rIns="0" bIns="0" rtlCol="0" anchor="t"/>
          <a:lstStyle/>
          <a:p>
            <a:pPr indent="0" marL="0">
              <a:buNone/>
            </a:pPr>
            <a:r>
              <a:rPr lang="en-US" sz="1600" b="1" spc="200" kern="0" dirty="0">
                <a:solidFill>
                  <a:schemeClr val="accent3"/>
                </a:solidFill>
              </a:rPr>
              <a:t>TODAY</a:t>
            </a:r>
            <a:endParaRPr lang="en-US" sz="1600" dirty="0"/>
          </a:p>
        </p:txBody>
      </p:sp>
      <p:sp>
        <p:nvSpPr>
          <p:cNvPr id="8" name="Text 6"/>
          <p:cNvSpPr txBox="1"/>
          <p:nvPr/>
        </p:nvSpPr>
        <p:spPr>
          <a:xfrm>
            <a:off x="6976872" y="2011680"/>
            <a:ext cx="4114800" cy="365760"/>
          </a:xfrm>
          <a:prstGeom prst="rect">
            <a:avLst/>
          </a:prstGeom>
          <a:noFill/>
          <a:ln/>
        </p:spPr>
        <p:txBody>
          <a:bodyPr wrap="square" lIns="0" tIns="0" rIns="0" bIns="0" rtlCol="0" anchor="t"/>
          <a:lstStyle/>
          <a:p>
            <a:pPr indent="0" marL="0">
              <a:buNone/>
            </a:pPr>
            <a:r>
              <a:rPr lang="en-US" sz="1600" b="1" spc="200" kern="0" dirty="0">
                <a:solidFill>
                  <a:schemeClr val="accent1"/>
                </a:solidFill>
              </a:rPr>
              <a:t>WITH AI GURUKUL</a:t>
            </a:r>
            <a:endParaRPr lang="en-US" sz="1600" dirty="0"/>
          </a:p>
        </p:txBody>
      </p:sp>
      <p:sp>
        <p:nvSpPr>
          <p:cNvPr id="9" name="Registers, WhatsApp groups and Excel sheets circle"/>
          <p:cNvSpPr/>
          <p:nvPr/>
        </p:nvSpPr>
        <p:spPr>
          <a:xfrm>
            <a:off x="868680" y="2606040"/>
            <a:ext cx="640080" cy="640080"/>
          </a:xfrm>
          <a:prstGeom prst="ellipse">
            <a:avLst/>
          </a:prstGeom>
          <a:solidFill>
            <a:schemeClr val="accent3"/>
          </a:solidFill>
          <a:ln/>
        </p:spPr>
      </p:sp>
      <p:pic>
        <p:nvPicPr>
          <p:cNvPr id="10" name="Registers, WhatsApp groups and Excel sheets icon" descr="Registers, WhatsApp groups and Excel sheets">    </p:cNvPr>
          <p:cNvPicPr>
            <a:picLocks noChangeAspect="1"/>
          </p:cNvPicPr>
          <p:nvPr/>
        </p:nvPicPr>
        <p:blipFill>
          <a:blip r:embed="rId1"/>
          <a:stretch>
            <a:fillRect/>
          </a:stretch>
        </p:blipFill>
        <p:spPr>
          <a:xfrm>
            <a:off x="1028700" y="2766060"/>
            <a:ext cx="320040" cy="320040"/>
          </a:xfrm>
          <a:prstGeom prst="rect">
            <a:avLst/>
          </a:prstGeom>
        </p:spPr>
      </p:pic>
      <p:sp>
        <p:nvSpPr>
          <p:cNvPr id="11" name="Text 8"/>
          <p:cNvSpPr txBox="1"/>
          <p:nvPr/>
        </p:nvSpPr>
        <p:spPr>
          <a:xfrm>
            <a:off x="1737360" y="2606040"/>
            <a:ext cx="3611880" cy="640080"/>
          </a:xfrm>
          <a:prstGeom prst="rect">
            <a:avLst/>
          </a:prstGeom>
          <a:noFill/>
          <a:ln/>
        </p:spPr>
        <p:txBody>
          <a:bodyPr wrap="square" lIns="0" tIns="0" rIns="0" bIns="0" rtlCol="0" anchor="ctr"/>
          <a:lstStyle/>
          <a:p>
            <a:pPr indent="0" marL="0">
              <a:buNone/>
            </a:pPr>
            <a:r>
              <a:rPr lang="en-US" sz="1700" dirty="0">
                <a:solidFill>
                  <a:schemeClr val="tx1"/>
                </a:solidFill>
              </a:rPr>
              <a:t>Registers, WhatsApp groups and Excel sheets</a:t>
            </a:r>
            <a:endParaRPr lang="en-US" sz="1700" dirty="0"/>
          </a:p>
        </p:txBody>
      </p:sp>
      <p:sp>
        <p:nvSpPr>
          <p:cNvPr id="12" name="One place for all school data circle"/>
          <p:cNvSpPr/>
          <p:nvPr/>
        </p:nvSpPr>
        <p:spPr>
          <a:xfrm>
            <a:off x="6976872" y="2606040"/>
            <a:ext cx="640080" cy="640080"/>
          </a:xfrm>
          <a:prstGeom prst="ellipse">
            <a:avLst/>
          </a:prstGeom>
          <a:solidFill>
            <a:schemeClr val="accent1"/>
          </a:solidFill>
          <a:ln/>
        </p:spPr>
      </p:sp>
      <p:pic>
        <p:nvPicPr>
          <p:cNvPr id="13" name="One place for all school data icon" descr="One place for all school data">    </p:cNvPr>
          <p:cNvPicPr>
            <a:picLocks noChangeAspect="1"/>
          </p:cNvPicPr>
          <p:nvPr/>
        </p:nvPicPr>
        <p:blipFill>
          <a:blip r:embed="rId2"/>
          <a:stretch>
            <a:fillRect/>
          </a:stretch>
        </p:blipFill>
        <p:spPr>
          <a:xfrm>
            <a:off x="7136892" y="2766060"/>
            <a:ext cx="320040" cy="320040"/>
          </a:xfrm>
          <a:prstGeom prst="rect">
            <a:avLst/>
          </a:prstGeom>
        </p:spPr>
      </p:pic>
      <p:sp>
        <p:nvSpPr>
          <p:cNvPr id="14" name="Text 10"/>
          <p:cNvSpPr txBox="1"/>
          <p:nvPr/>
        </p:nvSpPr>
        <p:spPr>
          <a:xfrm>
            <a:off x="7845552" y="2606040"/>
            <a:ext cx="3611880" cy="640080"/>
          </a:xfrm>
          <a:prstGeom prst="rect">
            <a:avLst/>
          </a:prstGeom>
          <a:noFill/>
          <a:ln/>
        </p:spPr>
        <p:txBody>
          <a:bodyPr wrap="square" lIns="0" tIns="0" rIns="0" bIns="0" rtlCol="0" anchor="ctr"/>
          <a:lstStyle/>
          <a:p>
            <a:pPr indent="0" marL="0">
              <a:buNone/>
            </a:pPr>
            <a:r>
              <a:rPr lang="en-US" sz="1700" b="1" dirty="0">
                <a:solidFill>
                  <a:schemeClr val="tx2"/>
                </a:solidFill>
              </a:rPr>
              <a:t>One place for all school data</a:t>
            </a:r>
            <a:endParaRPr lang="en-US" sz="1700" dirty="0"/>
          </a:p>
        </p:txBody>
      </p:sp>
      <p:sp>
        <p:nvSpPr>
          <p:cNvPr id="15" name="Marks don't show what a child should fix next circle"/>
          <p:cNvSpPr/>
          <p:nvPr/>
        </p:nvSpPr>
        <p:spPr>
          <a:xfrm>
            <a:off x="868680" y="3611880"/>
            <a:ext cx="640080" cy="640080"/>
          </a:xfrm>
          <a:prstGeom prst="ellipse">
            <a:avLst/>
          </a:prstGeom>
          <a:solidFill>
            <a:schemeClr val="accent3"/>
          </a:solidFill>
          <a:ln/>
        </p:spPr>
      </p:sp>
      <p:pic>
        <p:nvPicPr>
          <p:cNvPr id="16" name="Marks don't show what a child should fix next icon" descr="Marks don't show what a child should fix next">    </p:cNvPr>
          <p:cNvPicPr>
            <a:picLocks noChangeAspect="1"/>
          </p:cNvPicPr>
          <p:nvPr/>
        </p:nvPicPr>
        <p:blipFill>
          <a:blip r:embed="rId3"/>
          <a:stretch>
            <a:fillRect/>
          </a:stretch>
        </p:blipFill>
        <p:spPr>
          <a:xfrm>
            <a:off x="1028700" y="3771900"/>
            <a:ext cx="320040" cy="320040"/>
          </a:xfrm>
          <a:prstGeom prst="rect">
            <a:avLst/>
          </a:prstGeom>
        </p:spPr>
      </p:pic>
      <p:sp>
        <p:nvSpPr>
          <p:cNvPr id="17" name="Text 12"/>
          <p:cNvSpPr txBox="1"/>
          <p:nvPr/>
        </p:nvSpPr>
        <p:spPr>
          <a:xfrm>
            <a:off x="1737360" y="3611880"/>
            <a:ext cx="3611880" cy="640080"/>
          </a:xfrm>
          <a:prstGeom prst="rect">
            <a:avLst/>
          </a:prstGeom>
          <a:noFill/>
          <a:ln/>
        </p:spPr>
        <p:txBody>
          <a:bodyPr wrap="square" lIns="0" tIns="0" rIns="0" bIns="0" rtlCol="0" anchor="ctr"/>
          <a:lstStyle/>
          <a:p>
            <a:pPr indent="0" marL="0">
              <a:buNone/>
            </a:pPr>
            <a:r>
              <a:rPr lang="en-US" sz="1700" dirty="0">
                <a:solidFill>
                  <a:schemeClr val="tx1"/>
                </a:solidFill>
              </a:rPr>
              <a:t>Marks don't show what a child should fix next</a:t>
            </a:r>
            <a:endParaRPr lang="en-US" sz="1700" dirty="0"/>
          </a:p>
        </p:txBody>
      </p:sp>
      <p:sp>
        <p:nvSpPr>
          <p:cNvPr id="18" name="A clear next step for every child circle"/>
          <p:cNvSpPr/>
          <p:nvPr/>
        </p:nvSpPr>
        <p:spPr>
          <a:xfrm>
            <a:off x="6976872" y="3611880"/>
            <a:ext cx="640080" cy="640080"/>
          </a:xfrm>
          <a:prstGeom prst="ellipse">
            <a:avLst/>
          </a:prstGeom>
          <a:solidFill>
            <a:schemeClr val="accent1"/>
          </a:solidFill>
          <a:ln/>
        </p:spPr>
      </p:sp>
      <p:pic>
        <p:nvPicPr>
          <p:cNvPr id="19" name="A clear next step for every child icon" descr="A clear next step for every child">    </p:cNvPr>
          <p:cNvPicPr>
            <a:picLocks noChangeAspect="1"/>
          </p:cNvPicPr>
          <p:nvPr/>
        </p:nvPicPr>
        <p:blipFill>
          <a:blip r:embed="rId4"/>
          <a:stretch>
            <a:fillRect/>
          </a:stretch>
        </p:blipFill>
        <p:spPr>
          <a:xfrm>
            <a:off x="7136892" y="3771900"/>
            <a:ext cx="320040" cy="320040"/>
          </a:xfrm>
          <a:prstGeom prst="rect">
            <a:avLst/>
          </a:prstGeom>
        </p:spPr>
      </p:pic>
      <p:sp>
        <p:nvSpPr>
          <p:cNvPr id="20" name="Text 14"/>
          <p:cNvSpPr txBox="1"/>
          <p:nvPr/>
        </p:nvSpPr>
        <p:spPr>
          <a:xfrm>
            <a:off x="7845552" y="3611880"/>
            <a:ext cx="3611880" cy="640080"/>
          </a:xfrm>
          <a:prstGeom prst="rect">
            <a:avLst/>
          </a:prstGeom>
          <a:noFill/>
          <a:ln/>
        </p:spPr>
        <p:txBody>
          <a:bodyPr wrap="square" lIns="0" tIns="0" rIns="0" bIns="0" rtlCol="0" anchor="ctr"/>
          <a:lstStyle/>
          <a:p>
            <a:pPr indent="0" marL="0">
              <a:buNone/>
            </a:pPr>
            <a:r>
              <a:rPr lang="en-US" sz="1700" b="1" dirty="0">
                <a:solidFill>
                  <a:schemeClr val="tx2"/>
                </a:solidFill>
              </a:rPr>
              <a:t>A clear next step for every child</a:t>
            </a:r>
            <a:endParaRPr lang="en-US" sz="1700" dirty="0"/>
          </a:p>
        </p:txBody>
      </p:sp>
      <p:sp>
        <p:nvSpPr>
          <p:cNvPr id="21" name="Teachers can't answer every doubt in time circle"/>
          <p:cNvSpPr/>
          <p:nvPr/>
        </p:nvSpPr>
        <p:spPr>
          <a:xfrm>
            <a:off x="868680" y="4617720"/>
            <a:ext cx="640080" cy="640080"/>
          </a:xfrm>
          <a:prstGeom prst="ellipse">
            <a:avLst/>
          </a:prstGeom>
          <a:solidFill>
            <a:schemeClr val="accent3"/>
          </a:solidFill>
          <a:ln/>
        </p:spPr>
      </p:sp>
      <p:pic>
        <p:nvPicPr>
          <p:cNvPr id="22" name="Teachers can't answer every doubt in time icon" descr="Teachers can't answer every doubt in time">    </p:cNvPr>
          <p:cNvPicPr>
            <a:picLocks noChangeAspect="1"/>
          </p:cNvPicPr>
          <p:nvPr/>
        </p:nvPicPr>
        <p:blipFill>
          <a:blip r:embed="rId5"/>
          <a:stretch>
            <a:fillRect/>
          </a:stretch>
        </p:blipFill>
        <p:spPr>
          <a:xfrm>
            <a:off x="1028700" y="4777740"/>
            <a:ext cx="320040" cy="320040"/>
          </a:xfrm>
          <a:prstGeom prst="rect">
            <a:avLst/>
          </a:prstGeom>
        </p:spPr>
      </p:pic>
      <p:sp>
        <p:nvSpPr>
          <p:cNvPr id="23" name="Text 16"/>
          <p:cNvSpPr txBox="1"/>
          <p:nvPr/>
        </p:nvSpPr>
        <p:spPr>
          <a:xfrm>
            <a:off x="1737360" y="4617720"/>
            <a:ext cx="3611880" cy="640080"/>
          </a:xfrm>
          <a:prstGeom prst="rect">
            <a:avLst/>
          </a:prstGeom>
          <a:noFill/>
          <a:ln/>
        </p:spPr>
        <p:txBody>
          <a:bodyPr wrap="square" lIns="0" tIns="0" rIns="0" bIns="0" rtlCol="0" anchor="ctr"/>
          <a:lstStyle/>
          <a:p>
            <a:pPr indent="0" marL="0">
              <a:buNone/>
            </a:pPr>
            <a:r>
              <a:rPr lang="en-US" sz="1700" dirty="0">
                <a:solidFill>
                  <a:schemeClr val="tx1"/>
                </a:solidFill>
              </a:rPr>
              <a:t>Teachers can't answer every doubt in time</a:t>
            </a:r>
            <a:endParaRPr lang="en-US" sz="1700" dirty="0"/>
          </a:p>
        </p:txBody>
      </p:sp>
      <p:sp>
        <p:nvSpPr>
          <p:cNvPr id="24" name="Study help for students, any time circle"/>
          <p:cNvSpPr/>
          <p:nvPr/>
        </p:nvSpPr>
        <p:spPr>
          <a:xfrm>
            <a:off x="6976872" y="4617720"/>
            <a:ext cx="640080" cy="640080"/>
          </a:xfrm>
          <a:prstGeom prst="ellipse">
            <a:avLst/>
          </a:prstGeom>
          <a:solidFill>
            <a:schemeClr val="accent1"/>
          </a:solidFill>
          <a:ln/>
        </p:spPr>
      </p:sp>
      <p:pic>
        <p:nvPicPr>
          <p:cNvPr id="25" name="Study help for students, any time icon" descr="Study help for students, any time">    </p:cNvPr>
          <p:cNvPicPr>
            <a:picLocks noChangeAspect="1"/>
          </p:cNvPicPr>
          <p:nvPr/>
        </p:nvPicPr>
        <p:blipFill>
          <a:blip r:embed="rId6"/>
          <a:stretch>
            <a:fillRect/>
          </a:stretch>
        </p:blipFill>
        <p:spPr>
          <a:xfrm>
            <a:off x="7136892" y="4777740"/>
            <a:ext cx="320040" cy="320040"/>
          </a:xfrm>
          <a:prstGeom prst="rect">
            <a:avLst/>
          </a:prstGeom>
        </p:spPr>
      </p:pic>
      <p:sp>
        <p:nvSpPr>
          <p:cNvPr id="26" name="Text 18"/>
          <p:cNvSpPr txBox="1"/>
          <p:nvPr/>
        </p:nvSpPr>
        <p:spPr>
          <a:xfrm>
            <a:off x="7845552" y="4617720"/>
            <a:ext cx="3611880" cy="640080"/>
          </a:xfrm>
          <a:prstGeom prst="rect">
            <a:avLst/>
          </a:prstGeom>
          <a:noFill/>
          <a:ln/>
        </p:spPr>
        <p:txBody>
          <a:bodyPr wrap="square" lIns="0" tIns="0" rIns="0" bIns="0" rtlCol="0" anchor="ctr"/>
          <a:lstStyle/>
          <a:p>
            <a:pPr indent="0" marL="0">
              <a:buNone/>
            </a:pPr>
            <a:r>
              <a:rPr lang="en-US" sz="1700" b="1" dirty="0">
                <a:solidFill>
                  <a:schemeClr val="tx2"/>
                </a:solidFill>
              </a:rPr>
              <a:t>Study help for students, any time</a:t>
            </a:r>
            <a:endParaRPr lang="en-US" sz="1700" dirty="0"/>
          </a:p>
        </p:txBody>
      </p:sp>
      <p:sp>
        <p:nvSpPr>
          <p:cNvPr id="27" name="change circle"/>
          <p:cNvSpPr/>
          <p:nvPr/>
        </p:nvSpPr>
        <p:spPr>
          <a:xfrm>
            <a:off x="5687568" y="3493008"/>
            <a:ext cx="822960" cy="822960"/>
          </a:xfrm>
          <a:prstGeom prst="ellipse">
            <a:avLst/>
          </a:prstGeom>
          <a:solidFill>
            <a:schemeClr val="tx2"/>
          </a:solidFill>
          <a:ln/>
        </p:spPr>
      </p:sp>
      <p:pic>
        <p:nvPicPr>
          <p:cNvPr id="28" name="change icon" descr="change">    </p:cNvPr>
          <p:cNvPicPr>
            <a:picLocks noChangeAspect="1"/>
          </p:cNvPicPr>
          <p:nvPr/>
        </p:nvPicPr>
        <p:blipFill>
          <a:blip r:embed="rId7"/>
          <a:stretch>
            <a:fillRect/>
          </a:stretch>
        </p:blipFill>
        <p:spPr>
          <a:xfrm>
            <a:off x="5893308" y="3698748"/>
            <a:ext cx="411480" cy="411480"/>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The learning loop in six simple steps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Each step feeds the next — so the platform suggests the next best action, not just stores data.</a:t>
            </a:r>
            <a:endParaRPr lang="en-US" sz="1600" dirty="0"/>
          </a:p>
        </p:txBody>
      </p:sp>
      <p:sp>
        <p:nvSpPr>
          <p:cNvPr id="5" name="loop ring"/>
          <p:cNvSpPr/>
          <p:nvPr/>
        </p:nvSpPr>
        <p:spPr>
          <a:xfrm>
            <a:off x="2346808" y="2377440"/>
            <a:ext cx="7498080" cy="3200400"/>
          </a:xfrm>
          <a:prstGeom prst="ellipse">
            <a:avLst/>
          </a:prstGeom>
          <a:ln w="19050">
            <a:solidFill>
              <a:srgbClr val="5E6B7D"/>
            </a:solidFill>
            <a:prstDash val="dash"/>
          </a:ln>
        </p:spPr>
      </p:sp>
      <p:sp>
        <p:nvSpPr>
          <p:cNvPr id="6" name="centre"/>
          <p:cNvSpPr/>
          <p:nvPr/>
        </p:nvSpPr>
        <p:spPr>
          <a:xfrm>
            <a:off x="5135728" y="3017520"/>
            <a:ext cx="1920240" cy="1920240"/>
          </a:xfrm>
          <a:prstGeom prst="ellipse">
            <a:avLst/>
          </a:prstGeom>
          <a:solidFill>
            <a:schemeClr val="tx2"/>
          </a:solidFill>
          <a:ln/>
        </p:spPr>
      </p:sp>
      <p:sp>
        <p:nvSpPr>
          <p:cNvPr id="7" name="Text 5"/>
          <p:cNvSpPr txBox="1"/>
          <p:nvPr/>
        </p:nvSpPr>
        <p:spPr>
          <a:xfrm>
            <a:off x="5181448" y="3520440"/>
            <a:ext cx="1828800" cy="914400"/>
          </a:xfrm>
          <a:prstGeom prst="rect">
            <a:avLst/>
          </a:prstGeom>
          <a:noFill/>
          <a:ln/>
        </p:spPr>
        <p:txBody>
          <a:bodyPr wrap="square" lIns="0" tIns="0" rIns="0" bIns="0" rtlCol="0" anchor="ctr"/>
          <a:lstStyle/>
          <a:p>
            <a:pPr algn="ctr" indent="0" marL="0">
              <a:buNone/>
            </a:pPr>
            <a:r>
              <a:rPr lang="en-US" sz="1800" b="1" dirty="0">
                <a:solidFill>
                  <a:schemeClr val="bg1"/>
                </a:solidFill>
              </a:rPr>
              <a:t>Student</a:t>
            </a:r>
            <a:endParaRPr lang="en-US" sz="1800" dirty="0"/>
          </a:p>
          <a:p>
            <a:pPr algn="ctr" indent="0" marL="0">
              <a:buNone/>
            </a:pPr>
            <a:r>
              <a:rPr lang="en-US" sz="1800" b="1" dirty="0">
                <a:solidFill>
                  <a:schemeClr val="bg1"/>
                </a:solidFill>
              </a:rPr>
              <a:t>progress</a:t>
            </a:r>
            <a:endParaRPr lang="en-US" sz="1800" dirty="0"/>
          </a:p>
        </p:txBody>
      </p:sp>
      <p:sp>
        <p:nvSpPr>
          <p:cNvPr id="8" name="1  Plan"/>
          <p:cNvSpPr/>
          <p:nvPr/>
        </p:nvSpPr>
        <p:spPr>
          <a:xfrm>
            <a:off x="4907128" y="1943100"/>
            <a:ext cx="2377440" cy="868680"/>
          </a:xfrm>
          <a:prstGeom prst="roundRect">
            <a:avLst>
              <a:gd name="adj" fmla="val 12632"/>
            </a:avLst>
          </a:prstGeom>
          <a:solidFill>
            <a:schemeClr val="accent1"/>
          </a:solidFill>
          <a:ln/>
        </p:spPr>
      </p:sp>
      <p:sp>
        <p:nvSpPr>
          <p:cNvPr id="9" name="Text 7"/>
          <p:cNvSpPr txBox="1"/>
          <p:nvPr/>
        </p:nvSpPr>
        <p:spPr>
          <a:xfrm>
            <a:off x="5044288" y="1943100"/>
            <a:ext cx="2103120" cy="868680"/>
          </a:xfrm>
          <a:prstGeom prst="rect">
            <a:avLst/>
          </a:prstGeom>
          <a:noFill/>
          <a:ln/>
        </p:spPr>
        <p:txBody>
          <a:bodyPr wrap="square" lIns="0" tIns="0" rIns="0" bIns="0" rtlCol="0" anchor="ctr"/>
          <a:lstStyle/>
          <a:p>
            <a:pPr algn="ctr" indent="0" marL="0">
              <a:buNone/>
            </a:pPr>
            <a:r>
              <a:rPr lang="en-US" sz="1700" b="1" dirty="0">
                <a:solidFill>
                  <a:schemeClr val="bg1"/>
                </a:solidFill>
              </a:rPr>
              <a:t>1  Plan</a:t>
            </a:r>
            <a:endParaRPr lang="en-US" sz="1500" dirty="0"/>
          </a:p>
          <a:p>
            <a:pPr algn="ctr" indent="0" marL="0">
              <a:buNone/>
            </a:pPr>
            <a:r>
              <a:rPr lang="en-US" sz="1300" dirty="0">
                <a:solidFill>
                  <a:schemeClr val="bg1"/>
                </a:solidFill>
              </a:rPr>
              <a:t>Syllabus, calendar, targets</a:t>
            </a:r>
            <a:endParaRPr lang="en-US" sz="1500" dirty="0"/>
          </a:p>
        </p:txBody>
      </p:sp>
      <p:sp>
        <p:nvSpPr>
          <p:cNvPr id="10" name="2  Teach"/>
          <p:cNvSpPr/>
          <p:nvPr/>
        </p:nvSpPr>
        <p:spPr>
          <a:xfrm>
            <a:off x="8153891" y="2743200"/>
            <a:ext cx="2377440" cy="868680"/>
          </a:xfrm>
          <a:prstGeom prst="roundRect">
            <a:avLst>
              <a:gd name="adj" fmla="val 12632"/>
            </a:avLst>
          </a:prstGeom>
          <a:solidFill>
            <a:schemeClr val="accent2"/>
          </a:solidFill>
          <a:ln/>
        </p:spPr>
      </p:sp>
      <p:sp>
        <p:nvSpPr>
          <p:cNvPr id="11" name="Text 9"/>
          <p:cNvSpPr txBox="1"/>
          <p:nvPr/>
        </p:nvSpPr>
        <p:spPr>
          <a:xfrm>
            <a:off x="8291051" y="2743200"/>
            <a:ext cx="2103120" cy="868680"/>
          </a:xfrm>
          <a:prstGeom prst="rect">
            <a:avLst/>
          </a:prstGeom>
          <a:noFill/>
          <a:ln/>
        </p:spPr>
        <p:txBody>
          <a:bodyPr wrap="square" lIns="0" tIns="0" rIns="0" bIns="0" rtlCol="0" anchor="ctr"/>
          <a:lstStyle/>
          <a:p>
            <a:pPr algn="ctr" indent="0" marL="0">
              <a:buNone/>
            </a:pPr>
            <a:r>
              <a:rPr lang="en-US" sz="1700" b="1" dirty="0">
                <a:solidFill>
                  <a:schemeClr val="bg1"/>
                </a:solidFill>
              </a:rPr>
              <a:t>2  Teach</a:t>
            </a:r>
            <a:endParaRPr lang="en-US" sz="1500" dirty="0"/>
          </a:p>
          <a:p>
            <a:pPr algn="ctr" indent="0" marL="0">
              <a:buNone/>
            </a:pPr>
            <a:r>
              <a:rPr lang="en-US" sz="1300" dirty="0">
                <a:solidFill>
                  <a:schemeClr val="bg1"/>
                </a:solidFill>
              </a:rPr>
              <a:t>Lessons and homework</a:t>
            </a:r>
            <a:endParaRPr lang="en-US" sz="1500" dirty="0"/>
          </a:p>
        </p:txBody>
      </p:sp>
      <p:sp>
        <p:nvSpPr>
          <p:cNvPr id="12" name="3  Test"/>
          <p:cNvSpPr/>
          <p:nvPr/>
        </p:nvSpPr>
        <p:spPr>
          <a:xfrm>
            <a:off x="8153891" y="4343400"/>
            <a:ext cx="2377440" cy="868680"/>
          </a:xfrm>
          <a:prstGeom prst="roundRect">
            <a:avLst>
              <a:gd name="adj" fmla="val 12632"/>
            </a:avLst>
          </a:prstGeom>
          <a:solidFill>
            <a:schemeClr val="accent3"/>
          </a:solidFill>
          <a:ln/>
        </p:spPr>
      </p:sp>
      <p:sp>
        <p:nvSpPr>
          <p:cNvPr id="13" name="Text 11"/>
          <p:cNvSpPr txBox="1"/>
          <p:nvPr/>
        </p:nvSpPr>
        <p:spPr>
          <a:xfrm>
            <a:off x="8291051" y="4343400"/>
            <a:ext cx="2103120" cy="868680"/>
          </a:xfrm>
          <a:prstGeom prst="rect">
            <a:avLst/>
          </a:prstGeom>
          <a:noFill/>
          <a:ln/>
        </p:spPr>
        <p:txBody>
          <a:bodyPr wrap="square" lIns="0" tIns="0" rIns="0" bIns="0" rtlCol="0" anchor="ctr"/>
          <a:lstStyle/>
          <a:p>
            <a:pPr algn="ctr" indent="0" marL="0">
              <a:buNone/>
            </a:pPr>
            <a:r>
              <a:rPr lang="en-US" sz="1700" b="1" dirty="0">
                <a:solidFill>
                  <a:schemeClr val="bg1"/>
                </a:solidFill>
              </a:rPr>
              <a:t>3  Test</a:t>
            </a:r>
            <a:endParaRPr lang="en-US" sz="1500" dirty="0"/>
          </a:p>
          <a:p>
            <a:pPr algn="ctr" indent="0" marL="0">
              <a:buNone/>
            </a:pPr>
            <a:r>
              <a:rPr lang="en-US" sz="1300" dirty="0">
                <a:solidFill>
                  <a:schemeClr val="bg1"/>
                </a:solidFill>
              </a:rPr>
              <a:t>Quizzes and exams</a:t>
            </a:r>
            <a:endParaRPr lang="en-US" sz="1500" dirty="0"/>
          </a:p>
        </p:txBody>
      </p:sp>
      <p:sp>
        <p:nvSpPr>
          <p:cNvPr id="14" name="4  Find gaps"/>
          <p:cNvSpPr/>
          <p:nvPr/>
        </p:nvSpPr>
        <p:spPr>
          <a:xfrm>
            <a:off x="4907128" y="5143500"/>
            <a:ext cx="2377440" cy="868680"/>
          </a:xfrm>
          <a:prstGeom prst="roundRect">
            <a:avLst>
              <a:gd name="adj" fmla="val 12632"/>
            </a:avLst>
          </a:prstGeom>
          <a:solidFill>
            <a:schemeClr val="accent4"/>
          </a:solidFill>
          <a:ln/>
        </p:spPr>
      </p:sp>
      <p:sp>
        <p:nvSpPr>
          <p:cNvPr id="15" name="Text 13"/>
          <p:cNvSpPr txBox="1"/>
          <p:nvPr/>
        </p:nvSpPr>
        <p:spPr>
          <a:xfrm>
            <a:off x="5044288" y="5143500"/>
            <a:ext cx="2103120" cy="868680"/>
          </a:xfrm>
          <a:prstGeom prst="rect">
            <a:avLst/>
          </a:prstGeom>
          <a:noFill/>
          <a:ln/>
        </p:spPr>
        <p:txBody>
          <a:bodyPr wrap="square" lIns="0" tIns="0" rIns="0" bIns="0" rtlCol="0" anchor="ctr"/>
          <a:lstStyle/>
          <a:p>
            <a:pPr algn="ctr" indent="0" marL="0">
              <a:buNone/>
            </a:pPr>
            <a:r>
              <a:rPr lang="en-US" sz="1700" b="1" dirty="0">
                <a:solidFill>
                  <a:schemeClr val="bg1"/>
                </a:solidFill>
              </a:rPr>
              <a:t>4  Find gaps</a:t>
            </a:r>
            <a:endParaRPr lang="en-US" sz="1500" dirty="0"/>
          </a:p>
          <a:p>
            <a:pPr algn="ctr" indent="0" marL="0">
              <a:buNone/>
            </a:pPr>
            <a:r>
              <a:rPr lang="en-US" sz="1300" dirty="0">
                <a:solidFill>
                  <a:schemeClr val="bg1"/>
                </a:solidFill>
              </a:rPr>
              <a:t>Weak topics, absences</a:t>
            </a:r>
            <a:endParaRPr lang="en-US" sz="1500" dirty="0"/>
          </a:p>
        </p:txBody>
      </p:sp>
      <p:sp>
        <p:nvSpPr>
          <p:cNvPr id="16" name="5  Practise"/>
          <p:cNvSpPr/>
          <p:nvPr/>
        </p:nvSpPr>
        <p:spPr>
          <a:xfrm>
            <a:off x="1660364" y="4343400"/>
            <a:ext cx="2377440" cy="868680"/>
          </a:xfrm>
          <a:prstGeom prst="roundRect">
            <a:avLst>
              <a:gd name="adj" fmla="val 12632"/>
            </a:avLst>
          </a:prstGeom>
          <a:solidFill>
            <a:schemeClr val="accent5"/>
          </a:solidFill>
          <a:ln/>
        </p:spPr>
      </p:sp>
      <p:sp>
        <p:nvSpPr>
          <p:cNvPr id="17" name="Text 15"/>
          <p:cNvSpPr txBox="1"/>
          <p:nvPr/>
        </p:nvSpPr>
        <p:spPr>
          <a:xfrm>
            <a:off x="1797524" y="4343400"/>
            <a:ext cx="2103120" cy="868680"/>
          </a:xfrm>
          <a:prstGeom prst="rect">
            <a:avLst/>
          </a:prstGeom>
          <a:noFill/>
          <a:ln/>
        </p:spPr>
        <p:txBody>
          <a:bodyPr wrap="square" lIns="0" tIns="0" rIns="0" bIns="0" rtlCol="0" anchor="ctr"/>
          <a:lstStyle/>
          <a:p>
            <a:pPr algn="ctr" indent="0" marL="0">
              <a:buNone/>
            </a:pPr>
            <a:r>
              <a:rPr lang="en-US" sz="1700" b="1" dirty="0">
                <a:solidFill>
                  <a:schemeClr val="bg1"/>
                </a:solidFill>
              </a:rPr>
              <a:t>5  Practise</a:t>
            </a:r>
            <a:endParaRPr lang="en-US" sz="1500" dirty="0"/>
          </a:p>
          <a:p>
            <a:pPr algn="ctr" indent="0" marL="0">
              <a:buNone/>
            </a:pPr>
            <a:r>
              <a:rPr lang="en-US" sz="1300" dirty="0">
                <a:solidFill>
                  <a:schemeClr val="bg1"/>
                </a:solidFill>
              </a:rPr>
              <a:t>Personal revision</a:t>
            </a:r>
            <a:endParaRPr lang="en-US" sz="1500" dirty="0"/>
          </a:p>
        </p:txBody>
      </p:sp>
      <p:sp>
        <p:nvSpPr>
          <p:cNvPr id="18" name="6  Review"/>
          <p:cNvSpPr/>
          <p:nvPr/>
        </p:nvSpPr>
        <p:spPr>
          <a:xfrm>
            <a:off x="1660364" y="2743200"/>
            <a:ext cx="2377440" cy="868680"/>
          </a:xfrm>
          <a:prstGeom prst="roundRect">
            <a:avLst>
              <a:gd name="adj" fmla="val 12632"/>
            </a:avLst>
          </a:prstGeom>
          <a:solidFill>
            <a:schemeClr val="accent6"/>
          </a:solidFill>
          <a:ln/>
        </p:spPr>
      </p:sp>
      <p:sp>
        <p:nvSpPr>
          <p:cNvPr id="19" name="Text 17"/>
          <p:cNvSpPr txBox="1"/>
          <p:nvPr/>
        </p:nvSpPr>
        <p:spPr>
          <a:xfrm>
            <a:off x="1797524" y="2743200"/>
            <a:ext cx="2103120" cy="868680"/>
          </a:xfrm>
          <a:prstGeom prst="rect">
            <a:avLst/>
          </a:prstGeom>
          <a:noFill/>
          <a:ln/>
        </p:spPr>
        <p:txBody>
          <a:bodyPr wrap="square" lIns="0" tIns="0" rIns="0" bIns="0" rtlCol="0" anchor="ctr"/>
          <a:lstStyle/>
          <a:p>
            <a:pPr algn="ctr" indent="0" marL="0">
              <a:buNone/>
            </a:pPr>
            <a:r>
              <a:rPr lang="en-US" sz="1700" b="1" dirty="0">
                <a:solidFill>
                  <a:schemeClr val="bg1"/>
                </a:solidFill>
              </a:rPr>
              <a:t>6  Review</a:t>
            </a:r>
            <a:endParaRPr lang="en-US" sz="1500" dirty="0"/>
          </a:p>
          <a:p>
            <a:pPr algn="ctr" indent="0" marL="0">
              <a:buNone/>
            </a:pPr>
            <a:r>
              <a:rPr lang="en-US" sz="1300" dirty="0">
                <a:solidFill>
                  <a:schemeClr val="bg1"/>
                </a:solidFill>
              </a:rPr>
              <a:t>Teacher follows up</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Everyone gets exactly what they need</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Same school data — a different, simple screen for each role.</a:t>
            </a:r>
            <a:endParaRPr lang="en-US" sz="1600" dirty="0"/>
          </a:p>
        </p:txBody>
      </p:sp>
      <p:sp>
        <p:nvSpPr>
          <p:cNvPr id="5" name="Student"/>
          <p:cNvSpPr/>
          <p:nvPr/>
        </p:nvSpPr>
        <p:spPr>
          <a:xfrm>
            <a:off x="548640" y="182880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Student circle"/>
          <p:cNvSpPr/>
          <p:nvPr/>
        </p:nvSpPr>
        <p:spPr>
          <a:xfrm>
            <a:off x="822960" y="2103120"/>
            <a:ext cx="685800" cy="685800"/>
          </a:xfrm>
          <a:prstGeom prst="ellipse">
            <a:avLst/>
          </a:prstGeom>
          <a:solidFill>
            <a:schemeClr val="accent1"/>
          </a:solidFill>
          <a:ln/>
        </p:spPr>
      </p:sp>
      <p:pic>
        <p:nvPicPr>
          <p:cNvPr id="7" name="Student icon" descr="Student">    </p:cNvPr>
          <p:cNvPicPr>
            <a:picLocks noChangeAspect="1"/>
          </p:cNvPicPr>
          <p:nvPr/>
        </p:nvPicPr>
        <p:blipFill>
          <a:blip r:embed="rId1"/>
          <a:stretch>
            <a:fillRect/>
          </a:stretch>
        </p:blipFill>
        <p:spPr>
          <a:xfrm>
            <a:off x="994410" y="2274570"/>
            <a:ext cx="342900" cy="342900"/>
          </a:xfrm>
          <a:prstGeom prst="rect">
            <a:avLst/>
          </a:prstGeom>
        </p:spPr>
      </p:pic>
      <p:sp>
        <p:nvSpPr>
          <p:cNvPr id="8" name="Text 5"/>
          <p:cNvSpPr txBox="1"/>
          <p:nvPr/>
        </p:nvSpPr>
        <p:spPr>
          <a:xfrm>
            <a:off x="1691640" y="210312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Student</a:t>
            </a:r>
            <a:endParaRPr lang="en-US" sz="1700" dirty="0"/>
          </a:p>
        </p:txBody>
      </p:sp>
      <p:sp>
        <p:nvSpPr>
          <p:cNvPr id="9" name="Text 6"/>
          <p:cNvSpPr txBox="1"/>
          <p:nvPr/>
        </p:nvSpPr>
        <p:spPr>
          <a:xfrm>
            <a:off x="822960" y="2880360"/>
            <a:ext cx="3017520" cy="640080"/>
          </a:xfrm>
          <a:prstGeom prst="rect">
            <a:avLst/>
          </a:prstGeom>
          <a:noFill/>
          <a:ln/>
        </p:spPr>
        <p:txBody>
          <a:bodyPr wrap="square" lIns="0" tIns="0" rIns="0" bIns="0" rtlCol="0" anchor="t"/>
          <a:lstStyle/>
          <a:p>
            <a:pPr indent="0" marL="0">
              <a:buNone/>
            </a:pPr>
            <a:r>
              <a:rPr lang="en-US" sz="1400" dirty="0">
                <a:solidFill>
                  <a:schemeClr val="tx1"/>
                </a:solidFill>
              </a:rPr>
              <a:t>Learn, practise, ask doubts, see own progress</a:t>
            </a:r>
            <a:endParaRPr lang="en-US" sz="1400" dirty="0"/>
          </a:p>
        </p:txBody>
      </p:sp>
      <p:sp>
        <p:nvSpPr>
          <p:cNvPr id="10" name="Parent"/>
          <p:cNvSpPr/>
          <p:nvPr/>
        </p:nvSpPr>
        <p:spPr>
          <a:xfrm>
            <a:off x="4297680" y="182880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Parent circle"/>
          <p:cNvSpPr/>
          <p:nvPr/>
        </p:nvSpPr>
        <p:spPr>
          <a:xfrm>
            <a:off x="4572000" y="2103120"/>
            <a:ext cx="685800" cy="685800"/>
          </a:xfrm>
          <a:prstGeom prst="ellipse">
            <a:avLst/>
          </a:prstGeom>
          <a:solidFill>
            <a:schemeClr val="accent2"/>
          </a:solidFill>
          <a:ln/>
        </p:spPr>
      </p:sp>
      <p:pic>
        <p:nvPicPr>
          <p:cNvPr id="12" name="Parent icon" descr="Parent">    </p:cNvPr>
          <p:cNvPicPr>
            <a:picLocks noChangeAspect="1"/>
          </p:cNvPicPr>
          <p:nvPr/>
        </p:nvPicPr>
        <p:blipFill>
          <a:blip r:embed="rId2"/>
          <a:stretch>
            <a:fillRect/>
          </a:stretch>
        </p:blipFill>
        <p:spPr>
          <a:xfrm>
            <a:off x="4743450" y="2274570"/>
            <a:ext cx="342900" cy="342900"/>
          </a:xfrm>
          <a:prstGeom prst="rect">
            <a:avLst/>
          </a:prstGeom>
        </p:spPr>
      </p:pic>
      <p:sp>
        <p:nvSpPr>
          <p:cNvPr id="13" name="Text 9"/>
          <p:cNvSpPr txBox="1"/>
          <p:nvPr/>
        </p:nvSpPr>
        <p:spPr>
          <a:xfrm>
            <a:off x="5440680" y="210312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Parent</a:t>
            </a:r>
            <a:endParaRPr lang="en-US" sz="1700" dirty="0"/>
          </a:p>
        </p:txBody>
      </p:sp>
      <p:sp>
        <p:nvSpPr>
          <p:cNvPr id="14" name="Text 10"/>
          <p:cNvSpPr txBox="1"/>
          <p:nvPr/>
        </p:nvSpPr>
        <p:spPr>
          <a:xfrm>
            <a:off x="4572000" y="2880360"/>
            <a:ext cx="3017520" cy="640080"/>
          </a:xfrm>
          <a:prstGeom prst="rect">
            <a:avLst/>
          </a:prstGeom>
          <a:noFill/>
          <a:ln/>
        </p:spPr>
        <p:txBody>
          <a:bodyPr wrap="square" lIns="0" tIns="0" rIns="0" bIns="0" rtlCol="0" anchor="t"/>
          <a:lstStyle/>
          <a:p>
            <a:pPr indent="0" marL="0">
              <a:buNone/>
            </a:pPr>
            <a:r>
              <a:rPr lang="en-US" sz="1400" dirty="0">
                <a:solidFill>
                  <a:schemeClr val="tx1"/>
                </a:solidFill>
              </a:rPr>
              <a:t>Attendance, notices, marks and what to do next</a:t>
            </a:r>
            <a:endParaRPr lang="en-US" sz="1400" dirty="0"/>
          </a:p>
        </p:txBody>
      </p:sp>
      <p:sp>
        <p:nvSpPr>
          <p:cNvPr id="15" name="Teacher"/>
          <p:cNvSpPr/>
          <p:nvPr/>
        </p:nvSpPr>
        <p:spPr>
          <a:xfrm>
            <a:off x="8046720" y="182880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Teacher circle"/>
          <p:cNvSpPr/>
          <p:nvPr/>
        </p:nvSpPr>
        <p:spPr>
          <a:xfrm>
            <a:off x="8321040" y="2103120"/>
            <a:ext cx="685800" cy="685800"/>
          </a:xfrm>
          <a:prstGeom prst="ellipse">
            <a:avLst/>
          </a:prstGeom>
          <a:solidFill>
            <a:schemeClr val="accent3"/>
          </a:solidFill>
          <a:ln/>
        </p:spPr>
      </p:sp>
      <p:pic>
        <p:nvPicPr>
          <p:cNvPr id="17" name="Teacher icon" descr="Teacher">    </p:cNvPr>
          <p:cNvPicPr>
            <a:picLocks noChangeAspect="1"/>
          </p:cNvPicPr>
          <p:nvPr/>
        </p:nvPicPr>
        <p:blipFill>
          <a:blip r:embed="rId3"/>
          <a:stretch>
            <a:fillRect/>
          </a:stretch>
        </p:blipFill>
        <p:spPr>
          <a:xfrm>
            <a:off x="8492490" y="2274570"/>
            <a:ext cx="342900" cy="342900"/>
          </a:xfrm>
          <a:prstGeom prst="rect">
            <a:avLst/>
          </a:prstGeom>
        </p:spPr>
      </p:pic>
      <p:sp>
        <p:nvSpPr>
          <p:cNvPr id="18" name="Text 13"/>
          <p:cNvSpPr txBox="1"/>
          <p:nvPr/>
        </p:nvSpPr>
        <p:spPr>
          <a:xfrm>
            <a:off x="9189720" y="210312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Teacher</a:t>
            </a:r>
            <a:endParaRPr lang="en-US" sz="1700" dirty="0"/>
          </a:p>
        </p:txBody>
      </p:sp>
      <p:sp>
        <p:nvSpPr>
          <p:cNvPr id="19" name="Text 14"/>
          <p:cNvSpPr txBox="1"/>
          <p:nvPr/>
        </p:nvSpPr>
        <p:spPr>
          <a:xfrm>
            <a:off x="8321040" y="2880360"/>
            <a:ext cx="3017520" cy="640080"/>
          </a:xfrm>
          <a:prstGeom prst="rect">
            <a:avLst/>
          </a:prstGeom>
          <a:noFill/>
          <a:ln/>
        </p:spPr>
        <p:txBody>
          <a:bodyPr wrap="square" lIns="0" tIns="0" rIns="0" bIns="0" rtlCol="0" anchor="t"/>
          <a:lstStyle/>
          <a:p>
            <a:pPr indent="0" marL="0">
              <a:buNone/>
            </a:pPr>
            <a:r>
              <a:rPr lang="en-US" sz="1400" dirty="0">
                <a:solidFill>
                  <a:schemeClr val="tx1"/>
                </a:solidFill>
              </a:rPr>
              <a:t>Plan, teach, test and help weak learners — with less paperwork</a:t>
            </a:r>
            <a:endParaRPr lang="en-US" sz="1400" dirty="0"/>
          </a:p>
        </p:txBody>
      </p:sp>
      <p:sp>
        <p:nvSpPr>
          <p:cNvPr id="20" name="Headmaster / school admin"/>
          <p:cNvSpPr/>
          <p:nvPr/>
        </p:nvSpPr>
        <p:spPr>
          <a:xfrm>
            <a:off x="548640" y="379476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Headmaster / school admin circle"/>
          <p:cNvSpPr/>
          <p:nvPr/>
        </p:nvSpPr>
        <p:spPr>
          <a:xfrm>
            <a:off x="822960" y="4069080"/>
            <a:ext cx="685800" cy="685800"/>
          </a:xfrm>
          <a:prstGeom prst="ellipse">
            <a:avLst/>
          </a:prstGeom>
          <a:solidFill>
            <a:schemeClr val="accent4"/>
          </a:solidFill>
          <a:ln/>
        </p:spPr>
      </p:sp>
      <p:pic>
        <p:nvPicPr>
          <p:cNvPr id="22" name="Headmaster / school admin icon" descr="Headmaster / school admin">    </p:cNvPr>
          <p:cNvPicPr>
            <a:picLocks noChangeAspect="1"/>
          </p:cNvPicPr>
          <p:nvPr/>
        </p:nvPicPr>
        <p:blipFill>
          <a:blip r:embed="rId4"/>
          <a:stretch>
            <a:fillRect/>
          </a:stretch>
        </p:blipFill>
        <p:spPr>
          <a:xfrm>
            <a:off x="994410" y="4240530"/>
            <a:ext cx="342900" cy="342900"/>
          </a:xfrm>
          <a:prstGeom prst="rect">
            <a:avLst/>
          </a:prstGeom>
        </p:spPr>
      </p:pic>
      <p:sp>
        <p:nvSpPr>
          <p:cNvPr id="23" name="Text 17"/>
          <p:cNvSpPr txBox="1"/>
          <p:nvPr/>
        </p:nvSpPr>
        <p:spPr>
          <a:xfrm>
            <a:off x="1691640" y="406908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Headmaster / school admin</a:t>
            </a:r>
            <a:endParaRPr lang="en-US" sz="1700" dirty="0"/>
          </a:p>
        </p:txBody>
      </p:sp>
      <p:sp>
        <p:nvSpPr>
          <p:cNvPr id="24" name="Text 18"/>
          <p:cNvSpPr txBox="1"/>
          <p:nvPr/>
        </p:nvSpPr>
        <p:spPr>
          <a:xfrm>
            <a:off x="822960" y="4846320"/>
            <a:ext cx="3017520" cy="640080"/>
          </a:xfrm>
          <a:prstGeom prst="rect">
            <a:avLst/>
          </a:prstGeom>
          <a:noFill/>
          <a:ln/>
        </p:spPr>
        <p:txBody>
          <a:bodyPr wrap="square" lIns="0" tIns="0" rIns="0" bIns="0" rtlCol="0" anchor="t"/>
          <a:lstStyle/>
          <a:p>
            <a:pPr indent="0" marL="0">
              <a:buNone/>
            </a:pPr>
            <a:r>
              <a:rPr lang="en-US" sz="1400" dirty="0">
                <a:solidFill>
                  <a:schemeClr val="tx1"/>
                </a:solidFill>
              </a:rPr>
              <a:t>Calendar, teacher availability, substitutes and school reports</a:t>
            </a:r>
            <a:endParaRPr lang="en-US" sz="1400" dirty="0"/>
          </a:p>
        </p:txBody>
      </p:sp>
      <p:sp>
        <p:nvSpPr>
          <p:cNvPr id="25" name="Block and district officers"/>
          <p:cNvSpPr/>
          <p:nvPr/>
        </p:nvSpPr>
        <p:spPr>
          <a:xfrm>
            <a:off x="4297680" y="379476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6" name="Block and district officers circle"/>
          <p:cNvSpPr/>
          <p:nvPr/>
        </p:nvSpPr>
        <p:spPr>
          <a:xfrm>
            <a:off x="4572000" y="4069080"/>
            <a:ext cx="685800" cy="685800"/>
          </a:xfrm>
          <a:prstGeom prst="ellipse">
            <a:avLst/>
          </a:prstGeom>
          <a:solidFill>
            <a:schemeClr val="accent5"/>
          </a:solidFill>
          <a:ln/>
        </p:spPr>
      </p:sp>
      <p:pic>
        <p:nvPicPr>
          <p:cNvPr id="27" name="Block and district officers icon" descr="Block and district officers">    </p:cNvPr>
          <p:cNvPicPr>
            <a:picLocks noChangeAspect="1"/>
          </p:cNvPicPr>
          <p:nvPr/>
        </p:nvPicPr>
        <p:blipFill>
          <a:blip r:embed="rId5"/>
          <a:stretch>
            <a:fillRect/>
          </a:stretch>
        </p:blipFill>
        <p:spPr>
          <a:xfrm>
            <a:off x="4743450" y="4240530"/>
            <a:ext cx="342900" cy="342900"/>
          </a:xfrm>
          <a:prstGeom prst="rect">
            <a:avLst/>
          </a:prstGeom>
        </p:spPr>
      </p:pic>
      <p:sp>
        <p:nvSpPr>
          <p:cNvPr id="28" name="Text 21"/>
          <p:cNvSpPr txBox="1"/>
          <p:nvPr/>
        </p:nvSpPr>
        <p:spPr>
          <a:xfrm>
            <a:off x="5440680" y="406908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Block and district officers</a:t>
            </a:r>
            <a:endParaRPr lang="en-US" sz="1700" dirty="0"/>
          </a:p>
        </p:txBody>
      </p:sp>
      <p:sp>
        <p:nvSpPr>
          <p:cNvPr id="29" name="Text 22"/>
          <p:cNvSpPr txBox="1"/>
          <p:nvPr/>
        </p:nvSpPr>
        <p:spPr>
          <a:xfrm>
            <a:off x="4572000" y="4846320"/>
            <a:ext cx="3017520" cy="640080"/>
          </a:xfrm>
          <a:prstGeom prst="rect">
            <a:avLst/>
          </a:prstGeom>
          <a:noFill/>
          <a:ln/>
        </p:spPr>
        <p:txBody>
          <a:bodyPr wrap="square" lIns="0" tIns="0" rIns="0" bIns="0" rtlCol="0" anchor="t"/>
          <a:lstStyle/>
          <a:p>
            <a:pPr indent="0" marL="0">
              <a:buNone/>
            </a:pPr>
            <a:r>
              <a:rPr lang="en-US" sz="1400" dirty="0">
                <a:solidFill>
                  <a:schemeClr val="tx1"/>
                </a:solidFill>
              </a:rPr>
              <a:t>Compare schools, spot those needing support, plan with evidence</a:t>
            </a:r>
            <a:endParaRPr lang="en-US" sz="1400" dirty="0"/>
          </a:p>
        </p:txBody>
      </p:sp>
      <p:sp>
        <p:nvSpPr>
          <p:cNvPr id="30" name="Platform admin"/>
          <p:cNvSpPr/>
          <p:nvPr/>
        </p:nvSpPr>
        <p:spPr>
          <a:xfrm>
            <a:off x="8046720" y="379476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1" name="Platform admin circle"/>
          <p:cNvSpPr/>
          <p:nvPr/>
        </p:nvSpPr>
        <p:spPr>
          <a:xfrm>
            <a:off x="8321040" y="4069080"/>
            <a:ext cx="685800" cy="685800"/>
          </a:xfrm>
          <a:prstGeom prst="ellipse">
            <a:avLst/>
          </a:prstGeom>
          <a:solidFill>
            <a:schemeClr val="accent6"/>
          </a:solidFill>
          <a:ln/>
        </p:spPr>
      </p:sp>
      <p:pic>
        <p:nvPicPr>
          <p:cNvPr id="32" name="Platform admin icon" descr="Platform admin">    </p:cNvPr>
          <p:cNvPicPr>
            <a:picLocks noChangeAspect="1"/>
          </p:cNvPicPr>
          <p:nvPr/>
        </p:nvPicPr>
        <p:blipFill>
          <a:blip r:embed="rId6"/>
          <a:stretch>
            <a:fillRect/>
          </a:stretch>
        </p:blipFill>
        <p:spPr>
          <a:xfrm>
            <a:off x="8492490" y="4240530"/>
            <a:ext cx="342900" cy="342900"/>
          </a:xfrm>
          <a:prstGeom prst="rect">
            <a:avLst/>
          </a:prstGeom>
        </p:spPr>
      </p:pic>
      <p:sp>
        <p:nvSpPr>
          <p:cNvPr id="33" name="Text 25"/>
          <p:cNvSpPr txBox="1"/>
          <p:nvPr/>
        </p:nvSpPr>
        <p:spPr>
          <a:xfrm>
            <a:off x="9189720" y="406908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Platform admin</a:t>
            </a:r>
            <a:endParaRPr lang="en-US" sz="1700" dirty="0"/>
          </a:p>
        </p:txBody>
      </p:sp>
      <p:sp>
        <p:nvSpPr>
          <p:cNvPr id="34" name="Text 26"/>
          <p:cNvSpPr txBox="1"/>
          <p:nvPr/>
        </p:nvSpPr>
        <p:spPr>
          <a:xfrm>
            <a:off x="8321040" y="4846320"/>
            <a:ext cx="3017520" cy="640080"/>
          </a:xfrm>
          <a:prstGeom prst="rect">
            <a:avLst/>
          </a:prstGeom>
          <a:noFill/>
          <a:ln/>
        </p:spPr>
        <p:txBody>
          <a:bodyPr wrap="square" lIns="0" tIns="0" rIns="0" bIns="0" rtlCol="0" anchor="t"/>
          <a:lstStyle/>
          <a:p>
            <a:pPr indent="0" marL="0">
              <a:buNone/>
            </a:pPr>
            <a:r>
              <a:rPr lang="en-US" sz="1400" dirty="0">
                <a:solidFill>
                  <a:schemeClr val="tx1"/>
                </a:solidFill>
              </a:rPr>
              <a:t>Security, adoption, audit logs and settings</a:t>
            </a:r>
            <a:endParaRPr lang="en-US" sz="1400" dirty="0"/>
          </a:p>
        </p:txBody>
      </p:sp>
      <p:sp>
        <p:nvSpPr>
          <p:cNvPr id="35" name="Text 27"/>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400" i="1" dirty="0">
                <a:solidFill>
                  <a:schemeClr val="accent1"/>
                </a:solidFill>
              </a:rPr>
              <a:t>Each person sees only their own school and role. Sensitive actions are logged.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All 14 FRD modules, mapped to releases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Aligned to the LMS FRD v0.1 (13 October 2026) — every module has a clear home.</a:t>
            </a:r>
            <a:endParaRPr lang="en-US" sz="1600" dirty="0"/>
          </a:p>
        </p:txBody>
      </p:sp>
      <p:sp>
        <p:nvSpPr>
          <p:cNvPr id="5" name="module 1"/>
          <p:cNvSpPr/>
          <p:nvPr/>
        </p:nvSpPr>
        <p:spPr>
          <a:xfrm>
            <a:off x="548640" y="1828800"/>
            <a:ext cx="5440680" cy="493776"/>
          </a:xfrm>
          <a:prstGeom prst="roundRect">
            <a:avLst>
              <a:gd name="adj" fmla="val 22222"/>
            </a:avLst>
          </a:prstGeom>
          <a:solidFill>
            <a:schemeClr val="accent6">
              <a:alpha val="7000"/>
            </a:schemeClr>
          </a:solidFill>
          <a:ln/>
        </p:spPr>
      </p:sp>
      <p:sp>
        <p:nvSpPr>
          <p:cNvPr id="6" name="Text 4"/>
          <p:cNvSpPr txBox="1"/>
          <p:nvPr/>
        </p:nvSpPr>
        <p:spPr>
          <a:xfrm>
            <a:off x="731520" y="1828800"/>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01</a:t>
            </a:r>
            <a:endParaRPr lang="en-US" sz="1400" dirty="0"/>
          </a:p>
        </p:txBody>
      </p:sp>
      <p:sp>
        <p:nvSpPr>
          <p:cNvPr id="7" name="Text 5"/>
          <p:cNvSpPr txBox="1"/>
          <p:nvPr/>
        </p:nvSpPr>
        <p:spPr>
          <a:xfrm>
            <a:off x="1234440" y="1828800"/>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Academic planning</a:t>
            </a:r>
            <a:endParaRPr lang="en-US" sz="1500" dirty="0"/>
          </a:p>
        </p:txBody>
      </p:sp>
      <p:sp>
        <p:nvSpPr>
          <p:cNvPr id="8" name="phase chip"/>
          <p:cNvSpPr/>
          <p:nvPr/>
        </p:nvSpPr>
        <p:spPr>
          <a:xfrm>
            <a:off x="5093208" y="1929384"/>
            <a:ext cx="640080" cy="292608"/>
          </a:xfrm>
          <a:prstGeom prst="roundRect">
            <a:avLst>
              <a:gd name="adj" fmla="val 25000"/>
            </a:avLst>
          </a:prstGeom>
          <a:solidFill>
            <a:schemeClr val="accent2"/>
          </a:solidFill>
          <a:ln/>
        </p:spPr>
      </p:sp>
      <p:sp>
        <p:nvSpPr>
          <p:cNvPr id="9" name="Text 7"/>
          <p:cNvSpPr txBox="1"/>
          <p:nvPr/>
        </p:nvSpPr>
        <p:spPr>
          <a:xfrm>
            <a:off x="5093208" y="1929384"/>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P2</a:t>
            </a:r>
            <a:endParaRPr lang="en-US" sz="1100" dirty="0"/>
          </a:p>
        </p:txBody>
      </p:sp>
      <p:sp>
        <p:nvSpPr>
          <p:cNvPr id="10" name="module 2"/>
          <p:cNvSpPr/>
          <p:nvPr/>
        </p:nvSpPr>
        <p:spPr>
          <a:xfrm>
            <a:off x="548640" y="2404872"/>
            <a:ext cx="5440680" cy="493776"/>
          </a:xfrm>
          <a:prstGeom prst="roundRect">
            <a:avLst>
              <a:gd name="adj" fmla="val 22222"/>
            </a:avLst>
          </a:prstGeom>
          <a:solidFill>
            <a:schemeClr val="accent6">
              <a:alpha val="7000"/>
            </a:schemeClr>
          </a:solidFill>
          <a:ln/>
        </p:spPr>
      </p:sp>
      <p:sp>
        <p:nvSpPr>
          <p:cNvPr id="11" name="Text 9"/>
          <p:cNvSpPr txBox="1"/>
          <p:nvPr/>
        </p:nvSpPr>
        <p:spPr>
          <a:xfrm>
            <a:off x="731520" y="2404872"/>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02</a:t>
            </a:r>
            <a:endParaRPr lang="en-US" sz="1400" dirty="0"/>
          </a:p>
        </p:txBody>
      </p:sp>
      <p:sp>
        <p:nvSpPr>
          <p:cNvPr id="12" name="Text 10"/>
          <p:cNvSpPr txBox="1"/>
          <p:nvPr/>
        </p:nvSpPr>
        <p:spPr>
          <a:xfrm>
            <a:off x="1234440" y="2404872"/>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Curriculum and content</a:t>
            </a:r>
            <a:endParaRPr lang="en-US" sz="1500" dirty="0"/>
          </a:p>
        </p:txBody>
      </p:sp>
      <p:sp>
        <p:nvSpPr>
          <p:cNvPr id="13" name="phase chip"/>
          <p:cNvSpPr/>
          <p:nvPr/>
        </p:nvSpPr>
        <p:spPr>
          <a:xfrm>
            <a:off x="5093208" y="2505456"/>
            <a:ext cx="640080" cy="292608"/>
          </a:xfrm>
          <a:prstGeom prst="roundRect">
            <a:avLst>
              <a:gd name="adj" fmla="val 25000"/>
            </a:avLst>
          </a:prstGeom>
          <a:solidFill>
            <a:schemeClr val="accent1"/>
          </a:solidFill>
          <a:ln/>
        </p:spPr>
      </p:sp>
      <p:sp>
        <p:nvSpPr>
          <p:cNvPr id="14" name="Text 12"/>
          <p:cNvSpPr txBox="1"/>
          <p:nvPr/>
        </p:nvSpPr>
        <p:spPr>
          <a:xfrm>
            <a:off x="5093208" y="2505456"/>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P1</a:t>
            </a:r>
            <a:endParaRPr lang="en-US" sz="1100" dirty="0"/>
          </a:p>
        </p:txBody>
      </p:sp>
      <p:sp>
        <p:nvSpPr>
          <p:cNvPr id="15" name="module 3"/>
          <p:cNvSpPr/>
          <p:nvPr/>
        </p:nvSpPr>
        <p:spPr>
          <a:xfrm>
            <a:off x="548640" y="2980944"/>
            <a:ext cx="5440680" cy="493776"/>
          </a:xfrm>
          <a:prstGeom prst="roundRect">
            <a:avLst>
              <a:gd name="adj" fmla="val 22222"/>
            </a:avLst>
          </a:prstGeom>
          <a:solidFill>
            <a:schemeClr val="accent6">
              <a:alpha val="7000"/>
            </a:schemeClr>
          </a:solidFill>
          <a:ln/>
        </p:spPr>
      </p:sp>
      <p:sp>
        <p:nvSpPr>
          <p:cNvPr id="16" name="Text 14"/>
          <p:cNvSpPr txBox="1"/>
          <p:nvPr/>
        </p:nvSpPr>
        <p:spPr>
          <a:xfrm>
            <a:off x="731520" y="2980944"/>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03</a:t>
            </a:r>
            <a:endParaRPr lang="en-US" sz="1400" dirty="0"/>
          </a:p>
        </p:txBody>
      </p:sp>
      <p:sp>
        <p:nvSpPr>
          <p:cNvPr id="17" name="Text 15"/>
          <p:cNvSpPr txBox="1"/>
          <p:nvPr/>
        </p:nvSpPr>
        <p:spPr>
          <a:xfrm>
            <a:off x="1234440" y="2980944"/>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Teacher availability and substitutes</a:t>
            </a:r>
            <a:endParaRPr lang="en-US" sz="1500" dirty="0"/>
          </a:p>
        </p:txBody>
      </p:sp>
      <p:sp>
        <p:nvSpPr>
          <p:cNvPr id="18" name="phase chip"/>
          <p:cNvSpPr/>
          <p:nvPr/>
        </p:nvSpPr>
        <p:spPr>
          <a:xfrm>
            <a:off x="5093208" y="3081528"/>
            <a:ext cx="640080" cy="292608"/>
          </a:xfrm>
          <a:prstGeom prst="roundRect">
            <a:avLst>
              <a:gd name="adj" fmla="val 25000"/>
            </a:avLst>
          </a:prstGeom>
          <a:solidFill>
            <a:schemeClr val="accent3"/>
          </a:solidFill>
          <a:ln/>
        </p:spPr>
      </p:sp>
      <p:sp>
        <p:nvSpPr>
          <p:cNvPr id="19" name="Text 17"/>
          <p:cNvSpPr txBox="1"/>
          <p:nvPr/>
        </p:nvSpPr>
        <p:spPr>
          <a:xfrm>
            <a:off x="5093208" y="3081528"/>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P3</a:t>
            </a:r>
            <a:endParaRPr lang="en-US" sz="1100" dirty="0"/>
          </a:p>
        </p:txBody>
      </p:sp>
      <p:sp>
        <p:nvSpPr>
          <p:cNvPr id="20" name="module 4"/>
          <p:cNvSpPr/>
          <p:nvPr/>
        </p:nvSpPr>
        <p:spPr>
          <a:xfrm>
            <a:off x="548640" y="3557016"/>
            <a:ext cx="5440680" cy="493776"/>
          </a:xfrm>
          <a:prstGeom prst="roundRect">
            <a:avLst>
              <a:gd name="adj" fmla="val 22222"/>
            </a:avLst>
          </a:prstGeom>
          <a:solidFill>
            <a:schemeClr val="accent6">
              <a:alpha val="7000"/>
            </a:schemeClr>
          </a:solidFill>
          <a:ln/>
        </p:spPr>
      </p:sp>
      <p:sp>
        <p:nvSpPr>
          <p:cNvPr id="21" name="Text 19"/>
          <p:cNvSpPr txBox="1"/>
          <p:nvPr/>
        </p:nvSpPr>
        <p:spPr>
          <a:xfrm>
            <a:off x="731520" y="3557016"/>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04</a:t>
            </a:r>
            <a:endParaRPr lang="en-US" sz="1400" dirty="0"/>
          </a:p>
        </p:txBody>
      </p:sp>
      <p:sp>
        <p:nvSpPr>
          <p:cNvPr id="22" name="Text 20"/>
          <p:cNvSpPr txBox="1"/>
          <p:nvPr/>
        </p:nvSpPr>
        <p:spPr>
          <a:xfrm>
            <a:off x="1234440" y="3557016"/>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AI teaching assistant</a:t>
            </a:r>
            <a:endParaRPr lang="en-US" sz="1500" dirty="0"/>
          </a:p>
        </p:txBody>
      </p:sp>
      <p:sp>
        <p:nvSpPr>
          <p:cNvPr id="23" name="phase chip"/>
          <p:cNvSpPr/>
          <p:nvPr/>
        </p:nvSpPr>
        <p:spPr>
          <a:xfrm>
            <a:off x="5093208" y="3657600"/>
            <a:ext cx="640080" cy="292608"/>
          </a:xfrm>
          <a:prstGeom prst="roundRect">
            <a:avLst>
              <a:gd name="adj" fmla="val 25000"/>
            </a:avLst>
          </a:prstGeom>
          <a:solidFill>
            <a:schemeClr val="accent2"/>
          </a:solidFill>
          <a:ln/>
        </p:spPr>
      </p:sp>
      <p:sp>
        <p:nvSpPr>
          <p:cNvPr id="24" name="Text 22"/>
          <p:cNvSpPr txBox="1"/>
          <p:nvPr/>
        </p:nvSpPr>
        <p:spPr>
          <a:xfrm>
            <a:off x="5093208" y="3657600"/>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P2</a:t>
            </a:r>
            <a:endParaRPr lang="en-US" sz="1100" dirty="0"/>
          </a:p>
        </p:txBody>
      </p:sp>
      <p:sp>
        <p:nvSpPr>
          <p:cNvPr id="25" name="module 5"/>
          <p:cNvSpPr/>
          <p:nvPr/>
        </p:nvSpPr>
        <p:spPr>
          <a:xfrm>
            <a:off x="548640" y="4133088"/>
            <a:ext cx="5440680" cy="493776"/>
          </a:xfrm>
          <a:prstGeom prst="roundRect">
            <a:avLst>
              <a:gd name="adj" fmla="val 22222"/>
            </a:avLst>
          </a:prstGeom>
          <a:solidFill>
            <a:schemeClr val="accent6">
              <a:alpha val="7000"/>
            </a:schemeClr>
          </a:solidFill>
          <a:ln/>
        </p:spPr>
      </p:sp>
      <p:sp>
        <p:nvSpPr>
          <p:cNvPr id="26" name="Text 24"/>
          <p:cNvSpPr txBox="1"/>
          <p:nvPr/>
        </p:nvSpPr>
        <p:spPr>
          <a:xfrm>
            <a:off x="731520" y="4133088"/>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05</a:t>
            </a:r>
            <a:endParaRPr lang="en-US" sz="1400" dirty="0"/>
          </a:p>
        </p:txBody>
      </p:sp>
      <p:sp>
        <p:nvSpPr>
          <p:cNvPr id="27" name="Text 25"/>
          <p:cNvSpPr txBox="1"/>
          <p:nvPr/>
        </p:nvSpPr>
        <p:spPr>
          <a:xfrm>
            <a:off x="1234440" y="4133088"/>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AI avatar and personalised learning</a:t>
            </a:r>
            <a:endParaRPr lang="en-US" sz="1500" dirty="0"/>
          </a:p>
        </p:txBody>
      </p:sp>
      <p:sp>
        <p:nvSpPr>
          <p:cNvPr id="28" name="phase chip"/>
          <p:cNvSpPr/>
          <p:nvPr/>
        </p:nvSpPr>
        <p:spPr>
          <a:xfrm>
            <a:off x="4379976" y="4233672"/>
            <a:ext cx="640080" cy="292608"/>
          </a:xfrm>
          <a:prstGeom prst="roundRect">
            <a:avLst>
              <a:gd name="adj" fmla="val 25000"/>
            </a:avLst>
          </a:prstGeom>
          <a:solidFill>
            <a:schemeClr val="accent2"/>
          </a:solidFill>
          <a:ln/>
        </p:spPr>
      </p:sp>
      <p:sp>
        <p:nvSpPr>
          <p:cNvPr id="29" name="Text 27"/>
          <p:cNvSpPr txBox="1"/>
          <p:nvPr/>
        </p:nvSpPr>
        <p:spPr>
          <a:xfrm>
            <a:off x="4379976" y="4233672"/>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P2</a:t>
            </a:r>
            <a:endParaRPr lang="en-US" sz="1100" dirty="0"/>
          </a:p>
        </p:txBody>
      </p:sp>
      <p:sp>
        <p:nvSpPr>
          <p:cNvPr id="30" name="phase chip"/>
          <p:cNvSpPr/>
          <p:nvPr/>
        </p:nvSpPr>
        <p:spPr>
          <a:xfrm>
            <a:off x="5093208" y="4233672"/>
            <a:ext cx="640080" cy="292608"/>
          </a:xfrm>
          <a:prstGeom prst="roundRect">
            <a:avLst>
              <a:gd name="adj" fmla="val 25000"/>
            </a:avLst>
          </a:prstGeom>
          <a:solidFill>
            <a:schemeClr val="accent5"/>
          </a:solidFill>
          <a:ln/>
        </p:spPr>
      </p:sp>
      <p:sp>
        <p:nvSpPr>
          <p:cNvPr id="31" name="Text 29"/>
          <p:cNvSpPr txBox="1"/>
          <p:nvPr/>
        </p:nvSpPr>
        <p:spPr>
          <a:xfrm>
            <a:off x="5093208" y="4233672"/>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Later</a:t>
            </a:r>
            <a:endParaRPr lang="en-US" sz="1100" dirty="0"/>
          </a:p>
        </p:txBody>
      </p:sp>
      <p:sp>
        <p:nvSpPr>
          <p:cNvPr id="32" name="module 6"/>
          <p:cNvSpPr/>
          <p:nvPr/>
        </p:nvSpPr>
        <p:spPr>
          <a:xfrm>
            <a:off x="548640" y="4709160"/>
            <a:ext cx="5440680" cy="493776"/>
          </a:xfrm>
          <a:prstGeom prst="roundRect">
            <a:avLst>
              <a:gd name="adj" fmla="val 22222"/>
            </a:avLst>
          </a:prstGeom>
          <a:solidFill>
            <a:schemeClr val="accent6">
              <a:alpha val="7000"/>
            </a:schemeClr>
          </a:solidFill>
          <a:ln/>
        </p:spPr>
      </p:sp>
      <p:sp>
        <p:nvSpPr>
          <p:cNvPr id="33" name="Text 31"/>
          <p:cNvSpPr txBox="1"/>
          <p:nvPr/>
        </p:nvSpPr>
        <p:spPr>
          <a:xfrm>
            <a:off x="731520" y="4709160"/>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06</a:t>
            </a:r>
            <a:endParaRPr lang="en-US" sz="1400" dirty="0"/>
          </a:p>
        </p:txBody>
      </p:sp>
      <p:sp>
        <p:nvSpPr>
          <p:cNvPr id="34" name="Text 32"/>
          <p:cNvSpPr txBox="1"/>
          <p:nvPr/>
        </p:nvSpPr>
        <p:spPr>
          <a:xfrm>
            <a:off x="1234440" y="4709160"/>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3D and interactive learning</a:t>
            </a:r>
            <a:endParaRPr lang="en-US" sz="1500" dirty="0"/>
          </a:p>
        </p:txBody>
      </p:sp>
      <p:sp>
        <p:nvSpPr>
          <p:cNvPr id="35" name="phase chip"/>
          <p:cNvSpPr/>
          <p:nvPr/>
        </p:nvSpPr>
        <p:spPr>
          <a:xfrm>
            <a:off x="5093208" y="4809744"/>
            <a:ext cx="640080" cy="292608"/>
          </a:xfrm>
          <a:prstGeom prst="roundRect">
            <a:avLst>
              <a:gd name="adj" fmla="val 25000"/>
            </a:avLst>
          </a:prstGeom>
          <a:solidFill>
            <a:schemeClr val="accent5"/>
          </a:solidFill>
          <a:ln/>
        </p:spPr>
      </p:sp>
      <p:sp>
        <p:nvSpPr>
          <p:cNvPr id="36" name="Text 34"/>
          <p:cNvSpPr txBox="1"/>
          <p:nvPr/>
        </p:nvSpPr>
        <p:spPr>
          <a:xfrm>
            <a:off x="5093208" y="4809744"/>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Later</a:t>
            </a:r>
            <a:endParaRPr lang="en-US" sz="1100" dirty="0"/>
          </a:p>
        </p:txBody>
      </p:sp>
      <p:sp>
        <p:nvSpPr>
          <p:cNvPr id="37" name="module 7"/>
          <p:cNvSpPr/>
          <p:nvPr/>
        </p:nvSpPr>
        <p:spPr>
          <a:xfrm>
            <a:off x="548640" y="5285232"/>
            <a:ext cx="5440680" cy="493776"/>
          </a:xfrm>
          <a:prstGeom prst="roundRect">
            <a:avLst>
              <a:gd name="adj" fmla="val 22222"/>
            </a:avLst>
          </a:prstGeom>
          <a:solidFill>
            <a:schemeClr val="accent6">
              <a:alpha val="7000"/>
            </a:schemeClr>
          </a:solidFill>
          <a:ln/>
        </p:spPr>
      </p:sp>
      <p:sp>
        <p:nvSpPr>
          <p:cNvPr id="38" name="Text 36"/>
          <p:cNvSpPr txBox="1"/>
          <p:nvPr/>
        </p:nvSpPr>
        <p:spPr>
          <a:xfrm>
            <a:off x="731520" y="5285232"/>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07</a:t>
            </a:r>
            <a:endParaRPr lang="en-US" sz="1400" dirty="0"/>
          </a:p>
        </p:txBody>
      </p:sp>
      <p:sp>
        <p:nvSpPr>
          <p:cNvPr id="39" name="Text 37"/>
          <p:cNvSpPr txBox="1"/>
          <p:nvPr/>
        </p:nvSpPr>
        <p:spPr>
          <a:xfrm>
            <a:off x="1234440" y="5285232"/>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Assessments</a:t>
            </a:r>
            <a:endParaRPr lang="en-US" sz="1500" dirty="0"/>
          </a:p>
        </p:txBody>
      </p:sp>
      <p:sp>
        <p:nvSpPr>
          <p:cNvPr id="40" name="phase chip"/>
          <p:cNvSpPr/>
          <p:nvPr/>
        </p:nvSpPr>
        <p:spPr>
          <a:xfrm>
            <a:off x="5093208" y="5385816"/>
            <a:ext cx="640080" cy="292608"/>
          </a:xfrm>
          <a:prstGeom prst="roundRect">
            <a:avLst>
              <a:gd name="adj" fmla="val 25000"/>
            </a:avLst>
          </a:prstGeom>
          <a:solidFill>
            <a:schemeClr val="accent2"/>
          </a:solidFill>
          <a:ln/>
        </p:spPr>
      </p:sp>
      <p:sp>
        <p:nvSpPr>
          <p:cNvPr id="41" name="Text 39"/>
          <p:cNvSpPr txBox="1"/>
          <p:nvPr/>
        </p:nvSpPr>
        <p:spPr>
          <a:xfrm>
            <a:off x="5093208" y="5385816"/>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P2</a:t>
            </a:r>
            <a:endParaRPr lang="en-US" sz="1100" dirty="0"/>
          </a:p>
        </p:txBody>
      </p:sp>
      <p:sp>
        <p:nvSpPr>
          <p:cNvPr id="42" name="module 8"/>
          <p:cNvSpPr/>
          <p:nvPr/>
        </p:nvSpPr>
        <p:spPr>
          <a:xfrm>
            <a:off x="6172200" y="1828800"/>
            <a:ext cx="5440680" cy="493776"/>
          </a:xfrm>
          <a:prstGeom prst="roundRect">
            <a:avLst>
              <a:gd name="adj" fmla="val 22222"/>
            </a:avLst>
          </a:prstGeom>
          <a:solidFill>
            <a:schemeClr val="accent6">
              <a:alpha val="7000"/>
            </a:schemeClr>
          </a:solidFill>
          <a:ln/>
        </p:spPr>
      </p:sp>
      <p:sp>
        <p:nvSpPr>
          <p:cNvPr id="43" name="Text 41"/>
          <p:cNvSpPr txBox="1"/>
          <p:nvPr/>
        </p:nvSpPr>
        <p:spPr>
          <a:xfrm>
            <a:off x="6355080" y="1828800"/>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08</a:t>
            </a:r>
            <a:endParaRPr lang="en-US" sz="1400" dirty="0"/>
          </a:p>
        </p:txBody>
      </p:sp>
      <p:sp>
        <p:nvSpPr>
          <p:cNvPr id="44" name="Text 42"/>
          <p:cNvSpPr txBox="1"/>
          <p:nvPr/>
        </p:nvSpPr>
        <p:spPr>
          <a:xfrm>
            <a:off x="6858000" y="1828800"/>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Student learning profile</a:t>
            </a:r>
            <a:endParaRPr lang="en-US" sz="1500" dirty="0"/>
          </a:p>
        </p:txBody>
      </p:sp>
      <p:sp>
        <p:nvSpPr>
          <p:cNvPr id="45" name="phase chip"/>
          <p:cNvSpPr/>
          <p:nvPr/>
        </p:nvSpPr>
        <p:spPr>
          <a:xfrm>
            <a:off x="10716768" y="1929384"/>
            <a:ext cx="640080" cy="292608"/>
          </a:xfrm>
          <a:prstGeom prst="roundRect">
            <a:avLst>
              <a:gd name="adj" fmla="val 25000"/>
            </a:avLst>
          </a:prstGeom>
          <a:solidFill>
            <a:schemeClr val="accent2"/>
          </a:solidFill>
          <a:ln/>
        </p:spPr>
      </p:sp>
      <p:sp>
        <p:nvSpPr>
          <p:cNvPr id="46" name="Text 44"/>
          <p:cNvSpPr txBox="1"/>
          <p:nvPr/>
        </p:nvSpPr>
        <p:spPr>
          <a:xfrm>
            <a:off x="10716768" y="1929384"/>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P2</a:t>
            </a:r>
            <a:endParaRPr lang="en-US" sz="1100" dirty="0"/>
          </a:p>
        </p:txBody>
      </p:sp>
      <p:sp>
        <p:nvSpPr>
          <p:cNvPr id="47" name="module 9"/>
          <p:cNvSpPr/>
          <p:nvPr/>
        </p:nvSpPr>
        <p:spPr>
          <a:xfrm>
            <a:off x="6172200" y="2404872"/>
            <a:ext cx="5440680" cy="493776"/>
          </a:xfrm>
          <a:prstGeom prst="roundRect">
            <a:avLst>
              <a:gd name="adj" fmla="val 22222"/>
            </a:avLst>
          </a:prstGeom>
          <a:solidFill>
            <a:schemeClr val="accent6">
              <a:alpha val="7000"/>
            </a:schemeClr>
          </a:solidFill>
          <a:ln/>
        </p:spPr>
      </p:sp>
      <p:sp>
        <p:nvSpPr>
          <p:cNvPr id="48" name="Text 46"/>
          <p:cNvSpPr txBox="1"/>
          <p:nvPr/>
        </p:nvSpPr>
        <p:spPr>
          <a:xfrm>
            <a:off x="6355080" y="2404872"/>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09</a:t>
            </a:r>
            <a:endParaRPr lang="en-US" sz="1400" dirty="0"/>
          </a:p>
        </p:txBody>
      </p:sp>
      <p:sp>
        <p:nvSpPr>
          <p:cNvPr id="49" name="Text 47"/>
          <p:cNvSpPr txBox="1"/>
          <p:nvPr/>
        </p:nvSpPr>
        <p:spPr>
          <a:xfrm>
            <a:off x="6858000" y="2404872"/>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Attendance and alerts</a:t>
            </a:r>
            <a:endParaRPr lang="en-US" sz="1500" dirty="0"/>
          </a:p>
        </p:txBody>
      </p:sp>
      <p:sp>
        <p:nvSpPr>
          <p:cNvPr id="50" name="phase chip"/>
          <p:cNvSpPr/>
          <p:nvPr/>
        </p:nvSpPr>
        <p:spPr>
          <a:xfrm>
            <a:off x="10716768" y="2505456"/>
            <a:ext cx="640080" cy="292608"/>
          </a:xfrm>
          <a:prstGeom prst="roundRect">
            <a:avLst>
              <a:gd name="adj" fmla="val 25000"/>
            </a:avLst>
          </a:prstGeom>
          <a:solidFill>
            <a:schemeClr val="accent1"/>
          </a:solidFill>
          <a:ln/>
        </p:spPr>
      </p:sp>
      <p:sp>
        <p:nvSpPr>
          <p:cNvPr id="51" name="Text 49"/>
          <p:cNvSpPr txBox="1"/>
          <p:nvPr/>
        </p:nvSpPr>
        <p:spPr>
          <a:xfrm>
            <a:off x="10716768" y="2505456"/>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P1</a:t>
            </a:r>
            <a:endParaRPr lang="en-US" sz="1100" dirty="0"/>
          </a:p>
        </p:txBody>
      </p:sp>
      <p:sp>
        <p:nvSpPr>
          <p:cNvPr id="52" name="module 10"/>
          <p:cNvSpPr/>
          <p:nvPr/>
        </p:nvSpPr>
        <p:spPr>
          <a:xfrm>
            <a:off x="6172200" y="2980944"/>
            <a:ext cx="5440680" cy="493776"/>
          </a:xfrm>
          <a:prstGeom prst="roundRect">
            <a:avLst>
              <a:gd name="adj" fmla="val 22222"/>
            </a:avLst>
          </a:prstGeom>
          <a:solidFill>
            <a:schemeClr val="accent6">
              <a:alpha val="7000"/>
            </a:schemeClr>
          </a:solidFill>
          <a:ln/>
        </p:spPr>
      </p:sp>
      <p:sp>
        <p:nvSpPr>
          <p:cNvPr id="53" name="Text 51"/>
          <p:cNvSpPr txBox="1"/>
          <p:nvPr/>
        </p:nvSpPr>
        <p:spPr>
          <a:xfrm>
            <a:off x="6355080" y="2980944"/>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10</a:t>
            </a:r>
            <a:endParaRPr lang="en-US" sz="1400" dirty="0"/>
          </a:p>
        </p:txBody>
      </p:sp>
      <p:sp>
        <p:nvSpPr>
          <p:cNvPr id="54" name="Text 52"/>
          <p:cNvSpPr txBox="1"/>
          <p:nvPr/>
        </p:nvSpPr>
        <p:spPr>
          <a:xfrm>
            <a:off x="6858000" y="2980944"/>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Parent engagement</a:t>
            </a:r>
            <a:endParaRPr lang="en-US" sz="1500" dirty="0"/>
          </a:p>
        </p:txBody>
      </p:sp>
      <p:sp>
        <p:nvSpPr>
          <p:cNvPr id="55" name="phase chip"/>
          <p:cNvSpPr/>
          <p:nvPr/>
        </p:nvSpPr>
        <p:spPr>
          <a:xfrm>
            <a:off x="10716768" y="3081528"/>
            <a:ext cx="640080" cy="292608"/>
          </a:xfrm>
          <a:prstGeom prst="roundRect">
            <a:avLst>
              <a:gd name="adj" fmla="val 25000"/>
            </a:avLst>
          </a:prstGeom>
          <a:solidFill>
            <a:schemeClr val="accent1"/>
          </a:solidFill>
          <a:ln/>
        </p:spPr>
      </p:sp>
      <p:sp>
        <p:nvSpPr>
          <p:cNvPr id="56" name="Text 54"/>
          <p:cNvSpPr txBox="1"/>
          <p:nvPr/>
        </p:nvSpPr>
        <p:spPr>
          <a:xfrm>
            <a:off x="10716768" y="3081528"/>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P1</a:t>
            </a:r>
            <a:endParaRPr lang="en-US" sz="1100" dirty="0"/>
          </a:p>
        </p:txBody>
      </p:sp>
      <p:sp>
        <p:nvSpPr>
          <p:cNvPr id="57" name="module 11"/>
          <p:cNvSpPr/>
          <p:nvPr/>
        </p:nvSpPr>
        <p:spPr>
          <a:xfrm>
            <a:off x="6172200" y="3557016"/>
            <a:ext cx="5440680" cy="493776"/>
          </a:xfrm>
          <a:prstGeom prst="roundRect">
            <a:avLst>
              <a:gd name="adj" fmla="val 22222"/>
            </a:avLst>
          </a:prstGeom>
          <a:solidFill>
            <a:schemeClr val="accent6">
              <a:alpha val="7000"/>
            </a:schemeClr>
          </a:solidFill>
          <a:ln/>
        </p:spPr>
      </p:sp>
      <p:sp>
        <p:nvSpPr>
          <p:cNvPr id="58" name="Text 56"/>
          <p:cNvSpPr txBox="1"/>
          <p:nvPr/>
        </p:nvSpPr>
        <p:spPr>
          <a:xfrm>
            <a:off x="6355080" y="3557016"/>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11</a:t>
            </a:r>
            <a:endParaRPr lang="en-US" sz="1400" dirty="0"/>
          </a:p>
        </p:txBody>
      </p:sp>
      <p:sp>
        <p:nvSpPr>
          <p:cNvPr id="59" name="Text 57"/>
          <p:cNvSpPr txBox="1"/>
          <p:nvPr/>
        </p:nvSpPr>
        <p:spPr>
          <a:xfrm>
            <a:off x="6858000" y="3557016"/>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Dashboards and reports</a:t>
            </a:r>
            <a:endParaRPr lang="en-US" sz="1500" dirty="0"/>
          </a:p>
        </p:txBody>
      </p:sp>
      <p:sp>
        <p:nvSpPr>
          <p:cNvPr id="60" name="phase chip"/>
          <p:cNvSpPr/>
          <p:nvPr/>
        </p:nvSpPr>
        <p:spPr>
          <a:xfrm>
            <a:off x="10003536" y="3657600"/>
            <a:ext cx="640080" cy="292608"/>
          </a:xfrm>
          <a:prstGeom prst="roundRect">
            <a:avLst>
              <a:gd name="adj" fmla="val 25000"/>
            </a:avLst>
          </a:prstGeom>
          <a:solidFill>
            <a:schemeClr val="accent1"/>
          </a:solidFill>
          <a:ln/>
        </p:spPr>
      </p:sp>
      <p:sp>
        <p:nvSpPr>
          <p:cNvPr id="61" name="Text 59"/>
          <p:cNvSpPr txBox="1"/>
          <p:nvPr/>
        </p:nvSpPr>
        <p:spPr>
          <a:xfrm>
            <a:off x="10003536" y="3657600"/>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P1</a:t>
            </a:r>
            <a:endParaRPr lang="en-US" sz="1100" dirty="0"/>
          </a:p>
        </p:txBody>
      </p:sp>
      <p:sp>
        <p:nvSpPr>
          <p:cNvPr id="62" name="phase chip"/>
          <p:cNvSpPr/>
          <p:nvPr/>
        </p:nvSpPr>
        <p:spPr>
          <a:xfrm>
            <a:off x="10716768" y="3657600"/>
            <a:ext cx="640080" cy="292608"/>
          </a:xfrm>
          <a:prstGeom prst="roundRect">
            <a:avLst>
              <a:gd name="adj" fmla="val 25000"/>
            </a:avLst>
          </a:prstGeom>
          <a:solidFill>
            <a:schemeClr val="accent4"/>
          </a:solidFill>
          <a:ln/>
        </p:spPr>
      </p:sp>
      <p:sp>
        <p:nvSpPr>
          <p:cNvPr id="63" name="Text 61"/>
          <p:cNvSpPr txBox="1"/>
          <p:nvPr/>
        </p:nvSpPr>
        <p:spPr>
          <a:xfrm>
            <a:off x="10716768" y="3657600"/>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P5</a:t>
            </a:r>
            <a:endParaRPr lang="en-US" sz="1100" dirty="0"/>
          </a:p>
        </p:txBody>
      </p:sp>
      <p:sp>
        <p:nvSpPr>
          <p:cNvPr id="64" name="module 12"/>
          <p:cNvSpPr/>
          <p:nvPr/>
        </p:nvSpPr>
        <p:spPr>
          <a:xfrm>
            <a:off x="6172200" y="4133088"/>
            <a:ext cx="5440680" cy="493776"/>
          </a:xfrm>
          <a:prstGeom prst="roundRect">
            <a:avLst>
              <a:gd name="adj" fmla="val 22222"/>
            </a:avLst>
          </a:prstGeom>
          <a:solidFill>
            <a:schemeClr val="accent6">
              <a:alpha val="7000"/>
            </a:schemeClr>
          </a:solidFill>
          <a:ln/>
        </p:spPr>
      </p:sp>
      <p:sp>
        <p:nvSpPr>
          <p:cNvPr id="65" name="Text 63"/>
          <p:cNvSpPr txBox="1"/>
          <p:nvPr/>
        </p:nvSpPr>
        <p:spPr>
          <a:xfrm>
            <a:off x="6355080" y="4133088"/>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12</a:t>
            </a:r>
            <a:endParaRPr lang="en-US" sz="1400" dirty="0"/>
          </a:p>
        </p:txBody>
      </p:sp>
      <p:sp>
        <p:nvSpPr>
          <p:cNvPr id="66" name="Text 64"/>
          <p:cNvSpPr txBox="1"/>
          <p:nvPr/>
        </p:nvSpPr>
        <p:spPr>
          <a:xfrm>
            <a:off x="6858000" y="4133088"/>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Recognition and ranking</a:t>
            </a:r>
            <a:endParaRPr lang="en-US" sz="1500" dirty="0"/>
          </a:p>
        </p:txBody>
      </p:sp>
      <p:sp>
        <p:nvSpPr>
          <p:cNvPr id="67" name="phase chip"/>
          <p:cNvSpPr/>
          <p:nvPr/>
        </p:nvSpPr>
        <p:spPr>
          <a:xfrm>
            <a:off x="10716768" y="4233672"/>
            <a:ext cx="640080" cy="292608"/>
          </a:xfrm>
          <a:prstGeom prst="roundRect">
            <a:avLst>
              <a:gd name="adj" fmla="val 25000"/>
            </a:avLst>
          </a:prstGeom>
          <a:solidFill>
            <a:schemeClr val="accent5"/>
          </a:solidFill>
          <a:ln/>
        </p:spPr>
      </p:sp>
      <p:sp>
        <p:nvSpPr>
          <p:cNvPr id="68" name="Text 66"/>
          <p:cNvSpPr txBox="1"/>
          <p:nvPr/>
        </p:nvSpPr>
        <p:spPr>
          <a:xfrm>
            <a:off x="10716768" y="4233672"/>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Later</a:t>
            </a:r>
            <a:endParaRPr lang="en-US" sz="1100" dirty="0"/>
          </a:p>
        </p:txBody>
      </p:sp>
      <p:sp>
        <p:nvSpPr>
          <p:cNvPr id="69" name="module 13"/>
          <p:cNvSpPr/>
          <p:nvPr/>
        </p:nvSpPr>
        <p:spPr>
          <a:xfrm>
            <a:off x="6172200" y="4709160"/>
            <a:ext cx="5440680" cy="493776"/>
          </a:xfrm>
          <a:prstGeom prst="roundRect">
            <a:avLst>
              <a:gd name="adj" fmla="val 22222"/>
            </a:avLst>
          </a:prstGeom>
          <a:solidFill>
            <a:schemeClr val="accent6">
              <a:alpha val="7000"/>
            </a:schemeClr>
          </a:solidFill>
          <a:ln/>
        </p:spPr>
      </p:sp>
      <p:sp>
        <p:nvSpPr>
          <p:cNvPr id="70" name="Text 68"/>
          <p:cNvSpPr txBox="1"/>
          <p:nvPr/>
        </p:nvSpPr>
        <p:spPr>
          <a:xfrm>
            <a:off x="6355080" y="4709160"/>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13</a:t>
            </a:r>
            <a:endParaRPr lang="en-US" sz="1400" dirty="0"/>
          </a:p>
        </p:txBody>
      </p:sp>
      <p:sp>
        <p:nvSpPr>
          <p:cNvPr id="71" name="Text 69"/>
          <p:cNvSpPr txBox="1"/>
          <p:nvPr/>
        </p:nvSpPr>
        <p:spPr>
          <a:xfrm>
            <a:off x="6858000" y="4709160"/>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Digital resource usage (ICT labs)</a:t>
            </a:r>
            <a:endParaRPr lang="en-US" sz="1500" dirty="0"/>
          </a:p>
        </p:txBody>
      </p:sp>
      <p:sp>
        <p:nvSpPr>
          <p:cNvPr id="72" name="phase chip"/>
          <p:cNvSpPr/>
          <p:nvPr/>
        </p:nvSpPr>
        <p:spPr>
          <a:xfrm>
            <a:off x="10716768" y="4809744"/>
            <a:ext cx="640080" cy="292608"/>
          </a:xfrm>
          <a:prstGeom prst="roundRect">
            <a:avLst>
              <a:gd name="adj" fmla="val 25000"/>
            </a:avLst>
          </a:prstGeom>
          <a:solidFill>
            <a:schemeClr val="accent5"/>
          </a:solidFill>
          <a:ln/>
        </p:spPr>
      </p:sp>
      <p:sp>
        <p:nvSpPr>
          <p:cNvPr id="73" name="Text 71"/>
          <p:cNvSpPr txBox="1"/>
          <p:nvPr/>
        </p:nvSpPr>
        <p:spPr>
          <a:xfrm>
            <a:off x="10716768" y="4809744"/>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Later</a:t>
            </a:r>
            <a:endParaRPr lang="en-US" sz="1100" dirty="0"/>
          </a:p>
        </p:txBody>
      </p:sp>
      <p:sp>
        <p:nvSpPr>
          <p:cNvPr id="74" name="module 14"/>
          <p:cNvSpPr/>
          <p:nvPr/>
        </p:nvSpPr>
        <p:spPr>
          <a:xfrm>
            <a:off x="6172200" y="5285232"/>
            <a:ext cx="5440680" cy="493776"/>
          </a:xfrm>
          <a:prstGeom prst="roundRect">
            <a:avLst>
              <a:gd name="adj" fmla="val 22222"/>
            </a:avLst>
          </a:prstGeom>
          <a:solidFill>
            <a:schemeClr val="accent6">
              <a:alpha val="7000"/>
            </a:schemeClr>
          </a:solidFill>
          <a:ln/>
        </p:spPr>
      </p:sp>
      <p:sp>
        <p:nvSpPr>
          <p:cNvPr id="75" name="Text 73"/>
          <p:cNvSpPr txBox="1"/>
          <p:nvPr/>
        </p:nvSpPr>
        <p:spPr>
          <a:xfrm>
            <a:off x="6355080" y="5285232"/>
            <a:ext cx="457200" cy="493776"/>
          </a:xfrm>
          <a:prstGeom prst="rect">
            <a:avLst/>
          </a:prstGeom>
          <a:noFill/>
          <a:ln/>
        </p:spPr>
        <p:txBody>
          <a:bodyPr wrap="square" lIns="0" tIns="0" rIns="0" bIns="0" rtlCol="0" anchor="ctr"/>
          <a:lstStyle/>
          <a:p>
            <a:pPr indent="0" marL="0">
              <a:buNone/>
            </a:pPr>
            <a:r>
              <a:rPr lang="en-US" sz="1400" b="1" dirty="0">
                <a:solidFill>
                  <a:schemeClr val="accent6"/>
                </a:solidFill>
              </a:rPr>
              <a:t>14</a:t>
            </a:r>
            <a:endParaRPr lang="en-US" sz="1400" dirty="0"/>
          </a:p>
        </p:txBody>
      </p:sp>
      <p:sp>
        <p:nvSpPr>
          <p:cNvPr id="76" name="Text 74"/>
          <p:cNvSpPr txBox="1"/>
          <p:nvPr/>
        </p:nvSpPr>
        <p:spPr>
          <a:xfrm>
            <a:off x="6858000" y="5285232"/>
            <a:ext cx="3383280" cy="493776"/>
          </a:xfrm>
          <a:prstGeom prst="rect">
            <a:avLst/>
          </a:prstGeom>
          <a:noFill/>
          <a:ln/>
        </p:spPr>
        <p:txBody>
          <a:bodyPr wrap="square" lIns="0" tIns="0" rIns="0" bIns="0" rtlCol="0" anchor="ctr"/>
          <a:lstStyle/>
          <a:p>
            <a:pPr indent="0" marL="0">
              <a:buNone/>
            </a:pPr>
            <a:r>
              <a:rPr lang="en-US" sz="1500" b="1" dirty="0">
                <a:solidFill>
                  <a:schemeClr val="tx2"/>
                </a:solidFill>
              </a:rPr>
              <a:t>Notifications and audit</a:t>
            </a:r>
            <a:endParaRPr lang="en-US" sz="1500" dirty="0"/>
          </a:p>
        </p:txBody>
      </p:sp>
      <p:sp>
        <p:nvSpPr>
          <p:cNvPr id="77" name="phase chip"/>
          <p:cNvSpPr/>
          <p:nvPr/>
        </p:nvSpPr>
        <p:spPr>
          <a:xfrm>
            <a:off x="10716768" y="5385816"/>
            <a:ext cx="640080" cy="292608"/>
          </a:xfrm>
          <a:prstGeom prst="roundRect">
            <a:avLst>
              <a:gd name="adj" fmla="val 25000"/>
            </a:avLst>
          </a:prstGeom>
          <a:solidFill>
            <a:schemeClr val="accent1"/>
          </a:solidFill>
          <a:ln/>
        </p:spPr>
      </p:sp>
      <p:sp>
        <p:nvSpPr>
          <p:cNvPr id="78" name="Text 76"/>
          <p:cNvSpPr txBox="1"/>
          <p:nvPr/>
        </p:nvSpPr>
        <p:spPr>
          <a:xfrm>
            <a:off x="10716768" y="5385816"/>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P1</a:t>
            </a:r>
            <a:endParaRPr lang="en-US" sz="1100" dirty="0"/>
          </a:p>
        </p:txBody>
      </p:sp>
      <p:sp>
        <p:nvSpPr>
          <p:cNvPr id="79" name="Text 77"/>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P1 </a:t>
            </a:r>
            <a:pPr indent="0" marL="0">
              <a:buNone/>
            </a:pPr>
            <a:r>
              <a:rPr lang="en-US" sz="1300" dirty="0">
                <a:solidFill>
                  <a:schemeClr val="tx1"/>
                </a:solidFill>
              </a:rPr>
              <a:t>Weeks 1–8     </a:t>
            </a:r>
            <a:pPr indent="0" marL="0">
              <a:buNone/>
            </a:pPr>
            <a:r>
              <a:rPr lang="en-US" sz="1300" b="1" dirty="0">
                <a:solidFill>
                  <a:schemeClr val="accent2"/>
                </a:solidFill>
              </a:rPr>
              <a:t>P2 </a:t>
            </a:r>
            <a:pPr indent="0" marL="0">
              <a:buNone/>
            </a:pPr>
            <a:r>
              <a:rPr lang="en-US" sz="1300" dirty="0">
                <a:solidFill>
                  <a:schemeClr val="tx1"/>
                </a:solidFill>
              </a:rPr>
              <a:t>Weeks 7–12     </a:t>
            </a:r>
            <a:pPr indent="0" marL="0">
              <a:buNone/>
            </a:pPr>
            <a:r>
              <a:rPr lang="en-US" sz="1300" b="1" dirty="0">
                <a:solidFill>
                  <a:schemeClr val="accent3"/>
                </a:solidFill>
              </a:rPr>
              <a:t>P3 </a:t>
            </a:r>
            <a:pPr indent="0" marL="0">
              <a:buNone/>
            </a:pPr>
            <a:r>
              <a:rPr lang="en-US" sz="1300" dirty="0">
                <a:solidFill>
                  <a:schemeClr val="tx1"/>
                </a:solidFill>
              </a:rPr>
              <a:t>Weeks 10–20     </a:t>
            </a:r>
            <a:pPr indent="0" marL="0">
              <a:buNone/>
            </a:pPr>
            <a:r>
              <a:rPr lang="en-US" sz="1300" b="1" dirty="0">
                <a:solidFill>
                  <a:schemeClr val="accent5"/>
                </a:solidFill>
              </a:rPr>
              <a:t>Later </a:t>
            </a:r>
            <a:pPr indent="0" marL="0">
              <a:buNone/>
            </a:pPr>
            <a:r>
              <a:rPr lang="en-US" sz="1300" dirty="0">
                <a:solidFill>
                  <a:schemeClr val="tx1"/>
                </a:solidFill>
              </a:rPr>
              <a:t>optional, after the pilot     </a:t>
            </a:r>
            <a:pPr indent="0" marL="0">
              <a:buNone/>
            </a:pPr>
            <a:r>
              <a:rPr lang="en-US" sz="1300" b="1" dirty="0">
                <a:solidFill>
                  <a:schemeClr val="accent4"/>
                </a:solidFill>
              </a:rPr>
              <a:t>P5 </a:t>
            </a:r>
            <a:pPr indent="0" marL="0">
              <a:buNone/>
            </a:pPr>
            <a:r>
              <a:rPr lang="en-US" sz="1300" dirty="0">
                <a:solidFill>
                  <a:schemeClr val="tx1"/>
                </a:solidFill>
              </a:rPr>
              <a:t>district / state scale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Smart academic planning that adjusts itself</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topic has a plan — and the plan updates when a lesson is missed.</a:t>
            </a:r>
            <a:endParaRPr lang="en-US" sz="1600" dirty="0"/>
          </a:p>
        </p:txBody>
      </p:sp>
      <p:sp>
        <p:nvSpPr>
          <p:cNvPr id="5" name="Board  (CGBSE / NCERT)"/>
          <p:cNvSpPr/>
          <p:nvPr/>
        </p:nvSpPr>
        <p:spPr>
          <a:xfrm>
            <a:off x="548640" y="1874520"/>
            <a:ext cx="3840480" cy="530352"/>
          </a:xfrm>
          <a:prstGeom prst="roundRect">
            <a:avLst>
              <a:gd name="adj" fmla="val 17241"/>
            </a:avLst>
          </a:prstGeom>
          <a:solidFill>
            <a:schemeClr val="accent1"/>
          </a:solidFill>
          <a:ln/>
        </p:spPr>
      </p:sp>
      <p:sp>
        <p:nvSpPr>
          <p:cNvPr id="6" name="Text 4"/>
          <p:cNvSpPr txBox="1"/>
          <p:nvPr/>
        </p:nvSpPr>
        <p:spPr>
          <a:xfrm>
            <a:off x="777240" y="1874520"/>
            <a:ext cx="3474720" cy="530352"/>
          </a:xfrm>
          <a:prstGeom prst="rect">
            <a:avLst/>
          </a:prstGeom>
          <a:noFill/>
          <a:ln/>
        </p:spPr>
        <p:txBody>
          <a:bodyPr wrap="square" lIns="0" tIns="0" rIns="0" bIns="0" rtlCol="0" anchor="ctr"/>
          <a:lstStyle/>
          <a:p>
            <a:pPr indent="0" marL="0">
              <a:buNone/>
            </a:pPr>
            <a:r>
              <a:rPr lang="en-US" sz="1600" b="1" dirty="0">
                <a:solidFill>
                  <a:schemeClr val="bg1"/>
                </a:solidFill>
              </a:rPr>
              <a:t>Board  (CGBSE / NCERT)</a:t>
            </a:r>
            <a:endParaRPr lang="en-US" sz="1600" dirty="0"/>
          </a:p>
        </p:txBody>
      </p:sp>
      <p:sp>
        <p:nvSpPr>
          <p:cNvPr id="7" name="Class"/>
          <p:cNvSpPr/>
          <p:nvPr/>
        </p:nvSpPr>
        <p:spPr>
          <a:xfrm>
            <a:off x="841248" y="2532888"/>
            <a:ext cx="3840480" cy="530352"/>
          </a:xfrm>
          <a:prstGeom prst="roundRect">
            <a:avLst>
              <a:gd name="adj" fmla="val 17241"/>
            </a:avLst>
          </a:prstGeom>
          <a:solidFill>
            <a:schemeClr val="accent2"/>
          </a:solidFill>
          <a:ln/>
        </p:spPr>
      </p:sp>
      <p:sp>
        <p:nvSpPr>
          <p:cNvPr id="8" name="Text 6"/>
          <p:cNvSpPr txBox="1"/>
          <p:nvPr/>
        </p:nvSpPr>
        <p:spPr>
          <a:xfrm>
            <a:off x="1069848" y="2532888"/>
            <a:ext cx="3474720" cy="530352"/>
          </a:xfrm>
          <a:prstGeom prst="rect">
            <a:avLst/>
          </a:prstGeom>
          <a:noFill/>
          <a:ln/>
        </p:spPr>
        <p:txBody>
          <a:bodyPr wrap="square" lIns="0" tIns="0" rIns="0" bIns="0" rtlCol="0" anchor="ctr"/>
          <a:lstStyle/>
          <a:p>
            <a:pPr indent="0" marL="0">
              <a:buNone/>
            </a:pPr>
            <a:r>
              <a:rPr lang="en-US" sz="1600" b="1" dirty="0">
                <a:solidFill>
                  <a:schemeClr val="bg1"/>
                </a:solidFill>
              </a:rPr>
              <a:t>Class</a:t>
            </a:r>
            <a:endParaRPr lang="en-US" sz="1600" dirty="0"/>
          </a:p>
        </p:txBody>
      </p:sp>
      <p:sp>
        <p:nvSpPr>
          <p:cNvPr id="9" name="Subject"/>
          <p:cNvSpPr/>
          <p:nvPr/>
        </p:nvSpPr>
        <p:spPr>
          <a:xfrm>
            <a:off x="1133856" y="3191256"/>
            <a:ext cx="3840480" cy="530352"/>
          </a:xfrm>
          <a:prstGeom prst="roundRect">
            <a:avLst>
              <a:gd name="adj" fmla="val 17241"/>
            </a:avLst>
          </a:prstGeom>
          <a:solidFill>
            <a:schemeClr val="accent3"/>
          </a:solidFill>
          <a:ln/>
        </p:spPr>
      </p:sp>
      <p:sp>
        <p:nvSpPr>
          <p:cNvPr id="10" name="Text 8"/>
          <p:cNvSpPr txBox="1"/>
          <p:nvPr/>
        </p:nvSpPr>
        <p:spPr>
          <a:xfrm>
            <a:off x="1362456" y="3191256"/>
            <a:ext cx="3474720" cy="530352"/>
          </a:xfrm>
          <a:prstGeom prst="rect">
            <a:avLst/>
          </a:prstGeom>
          <a:noFill/>
          <a:ln/>
        </p:spPr>
        <p:txBody>
          <a:bodyPr wrap="square" lIns="0" tIns="0" rIns="0" bIns="0" rtlCol="0" anchor="ctr"/>
          <a:lstStyle/>
          <a:p>
            <a:pPr indent="0" marL="0">
              <a:buNone/>
            </a:pPr>
            <a:r>
              <a:rPr lang="en-US" sz="1600" b="1" dirty="0">
                <a:solidFill>
                  <a:schemeClr val="bg1"/>
                </a:solidFill>
              </a:rPr>
              <a:t>Subject</a:t>
            </a:r>
            <a:endParaRPr lang="en-US" sz="1600" dirty="0"/>
          </a:p>
        </p:txBody>
      </p:sp>
      <p:sp>
        <p:nvSpPr>
          <p:cNvPr id="11" name="Chapter"/>
          <p:cNvSpPr/>
          <p:nvPr/>
        </p:nvSpPr>
        <p:spPr>
          <a:xfrm>
            <a:off x="1426464" y="3849624"/>
            <a:ext cx="3840480" cy="530352"/>
          </a:xfrm>
          <a:prstGeom prst="roundRect">
            <a:avLst>
              <a:gd name="adj" fmla="val 17241"/>
            </a:avLst>
          </a:prstGeom>
          <a:solidFill>
            <a:schemeClr val="accent4"/>
          </a:solidFill>
          <a:ln/>
        </p:spPr>
      </p:sp>
      <p:sp>
        <p:nvSpPr>
          <p:cNvPr id="12" name="Text 10"/>
          <p:cNvSpPr txBox="1"/>
          <p:nvPr/>
        </p:nvSpPr>
        <p:spPr>
          <a:xfrm>
            <a:off x="1655064" y="3849624"/>
            <a:ext cx="3474720" cy="530352"/>
          </a:xfrm>
          <a:prstGeom prst="rect">
            <a:avLst/>
          </a:prstGeom>
          <a:noFill/>
          <a:ln/>
        </p:spPr>
        <p:txBody>
          <a:bodyPr wrap="square" lIns="0" tIns="0" rIns="0" bIns="0" rtlCol="0" anchor="ctr"/>
          <a:lstStyle/>
          <a:p>
            <a:pPr indent="0" marL="0">
              <a:buNone/>
            </a:pPr>
            <a:r>
              <a:rPr lang="en-US" sz="1600" b="1" dirty="0">
                <a:solidFill>
                  <a:schemeClr val="bg1"/>
                </a:solidFill>
              </a:rPr>
              <a:t>Chapter</a:t>
            </a:r>
            <a:endParaRPr lang="en-US" sz="1600" dirty="0"/>
          </a:p>
        </p:txBody>
      </p:sp>
      <p:sp>
        <p:nvSpPr>
          <p:cNvPr id="13" name="Topic"/>
          <p:cNvSpPr/>
          <p:nvPr/>
        </p:nvSpPr>
        <p:spPr>
          <a:xfrm>
            <a:off x="1719072" y="4507992"/>
            <a:ext cx="3840480" cy="530352"/>
          </a:xfrm>
          <a:prstGeom prst="roundRect">
            <a:avLst>
              <a:gd name="adj" fmla="val 17241"/>
            </a:avLst>
          </a:prstGeom>
          <a:solidFill>
            <a:schemeClr val="accent5"/>
          </a:solidFill>
          <a:ln/>
        </p:spPr>
      </p:sp>
      <p:sp>
        <p:nvSpPr>
          <p:cNvPr id="14" name="Text 12"/>
          <p:cNvSpPr txBox="1"/>
          <p:nvPr/>
        </p:nvSpPr>
        <p:spPr>
          <a:xfrm>
            <a:off x="1947672" y="4507992"/>
            <a:ext cx="3474720" cy="530352"/>
          </a:xfrm>
          <a:prstGeom prst="rect">
            <a:avLst/>
          </a:prstGeom>
          <a:noFill/>
          <a:ln/>
        </p:spPr>
        <p:txBody>
          <a:bodyPr wrap="square" lIns="0" tIns="0" rIns="0" bIns="0" rtlCol="0" anchor="ctr"/>
          <a:lstStyle/>
          <a:p>
            <a:pPr indent="0" marL="0">
              <a:buNone/>
            </a:pPr>
            <a:r>
              <a:rPr lang="en-US" sz="1600" b="1" dirty="0">
                <a:solidFill>
                  <a:schemeClr val="bg1"/>
                </a:solidFill>
              </a:rPr>
              <a:t>Topic</a:t>
            </a:r>
            <a:endParaRPr lang="en-US" sz="1600" dirty="0"/>
          </a:p>
        </p:txBody>
      </p:sp>
      <p:sp>
        <p:nvSpPr>
          <p:cNvPr id="15" name="Learning outcome"/>
          <p:cNvSpPr/>
          <p:nvPr/>
        </p:nvSpPr>
        <p:spPr>
          <a:xfrm>
            <a:off x="2011680" y="5166360"/>
            <a:ext cx="3840480" cy="530352"/>
          </a:xfrm>
          <a:prstGeom prst="roundRect">
            <a:avLst>
              <a:gd name="adj" fmla="val 17241"/>
            </a:avLst>
          </a:prstGeom>
          <a:solidFill>
            <a:schemeClr val="accent6"/>
          </a:solidFill>
          <a:ln/>
        </p:spPr>
      </p:sp>
      <p:sp>
        <p:nvSpPr>
          <p:cNvPr id="16" name="Text 14"/>
          <p:cNvSpPr txBox="1"/>
          <p:nvPr/>
        </p:nvSpPr>
        <p:spPr>
          <a:xfrm>
            <a:off x="2240280" y="5166360"/>
            <a:ext cx="3474720" cy="530352"/>
          </a:xfrm>
          <a:prstGeom prst="rect">
            <a:avLst/>
          </a:prstGeom>
          <a:noFill/>
          <a:ln/>
        </p:spPr>
        <p:txBody>
          <a:bodyPr wrap="square" lIns="0" tIns="0" rIns="0" bIns="0" rtlCol="0" anchor="ctr"/>
          <a:lstStyle/>
          <a:p>
            <a:pPr indent="0" marL="0">
              <a:buNone/>
            </a:pPr>
            <a:r>
              <a:rPr lang="en-US" sz="1600" b="1" dirty="0">
                <a:solidFill>
                  <a:schemeClr val="bg1"/>
                </a:solidFill>
              </a:rPr>
              <a:t>Learning outcome</a:t>
            </a:r>
            <a:endParaRPr lang="en-US" sz="1600" dirty="0"/>
          </a:p>
        </p:txBody>
      </p:sp>
      <p:sp>
        <p:nvSpPr>
          <p:cNvPr id="17" name="Text 15"/>
          <p:cNvSpPr txBox="1"/>
          <p:nvPr/>
        </p:nvSpPr>
        <p:spPr>
          <a:xfrm>
            <a:off x="548640" y="5852160"/>
            <a:ext cx="5669280" cy="320040"/>
          </a:xfrm>
          <a:prstGeom prst="rect">
            <a:avLst/>
          </a:prstGeom>
          <a:noFill/>
          <a:ln/>
        </p:spPr>
        <p:txBody>
          <a:bodyPr wrap="square" lIns="0" tIns="0" rIns="0" bIns="0" rtlCol="0" anchor="t"/>
          <a:lstStyle/>
          <a:p>
            <a:pPr indent="0" marL="0">
              <a:buNone/>
            </a:pPr>
            <a:r>
              <a:rPr lang="en-US" sz="1300" i="1" dirty="0">
                <a:solidFill>
                  <a:schemeClr val="accent6"/>
                </a:solidFill>
              </a:rPr>
              <a:t>Every plan is mapped down to the learning outcome.</a:t>
            </a:r>
            <a:endParaRPr lang="en-US" sz="1300" dirty="0"/>
          </a:p>
        </p:txBody>
      </p:sp>
      <p:sp>
        <p:nvSpPr>
          <p:cNvPr id="18" name="Annual plan"/>
          <p:cNvSpPr/>
          <p:nvPr/>
        </p:nvSpPr>
        <p:spPr>
          <a:xfrm>
            <a:off x="6492240" y="1874520"/>
            <a:ext cx="1188720" cy="502920"/>
          </a:xfrm>
          <a:prstGeom prst="roundRect">
            <a:avLst>
              <a:gd name="adj" fmla="val 18182"/>
            </a:avLst>
          </a:prstGeom>
          <a:solidFill>
            <a:schemeClr val="tx2"/>
          </a:solidFill>
          <a:ln/>
        </p:spPr>
      </p:sp>
      <p:sp>
        <p:nvSpPr>
          <p:cNvPr id="19" name="Text 17"/>
          <p:cNvSpPr txBox="1"/>
          <p:nvPr/>
        </p:nvSpPr>
        <p:spPr>
          <a:xfrm>
            <a:off x="6492240" y="1874520"/>
            <a:ext cx="1188720" cy="502920"/>
          </a:xfrm>
          <a:prstGeom prst="rect">
            <a:avLst/>
          </a:prstGeom>
          <a:noFill/>
          <a:ln/>
        </p:spPr>
        <p:txBody>
          <a:bodyPr wrap="square" lIns="0" tIns="0" rIns="0" bIns="0" rtlCol="0" anchor="ctr"/>
          <a:lstStyle/>
          <a:p>
            <a:pPr algn="ctr" indent="0" marL="0">
              <a:buNone/>
            </a:pPr>
            <a:r>
              <a:rPr lang="en-US" sz="1500" b="1" dirty="0">
                <a:solidFill>
                  <a:schemeClr val="bg1"/>
                </a:solidFill>
              </a:rPr>
              <a:t>Annual</a:t>
            </a:r>
            <a:endParaRPr lang="en-US" sz="1500" dirty="0"/>
          </a:p>
        </p:txBody>
      </p:sp>
      <p:sp>
        <p:nvSpPr>
          <p:cNvPr id="20" name="Monthly plan"/>
          <p:cNvSpPr/>
          <p:nvPr/>
        </p:nvSpPr>
        <p:spPr>
          <a:xfrm>
            <a:off x="7790688" y="1874520"/>
            <a:ext cx="1188720" cy="502920"/>
          </a:xfrm>
          <a:prstGeom prst="roundRect">
            <a:avLst>
              <a:gd name="adj" fmla="val 18182"/>
            </a:avLst>
          </a:prstGeom>
          <a:solidFill>
            <a:schemeClr val="tx2"/>
          </a:solidFill>
          <a:ln/>
        </p:spPr>
      </p:sp>
      <p:sp>
        <p:nvSpPr>
          <p:cNvPr id="21" name="Text 19"/>
          <p:cNvSpPr txBox="1"/>
          <p:nvPr/>
        </p:nvSpPr>
        <p:spPr>
          <a:xfrm>
            <a:off x="7790688" y="1874520"/>
            <a:ext cx="1188720" cy="502920"/>
          </a:xfrm>
          <a:prstGeom prst="rect">
            <a:avLst/>
          </a:prstGeom>
          <a:noFill/>
          <a:ln/>
        </p:spPr>
        <p:txBody>
          <a:bodyPr wrap="square" lIns="0" tIns="0" rIns="0" bIns="0" rtlCol="0" anchor="ctr"/>
          <a:lstStyle/>
          <a:p>
            <a:pPr algn="ctr" indent="0" marL="0">
              <a:buNone/>
            </a:pPr>
            <a:r>
              <a:rPr lang="en-US" sz="1500" b="1" dirty="0">
                <a:solidFill>
                  <a:schemeClr val="bg1"/>
                </a:solidFill>
              </a:rPr>
              <a:t>Monthly</a:t>
            </a:r>
            <a:endParaRPr lang="en-US" sz="1500" dirty="0"/>
          </a:p>
        </p:txBody>
      </p:sp>
      <p:sp>
        <p:nvSpPr>
          <p:cNvPr id="22" name="Weekly plan"/>
          <p:cNvSpPr/>
          <p:nvPr/>
        </p:nvSpPr>
        <p:spPr>
          <a:xfrm>
            <a:off x="9089136" y="1874520"/>
            <a:ext cx="1188720" cy="502920"/>
          </a:xfrm>
          <a:prstGeom prst="roundRect">
            <a:avLst>
              <a:gd name="adj" fmla="val 18182"/>
            </a:avLst>
          </a:prstGeom>
          <a:solidFill>
            <a:schemeClr val="tx2"/>
          </a:solidFill>
          <a:ln/>
        </p:spPr>
      </p:sp>
      <p:sp>
        <p:nvSpPr>
          <p:cNvPr id="23" name="Text 21"/>
          <p:cNvSpPr txBox="1"/>
          <p:nvPr/>
        </p:nvSpPr>
        <p:spPr>
          <a:xfrm>
            <a:off x="9089136" y="1874520"/>
            <a:ext cx="1188720" cy="502920"/>
          </a:xfrm>
          <a:prstGeom prst="rect">
            <a:avLst/>
          </a:prstGeom>
          <a:noFill/>
          <a:ln/>
        </p:spPr>
        <p:txBody>
          <a:bodyPr wrap="square" lIns="0" tIns="0" rIns="0" bIns="0" rtlCol="0" anchor="ctr"/>
          <a:lstStyle/>
          <a:p>
            <a:pPr algn="ctr" indent="0" marL="0">
              <a:buNone/>
            </a:pPr>
            <a:r>
              <a:rPr lang="en-US" sz="1500" b="1" dirty="0">
                <a:solidFill>
                  <a:schemeClr val="bg1"/>
                </a:solidFill>
              </a:rPr>
              <a:t>Weekly</a:t>
            </a:r>
            <a:endParaRPr lang="en-US" sz="1500" dirty="0"/>
          </a:p>
        </p:txBody>
      </p:sp>
      <p:sp>
        <p:nvSpPr>
          <p:cNvPr id="24" name="Daily plan"/>
          <p:cNvSpPr/>
          <p:nvPr/>
        </p:nvSpPr>
        <p:spPr>
          <a:xfrm>
            <a:off x="10387584" y="1874520"/>
            <a:ext cx="1188720" cy="502920"/>
          </a:xfrm>
          <a:prstGeom prst="roundRect">
            <a:avLst>
              <a:gd name="adj" fmla="val 18182"/>
            </a:avLst>
          </a:prstGeom>
          <a:solidFill>
            <a:schemeClr val="tx2"/>
          </a:solidFill>
          <a:ln/>
        </p:spPr>
      </p:sp>
      <p:sp>
        <p:nvSpPr>
          <p:cNvPr id="25" name="Text 23"/>
          <p:cNvSpPr txBox="1"/>
          <p:nvPr/>
        </p:nvSpPr>
        <p:spPr>
          <a:xfrm>
            <a:off x="10387584" y="1874520"/>
            <a:ext cx="1188720" cy="502920"/>
          </a:xfrm>
          <a:prstGeom prst="rect">
            <a:avLst/>
          </a:prstGeom>
          <a:noFill/>
          <a:ln/>
        </p:spPr>
        <p:txBody>
          <a:bodyPr wrap="square" lIns="0" tIns="0" rIns="0" bIns="0" rtlCol="0" anchor="ctr"/>
          <a:lstStyle/>
          <a:p>
            <a:pPr algn="ctr" indent="0" marL="0">
              <a:buNone/>
            </a:pPr>
            <a:r>
              <a:rPr lang="en-US" sz="1500" b="1" dirty="0">
                <a:solidFill>
                  <a:schemeClr val="bg1"/>
                </a:solidFill>
              </a:rPr>
              <a:t>Daily</a:t>
            </a:r>
            <a:endParaRPr lang="en-US" sz="1500" dirty="0"/>
          </a:p>
        </p:txBody>
      </p:sp>
      <p:sp>
        <p:nvSpPr>
          <p:cNvPr id="26" name="AI drafts the plan"/>
          <p:cNvSpPr/>
          <p:nvPr/>
        </p:nvSpPr>
        <p:spPr>
          <a:xfrm>
            <a:off x="6492240" y="2606040"/>
            <a:ext cx="5148072" cy="987552"/>
          </a:xfrm>
          <a:prstGeom prst="roundRect">
            <a:avLst>
              <a:gd name="adj" fmla="val 11111"/>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7" name="AI drafts the plan circle"/>
          <p:cNvSpPr/>
          <p:nvPr/>
        </p:nvSpPr>
        <p:spPr>
          <a:xfrm>
            <a:off x="6675120" y="2788920"/>
            <a:ext cx="603504" cy="603504"/>
          </a:xfrm>
          <a:prstGeom prst="ellipse">
            <a:avLst/>
          </a:prstGeom>
          <a:solidFill>
            <a:schemeClr val="accent1"/>
          </a:solidFill>
          <a:ln/>
        </p:spPr>
      </p:sp>
      <p:pic>
        <p:nvPicPr>
          <p:cNvPr id="28" name="AI drafts the plan icon" descr="AI drafts the plan">    </p:cNvPr>
          <p:cNvPicPr>
            <a:picLocks noChangeAspect="1"/>
          </p:cNvPicPr>
          <p:nvPr/>
        </p:nvPicPr>
        <p:blipFill>
          <a:blip r:embed="rId1"/>
          <a:stretch>
            <a:fillRect/>
          </a:stretch>
        </p:blipFill>
        <p:spPr>
          <a:xfrm>
            <a:off x="6825996" y="2939796"/>
            <a:ext cx="301752" cy="301752"/>
          </a:xfrm>
          <a:prstGeom prst="rect">
            <a:avLst/>
          </a:prstGeom>
        </p:spPr>
      </p:pic>
      <p:sp>
        <p:nvSpPr>
          <p:cNvPr id="29" name="Text 26"/>
          <p:cNvSpPr txBox="1"/>
          <p:nvPr/>
        </p:nvSpPr>
        <p:spPr>
          <a:xfrm>
            <a:off x="7452360" y="2715768"/>
            <a:ext cx="4023360" cy="347472"/>
          </a:xfrm>
          <a:prstGeom prst="rect">
            <a:avLst/>
          </a:prstGeom>
          <a:noFill/>
          <a:ln/>
        </p:spPr>
        <p:txBody>
          <a:bodyPr wrap="square" lIns="0" tIns="0" rIns="0" bIns="0" rtlCol="0" anchor="t"/>
          <a:lstStyle/>
          <a:p>
            <a:pPr indent="0" marL="0">
              <a:buNone/>
            </a:pPr>
            <a:r>
              <a:rPr lang="en-US" sz="1600" b="1" dirty="0">
                <a:solidFill>
                  <a:schemeClr val="tx2"/>
                </a:solidFill>
              </a:rPr>
              <a:t>AI drafts the plan</a:t>
            </a:r>
            <a:endParaRPr lang="en-US" sz="1600" dirty="0"/>
          </a:p>
        </p:txBody>
      </p:sp>
      <p:sp>
        <p:nvSpPr>
          <p:cNvPr id="30" name="Text 27"/>
          <p:cNvSpPr txBox="1"/>
          <p:nvPr/>
        </p:nvSpPr>
        <p:spPr>
          <a:xfrm>
            <a:off x="7452360" y="3063240"/>
            <a:ext cx="4023360" cy="502920"/>
          </a:xfrm>
          <a:prstGeom prst="rect">
            <a:avLst/>
          </a:prstGeom>
          <a:noFill/>
          <a:ln/>
        </p:spPr>
        <p:txBody>
          <a:bodyPr wrap="square" lIns="0" tIns="0" rIns="0" bIns="0" rtlCol="0" anchor="t"/>
          <a:lstStyle/>
          <a:p>
            <a:pPr indent="0" marL="0">
              <a:buNone/>
            </a:pPr>
            <a:r>
              <a:rPr lang="en-US" sz="1300" dirty="0">
                <a:solidFill>
                  <a:schemeClr val="tx1"/>
                </a:solidFill>
              </a:rPr>
              <a:t>Annual to daily plans with chapter milestones, from the calendar and exam dates.</a:t>
            </a:r>
            <a:endParaRPr lang="en-US" sz="1300" dirty="0"/>
          </a:p>
        </p:txBody>
      </p:sp>
      <p:sp>
        <p:nvSpPr>
          <p:cNvPr id="31" name="People stay in charge"/>
          <p:cNvSpPr/>
          <p:nvPr/>
        </p:nvSpPr>
        <p:spPr>
          <a:xfrm>
            <a:off x="6492240" y="3721608"/>
            <a:ext cx="5148072" cy="987552"/>
          </a:xfrm>
          <a:prstGeom prst="roundRect">
            <a:avLst>
              <a:gd name="adj" fmla="val 11111"/>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2" name="People stay in charge circle"/>
          <p:cNvSpPr/>
          <p:nvPr/>
        </p:nvSpPr>
        <p:spPr>
          <a:xfrm>
            <a:off x="6675120" y="3904488"/>
            <a:ext cx="603504" cy="603504"/>
          </a:xfrm>
          <a:prstGeom prst="ellipse">
            <a:avLst/>
          </a:prstGeom>
          <a:solidFill>
            <a:schemeClr val="accent2"/>
          </a:solidFill>
          <a:ln/>
        </p:spPr>
      </p:sp>
      <p:pic>
        <p:nvPicPr>
          <p:cNvPr id="33" name="People stay in charge icon" descr="People stay in charge">    </p:cNvPr>
          <p:cNvPicPr>
            <a:picLocks noChangeAspect="1"/>
          </p:cNvPicPr>
          <p:nvPr/>
        </p:nvPicPr>
        <p:blipFill>
          <a:blip r:embed="rId2"/>
          <a:stretch>
            <a:fillRect/>
          </a:stretch>
        </p:blipFill>
        <p:spPr>
          <a:xfrm>
            <a:off x="6825996" y="4055364"/>
            <a:ext cx="301752" cy="301752"/>
          </a:xfrm>
          <a:prstGeom prst="rect">
            <a:avLst/>
          </a:prstGeom>
        </p:spPr>
      </p:pic>
      <p:sp>
        <p:nvSpPr>
          <p:cNvPr id="34" name="Text 30"/>
          <p:cNvSpPr txBox="1"/>
          <p:nvPr/>
        </p:nvSpPr>
        <p:spPr>
          <a:xfrm>
            <a:off x="7452360" y="3831336"/>
            <a:ext cx="4023360" cy="347472"/>
          </a:xfrm>
          <a:prstGeom prst="rect">
            <a:avLst/>
          </a:prstGeom>
          <a:noFill/>
          <a:ln/>
        </p:spPr>
        <p:txBody>
          <a:bodyPr wrap="square" lIns="0" tIns="0" rIns="0" bIns="0" rtlCol="0" anchor="t"/>
          <a:lstStyle/>
          <a:p>
            <a:pPr indent="0" marL="0">
              <a:buNone/>
            </a:pPr>
            <a:r>
              <a:rPr lang="en-US" sz="1600" b="1" dirty="0">
                <a:solidFill>
                  <a:schemeClr val="tx2"/>
                </a:solidFill>
              </a:rPr>
              <a:t>People stay in charge</a:t>
            </a:r>
            <a:endParaRPr lang="en-US" sz="1600" dirty="0"/>
          </a:p>
        </p:txBody>
      </p:sp>
      <p:sp>
        <p:nvSpPr>
          <p:cNvPr id="35" name="Text 31"/>
          <p:cNvSpPr txBox="1"/>
          <p:nvPr/>
        </p:nvSpPr>
        <p:spPr>
          <a:xfrm>
            <a:off x="7452360" y="4178808"/>
            <a:ext cx="4023360" cy="502920"/>
          </a:xfrm>
          <a:prstGeom prst="rect">
            <a:avLst/>
          </a:prstGeom>
          <a:noFill/>
          <a:ln/>
        </p:spPr>
        <p:txBody>
          <a:bodyPr wrap="square" lIns="0" tIns="0" rIns="0" bIns="0" rtlCol="0" anchor="t"/>
          <a:lstStyle/>
          <a:p>
            <a:pPr indent="0" marL="0">
              <a:buNone/>
            </a:pPr>
            <a:r>
              <a:rPr lang="en-US" sz="1300" dirty="0">
                <a:solidFill>
                  <a:schemeClr val="tx1"/>
                </a:solidFill>
              </a:rPr>
              <a:t>Teacher reviews the plan; principal approves where the school requires it.</a:t>
            </a:r>
            <a:endParaRPr lang="en-US" sz="1300" dirty="0"/>
          </a:p>
        </p:txBody>
      </p:sp>
      <p:sp>
        <p:nvSpPr>
          <p:cNvPr id="36" name="Missed a lesson? It re-plans"/>
          <p:cNvSpPr/>
          <p:nvPr/>
        </p:nvSpPr>
        <p:spPr>
          <a:xfrm>
            <a:off x="6492240" y="4837176"/>
            <a:ext cx="5148072" cy="987552"/>
          </a:xfrm>
          <a:prstGeom prst="roundRect">
            <a:avLst>
              <a:gd name="adj" fmla="val 11111"/>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7" name="Missed a lesson? It re-plans circle"/>
          <p:cNvSpPr/>
          <p:nvPr/>
        </p:nvSpPr>
        <p:spPr>
          <a:xfrm>
            <a:off x="6675120" y="5020056"/>
            <a:ext cx="603504" cy="603504"/>
          </a:xfrm>
          <a:prstGeom prst="ellipse">
            <a:avLst/>
          </a:prstGeom>
          <a:solidFill>
            <a:schemeClr val="accent3"/>
          </a:solidFill>
          <a:ln/>
        </p:spPr>
      </p:sp>
      <p:pic>
        <p:nvPicPr>
          <p:cNvPr id="38" name="Missed a lesson? It re-plans icon" descr="Missed a lesson? It re-plans">    </p:cNvPr>
          <p:cNvPicPr>
            <a:picLocks noChangeAspect="1"/>
          </p:cNvPicPr>
          <p:nvPr/>
        </p:nvPicPr>
        <p:blipFill>
          <a:blip r:embed="rId3"/>
          <a:stretch>
            <a:fillRect/>
          </a:stretch>
        </p:blipFill>
        <p:spPr>
          <a:xfrm>
            <a:off x="6825996" y="5170932"/>
            <a:ext cx="301752" cy="301752"/>
          </a:xfrm>
          <a:prstGeom prst="rect">
            <a:avLst/>
          </a:prstGeom>
        </p:spPr>
      </p:pic>
      <p:sp>
        <p:nvSpPr>
          <p:cNvPr id="39" name="Text 34"/>
          <p:cNvSpPr txBox="1"/>
          <p:nvPr/>
        </p:nvSpPr>
        <p:spPr>
          <a:xfrm>
            <a:off x="7452360" y="4946904"/>
            <a:ext cx="4023360" cy="347472"/>
          </a:xfrm>
          <a:prstGeom prst="rect">
            <a:avLst/>
          </a:prstGeom>
          <a:noFill/>
          <a:ln/>
        </p:spPr>
        <p:txBody>
          <a:bodyPr wrap="square" lIns="0" tIns="0" rIns="0" bIns="0" rtlCol="0" anchor="t"/>
          <a:lstStyle/>
          <a:p>
            <a:pPr indent="0" marL="0">
              <a:buNone/>
            </a:pPr>
            <a:r>
              <a:rPr lang="en-US" sz="1600" b="1" dirty="0">
                <a:solidFill>
                  <a:schemeClr val="tx2"/>
                </a:solidFill>
              </a:rPr>
              <a:t>Missed a lesson? It re-plans</a:t>
            </a:r>
            <a:endParaRPr lang="en-US" sz="1600" dirty="0"/>
          </a:p>
        </p:txBody>
      </p:sp>
      <p:sp>
        <p:nvSpPr>
          <p:cNvPr id="40" name="Text 35"/>
          <p:cNvSpPr txBox="1"/>
          <p:nvPr/>
        </p:nvSpPr>
        <p:spPr>
          <a:xfrm>
            <a:off x="7452360" y="5294376"/>
            <a:ext cx="4023360" cy="502920"/>
          </a:xfrm>
          <a:prstGeom prst="rect">
            <a:avLst/>
          </a:prstGeom>
          <a:noFill/>
          <a:ln/>
        </p:spPr>
        <p:txBody>
          <a:bodyPr wrap="square" lIns="0" tIns="0" rIns="0" bIns="0" rtlCol="0" anchor="t"/>
          <a:lstStyle/>
          <a:p>
            <a:pPr indent="0" marL="0">
              <a:buNone/>
            </a:pPr>
            <a:r>
              <a:rPr lang="en-US" sz="1300" dirty="0">
                <a:solidFill>
                  <a:schemeClr val="tx1"/>
                </a:solidFill>
              </a:rPr>
              <a:t>Proposes a new schedule; completed lessons stay untouched; every change shows what and why.</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Two separate scores: covered vs learned</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Finishing a chapter is not the same as understanding it — AI Gurukul tracks both, separately.</a:t>
            </a:r>
            <a:endParaRPr lang="en-US" sz="1600" dirty="0"/>
          </a:p>
        </p:txBody>
      </p:sp>
      <p:sp>
        <p:nvSpPr>
          <p:cNvPr id="5" name="Completion"/>
          <p:cNvSpPr/>
          <p:nvPr/>
        </p:nvSpPr>
        <p:spPr>
          <a:xfrm>
            <a:off x="548640" y="1828800"/>
            <a:ext cx="544068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Completion circle"/>
          <p:cNvSpPr/>
          <p:nvPr/>
        </p:nvSpPr>
        <p:spPr>
          <a:xfrm>
            <a:off x="868680" y="2103120"/>
            <a:ext cx="777240" cy="777240"/>
          </a:xfrm>
          <a:prstGeom prst="ellipse">
            <a:avLst/>
          </a:prstGeom>
          <a:solidFill>
            <a:schemeClr val="accent1"/>
          </a:solidFill>
          <a:ln/>
        </p:spPr>
      </p:sp>
      <p:pic>
        <p:nvPicPr>
          <p:cNvPr id="7" name="Completion icon" descr="Completion">    </p:cNvPr>
          <p:cNvPicPr>
            <a:picLocks noChangeAspect="1"/>
          </p:cNvPicPr>
          <p:nvPr/>
        </p:nvPicPr>
        <p:blipFill>
          <a:blip r:embed="rId1"/>
          <a:stretch>
            <a:fillRect/>
          </a:stretch>
        </p:blipFill>
        <p:spPr>
          <a:xfrm>
            <a:off x="1062990" y="2297430"/>
            <a:ext cx="388620" cy="388620"/>
          </a:xfrm>
          <a:prstGeom prst="rect">
            <a:avLst/>
          </a:prstGeom>
        </p:spPr>
      </p:pic>
      <p:sp>
        <p:nvSpPr>
          <p:cNvPr id="8" name="Text 5"/>
          <p:cNvSpPr txBox="1"/>
          <p:nvPr/>
        </p:nvSpPr>
        <p:spPr>
          <a:xfrm>
            <a:off x="1874520" y="2103120"/>
            <a:ext cx="3840480" cy="411480"/>
          </a:xfrm>
          <a:prstGeom prst="rect">
            <a:avLst/>
          </a:prstGeom>
          <a:noFill/>
          <a:ln/>
        </p:spPr>
        <p:txBody>
          <a:bodyPr wrap="square" lIns="0" tIns="0" rIns="0" bIns="0" rtlCol="0" anchor="t"/>
          <a:lstStyle/>
          <a:p>
            <a:pPr indent="0" marL="0">
              <a:buNone/>
            </a:pPr>
            <a:r>
              <a:rPr lang="en-US" sz="2200" b="1" dirty="0">
                <a:solidFill>
                  <a:schemeClr val="accent1"/>
                </a:solidFill>
              </a:rPr>
              <a:t>Completion</a:t>
            </a:r>
            <a:endParaRPr lang="en-US" sz="2200" dirty="0"/>
          </a:p>
        </p:txBody>
      </p:sp>
      <p:sp>
        <p:nvSpPr>
          <p:cNvPr id="9" name="Text 6"/>
          <p:cNvSpPr txBox="1"/>
          <p:nvPr/>
        </p:nvSpPr>
        <p:spPr>
          <a:xfrm>
            <a:off x="1874520" y="2514600"/>
            <a:ext cx="3840480" cy="365760"/>
          </a:xfrm>
          <a:prstGeom prst="rect">
            <a:avLst/>
          </a:prstGeom>
          <a:noFill/>
          <a:ln/>
        </p:spPr>
        <p:txBody>
          <a:bodyPr wrap="square" lIns="0" tIns="0" rIns="0" bIns="0" rtlCol="0" anchor="t"/>
          <a:lstStyle/>
          <a:p>
            <a:pPr indent="0" marL="0">
              <a:buNone/>
            </a:pPr>
            <a:r>
              <a:rPr lang="en-US" sz="1600" b="1" dirty="0">
                <a:solidFill>
                  <a:schemeClr val="tx2"/>
                </a:solidFill>
              </a:rPr>
              <a:t>Was the topic taught and finished?</a:t>
            </a:r>
            <a:endParaRPr lang="en-US" sz="1600" dirty="0"/>
          </a:p>
        </p:txBody>
      </p:sp>
      <p:sp>
        <p:nvSpPr>
          <p:cNvPr id="10" name="Text 7"/>
          <p:cNvSpPr txBox="1"/>
          <p:nvPr/>
        </p:nvSpPr>
        <p:spPr>
          <a:xfrm>
            <a:off x="1874520" y="2926080"/>
            <a:ext cx="3886200" cy="731520"/>
          </a:xfrm>
          <a:prstGeom prst="rect">
            <a:avLst/>
          </a:prstGeom>
          <a:noFill/>
          <a:ln/>
        </p:spPr>
        <p:txBody>
          <a:bodyPr wrap="square" lIns="0" tIns="0" rIns="0" bIns="0" rtlCol="0" anchor="t"/>
          <a:lstStyle/>
          <a:p>
            <a:pPr indent="0" marL="0">
              <a:buNone/>
            </a:pPr>
            <a:r>
              <a:rPr lang="en-US" sz="1400" dirty="0">
                <a:solidFill>
                  <a:schemeClr val="tx1"/>
                </a:solidFill>
              </a:rPr>
              <a:t>Measured by: Lessons delivered, videos watched, homework submitted</a:t>
            </a:r>
            <a:endParaRPr lang="en-US" sz="1400" dirty="0"/>
          </a:p>
        </p:txBody>
      </p:sp>
      <p:sp>
        <p:nvSpPr>
          <p:cNvPr id="11" name="Mastery"/>
          <p:cNvSpPr/>
          <p:nvPr/>
        </p:nvSpPr>
        <p:spPr>
          <a:xfrm>
            <a:off x="6172200" y="1828800"/>
            <a:ext cx="544068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2" name="Mastery circle"/>
          <p:cNvSpPr/>
          <p:nvPr/>
        </p:nvSpPr>
        <p:spPr>
          <a:xfrm>
            <a:off x="6492240" y="2103120"/>
            <a:ext cx="777240" cy="777240"/>
          </a:xfrm>
          <a:prstGeom prst="ellipse">
            <a:avLst/>
          </a:prstGeom>
          <a:solidFill>
            <a:schemeClr val="accent5"/>
          </a:solidFill>
          <a:ln/>
        </p:spPr>
      </p:sp>
      <p:pic>
        <p:nvPicPr>
          <p:cNvPr id="13" name="Mastery icon" descr="Mastery">    </p:cNvPr>
          <p:cNvPicPr>
            <a:picLocks noChangeAspect="1"/>
          </p:cNvPicPr>
          <p:nvPr/>
        </p:nvPicPr>
        <p:blipFill>
          <a:blip r:embed="rId2"/>
          <a:stretch>
            <a:fillRect/>
          </a:stretch>
        </p:blipFill>
        <p:spPr>
          <a:xfrm>
            <a:off x="6686550" y="2297430"/>
            <a:ext cx="388620" cy="388620"/>
          </a:xfrm>
          <a:prstGeom prst="rect">
            <a:avLst/>
          </a:prstGeom>
        </p:spPr>
      </p:pic>
      <p:sp>
        <p:nvSpPr>
          <p:cNvPr id="14" name="Text 10"/>
          <p:cNvSpPr txBox="1"/>
          <p:nvPr/>
        </p:nvSpPr>
        <p:spPr>
          <a:xfrm>
            <a:off x="7498080" y="2103120"/>
            <a:ext cx="3840480" cy="411480"/>
          </a:xfrm>
          <a:prstGeom prst="rect">
            <a:avLst/>
          </a:prstGeom>
          <a:noFill/>
          <a:ln/>
        </p:spPr>
        <p:txBody>
          <a:bodyPr wrap="square" lIns="0" tIns="0" rIns="0" bIns="0" rtlCol="0" anchor="t"/>
          <a:lstStyle/>
          <a:p>
            <a:pPr indent="0" marL="0">
              <a:buNone/>
            </a:pPr>
            <a:r>
              <a:rPr lang="en-US" sz="2200" b="1" dirty="0">
                <a:solidFill>
                  <a:schemeClr val="accent5"/>
                </a:solidFill>
              </a:rPr>
              <a:t>Mastery</a:t>
            </a:r>
            <a:endParaRPr lang="en-US" sz="2200" dirty="0"/>
          </a:p>
        </p:txBody>
      </p:sp>
      <p:sp>
        <p:nvSpPr>
          <p:cNvPr id="15" name="Text 11"/>
          <p:cNvSpPr txBox="1"/>
          <p:nvPr/>
        </p:nvSpPr>
        <p:spPr>
          <a:xfrm>
            <a:off x="7498080" y="2514600"/>
            <a:ext cx="3840480" cy="365760"/>
          </a:xfrm>
          <a:prstGeom prst="rect">
            <a:avLst/>
          </a:prstGeom>
          <a:noFill/>
          <a:ln/>
        </p:spPr>
        <p:txBody>
          <a:bodyPr wrap="square" lIns="0" tIns="0" rIns="0" bIns="0" rtlCol="0" anchor="t"/>
          <a:lstStyle/>
          <a:p>
            <a:pPr indent="0" marL="0">
              <a:buNone/>
            </a:pPr>
            <a:r>
              <a:rPr lang="en-US" sz="1600" b="1" dirty="0">
                <a:solidFill>
                  <a:schemeClr val="tx2"/>
                </a:solidFill>
              </a:rPr>
              <a:t>Did the child actually learn it?</a:t>
            </a:r>
            <a:endParaRPr lang="en-US" sz="1600" dirty="0"/>
          </a:p>
        </p:txBody>
      </p:sp>
      <p:sp>
        <p:nvSpPr>
          <p:cNvPr id="16" name="Text 12"/>
          <p:cNvSpPr txBox="1"/>
          <p:nvPr/>
        </p:nvSpPr>
        <p:spPr>
          <a:xfrm>
            <a:off x="7498080" y="2926080"/>
            <a:ext cx="3886200" cy="731520"/>
          </a:xfrm>
          <a:prstGeom prst="rect">
            <a:avLst/>
          </a:prstGeom>
          <a:noFill/>
          <a:ln/>
        </p:spPr>
        <p:txBody>
          <a:bodyPr wrap="square" lIns="0" tIns="0" rIns="0" bIns="0" rtlCol="0" anchor="t"/>
          <a:lstStyle/>
          <a:p>
            <a:pPr indent="0" marL="0">
              <a:buNone/>
            </a:pPr>
            <a:r>
              <a:rPr lang="en-US" sz="1400" dirty="0">
                <a:solidFill>
                  <a:schemeClr val="tx1"/>
                </a:solidFill>
              </a:rPr>
              <a:t>Measured by: Test answers and assessments, scored against each learning outcome</a:t>
            </a:r>
            <a:endParaRPr lang="en-US" sz="1400" dirty="0"/>
          </a:p>
        </p:txBody>
      </p:sp>
      <p:sp>
        <p:nvSpPr>
          <p:cNvPr id="17" name="example"/>
          <p:cNvSpPr/>
          <p:nvPr/>
        </p:nvSpPr>
        <p:spPr>
          <a:xfrm>
            <a:off x="548640" y="4114800"/>
            <a:ext cx="11094415" cy="1783080"/>
          </a:xfrm>
          <a:prstGeom prst="roundRect">
            <a:avLst>
              <a:gd name="adj" fmla="val 6154"/>
            </a:avLst>
          </a:prstGeom>
          <a:solidFill>
            <a:schemeClr val="accent6">
              <a:alpha val="7000"/>
            </a:schemeClr>
          </a:solidFill>
          <a:ln/>
        </p:spPr>
      </p:sp>
      <p:sp>
        <p:nvSpPr>
          <p:cNvPr id="18" name="Text 14"/>
          <p:cNvSpPr txBox="1"/>
          <p:nvPr/>
        </p:nvSpPr>
        <p:spPr>
          <a:xfrm>
            <a:off x="868680" y="4251960"/>
            <a:ext cx="7315200" cy="365760"/>
          </a:xfrm>
          <a:prstGeom prst="rect">
            <a:avLst/>
          </a:prstGeom>
          <a:noFill/>
          <a:ln/>
        </p:spPr>
        <p:txBody>
          <a:bodyPr wrap="square" lIns="0" tIns="0" rIns="0" bIns="0" rtlCol="0" anchor="t"/>
          <a:lstStyle/>
          <a:p>
            <a:pPr indent="0" marL="0">
              <a:buNone/>
            </a:pPr>
            <a:r>
              <a:rPr lang="en-US" sz="1600" b="1" dirty="0">
                <a:solidFill>
                  <a:schemeClr val="tx2"/>
                </a:solidFill>
              </a:rPr>
              <a:t>Example — Meena, Class 7, Maths: Fractions</a:t>
            </a:r>
            <a:endParaRPr lang="en-US" sz="1600" dirty="0"/>
          </a:p>
        </p:txBody>
      </p:sp>
      <p:sp>
        <p:nvSpPr>
          <p:cNvPr id="19" name="Text 15"/>
          <p:cNvSpPr txBox="1"/>
          <p:nvPr/>
        </p:nvSpPr>
        <p:spPr>
          <a:xfrm>
            <a:off x="868680" y="4754880"/>
            <a:ext cx="1280160" cy="365760"/>
          </a:xfrm>
          <a:prstGeom prst="rect">
            <a:avLst/>
          </a:prstGeom>
          <a:noFill/>
          <a:ln/>
        </p:spPr>
        <p:txBody>
          <a:bodyPr wrap="square" lIns="0" tIns="0" rIns="0" bIns="0" rtlCol="0" anchor="ctr"/>
          <a:lstStyle/>
          <a:p>
            <a:pPr indent="0" marL="0">
              <a:buNone/>
            </a:pPr>
            <a:r>
              <a:rPr lang="en-US" sz="1400" b="1" dirty="0">
                <a:solidFill>
                  <a:schemeClr val="tx1"/>
                </a:solidFill>
              </a:rPr>
              <a:t>Completion</a:t>
            </a:r>
            <a:endParaRPr lang="en-US" sz="1400" dirty="0"/>
          </a:p>
        </p:txBody>
      </p:sp>
      <p:sp>
        <p:nvSpPr>
          <p:cNvPr id="20" name="track"/>
          <p:cNvSpPr/>
          <p:nvPr/>
        </p:nvSpPr>
        <p:spPr>
          <a:xfrm>
            <a:off x="2194560" y="4818888"/>
            <a:ext cx="4206240" cy="237744"/>
          </a:xfrm>
          <a:prstGeom prst="roundRect">
            <a:avLst>
              <a:gd name="adj" fmla="val 50000"/>
            </a:avLst>
          </a:prstGeom>
          <a:solidFill>
            <a:srgbClr val="DCE3EC"/>
          </a:solidFill>
          <a:ln/>
        </p:spPr>
      </p:sp>
      <p:sp>
        <p:nvSpPr>
          <p:cNvPr id="21" name="Completion bar"/>
          <p:cNvSpPr/>
          <p:nvPr/>
        </p:nvSpPr>
        <p:spPr>
          <a:xfrm>
            <a:off x="2194560" y="4818888"/>
            <a:ext cx="4206240" cy="237744"/>
          </a:xfrm>
          <a:prstGeom prst="roundRect">
            <a:avLst>
              <a:gd name="adj" fmla="val 50000"/>
            </a:avLst>
          </a:prstGeom>
          <a:solidFill>
            <a:schemeClr val="accent1"/>
          </a:solidFill>
          <a:ln/>
        </p:spPr>
      </p:sp>
      <p:sp>
        <p:nvSpPr>
          <p:cNvPr id="22" name="Text 18"/>
          <p:cNvSpPr txBox="1"/>
          <p:nvPr/>
        </p:nvSpPr>
        <p:spPr>
          <a:xfrm>
            <a:off x="6537960" y="4754880"/>
            <a:ext cx="731520" cy="365760"/>
          </a:xfrm>
          <a:prstGeom prst="rect">
            <a:avLst/>
          </a:prstGeom>
          <a:noFill/>
          <a:ln/>
        </p:spPr>
        <p:txBody>
          <a:bodyPr wrap="square" lIns="0" tIns="0" rIns="0" bIns="0" rtlCol="0" anchor="ctr"/>
          <a:lstStyle/>
          <a:p>
            <a:pPr indent="0" marL="0">
              <a:buNone/>
            </a:pPr>
            <a:r>
              <a:rPr lang="en-US" sz="1400" b="1" dirty="0">
                <a:solidFill>
                  <a:schemeClr val="accent1"/>
                </a:solidFill>
              </a:rPr>
              <a:t>100%</a:t>
            </a:r>
            <a:endParaRPr lang="en-US" sz="1400" dirty="0"/>
          </a:p>
        </p:txBody>
      </p:sp>
      <p:sp>
        <p:nvSpPr>
          <p:cNvPr id="23" name="Text 19"/>
          <p:cNvSpPr txBox="1"/>
          <p:nvPr/>
        </p:nvSpPr>
        <p:spPr>
          <a:xfrm>
            <a:off x="868680" y="5257800"/>
            <a:ext cx="1280160" cy="365760"/>
          </a:xfrm>
          <a:prstGeom prst="rect">
            <a:avLst/>
          </a:prstGeom>
          <a:noFill/>
          <a:ln/>
        </p:spPr>
        <p:txBody>
          <a:bodyPr wrap="square" lIns="0" tIns="0" rIns="0" bIns="0" rtlCol="0" anchor="ctr"/>
          <a:lstStyle/>
          <a:p>
            <a:pPr indent="0" marL="0">
              <a:buNone/>
            </a:pPr>
            <a:r>
              <a:rPr lang="en-US" sz="1400" b="1" dirty="0">
                <a:solidFill>
                  <a:schemeClr val="tx1"/>
                </a:solidFill>
              </a:rPr>
              <a:t>Mastery</a:t>
            </a:r>
            <a:endParaRPr lang="en-US" sz="1400" dirty="0"/>
          </a:p>
        </p:txBody>
      </p:sp>
      <p:sp>
        <p:nvSpPr>
          <p:cNvPr id="24" name="track"/>
          <p:cNvSpPr/>
          <p:nvPr/>
        </p:nvSpPr>
        <p:spPr>
          <a:xfrm>
            <a:off x="2194560" y="5321808"/>
            <a:ext cx="4206240" cy="237744"/>
          </a:xfrm>
          <a:prstGeom prst="roundRect">
            <a:avLst>
              <a:gd name="adj" fmla="val 50000"/>
            </a:avLst>
          </a:prstGeom>
          <a:solidFill>
            <a:srgbClr val="DCE3EC"/>
          </a:solidFill>
          <a:ln/>
        </p:spPr>
      </p:sp>
      <p:sp>
        <p:nvSpPr>
          <p:cNvPr id="25" name="Mastery bar"/>
          <p:cNvSpPr/>
          <p:nvPr/>
        </p:nvSpPr>
        <p:spPr>
          <a:xfrm>
            <a:off x="2194560" y="5321808"/>
            <a:ext cx="2313432" cy="237744"/>
          </a:xfrm>
          <a:prstGeom prst="roundRect">
            <a:avLst>
              <a:gd name="adj" fmla="val 50000"/>
            </a:avLst>
          </a:prstGeom>
          <a:solidFill>
            <a:schemeClr val="accent5"/>
          </a:solidFill>
          <a:ln/>
        </p:spPr>
      </p:sp>
      <p:sp>
        <p:nvSpPr>
          <p:cNvPr id="26" name="Text 22"/>
          <p:cNvSpPr txBox="1"/>
          <p:nvPr/>
        </p:nvSpPr>
        <p:spPr>
          <a:xfrm>
            <a:off x="6537960" y="5257800"/>
            <a:ext cx="731520" cy="365760"/>
          </a:xfrm>
          <a:prstGeom prst="rect">
            <a:avLst/>
          </a:prstGeom>
          <a:noFill/>
          <a:ln/>
        </p:spPr>
        <p:txBody>
          <a:bodyPr wrap="square" lIns="0" tIns="0" rIns="0" bIns="0" rtlCol="0" anchor="ctr"/>
          <a:lstStyle/>
          <a:p>
            <a:pPr indent="0" marL="0">
              <a:buNone/>
            </a:pPr>
            <a:r>
              <a:rPr lang="en-US" sz="1400" b="1" dirty="0">
                <a:solidFill>
                  <a:schemeClr val="accent5"/>
                </a:solidFill>
              </a:rPr>
              <a:t>55%</a:t>
            </a:r>
            <a:endParaRPr lang="en-US" sz="1400" dirty="0"/>
          </a:p>
        </p:txBody>
      </p:sp>
      <p:sp>
        <p:nvSpPr>
          <p:cNvPr id="27" name="action circle"/>
          <p:cNvSpPr/>
          <p:nvPr/>
        </p:nvSpPr>
        <p:spPr>
          <a:xfrm>
            <a:off x="7452360" y="4892040"/>
            <a:ext cx="548640" cy="548640"/>
          </a:xfrm>
          <a:prstGeom prst="ellipse">
            <a:avLst/>
          </a:prstGeom>
          <a:solidFill>
            <a:schemeClr val="tx2"/>
          </a:solidFill>
          <a:ln/>
        </p:spPr>
      </p:sp>
      <p:pic>
        <p:nvPicPr>
          <p:cNvPr id="28" name="action icon" descr="action">    </p:cNvPr>
          <p:cNvPicPr>
            <a:picLocks noChangeAspect="1"/>
          </p:cNvPicPr>
          <p:nvPr/>
        </p:nvPicPr>
        <p:blipFill>
          <a:blip r:embed="rId3"/>
          <a:stretch>
            <a:fillRect/>
          </a:stretch>
        </p:blipFill>
        <p:spPr>
          <a:xfrm>
            <a:off x="7589520" y="5029200"/>
            <a:ext cx="274320" cy="274320"/>
          </a:xfrm>
          <a:prstGeom prst="rect">
            <a:avLst/>
          </a:prstGeom>
        </p:spPr>
      </p:pic>
      <p:sp>
        <p:nvSpPr>
          <p:cNvPr id="29" name="Text 24"/>
          <p:cNvSpPr txBox="1"/>
          <p:nvPr/>
        </p:nvSpPr>
        <p:spPr>
          <a:xfrm>
            <a:off x="8183880" y="4526280"/>
            <a:ext cx="3291840" cy="1280160"/>
          </a:xfrm>
          <a:prstGeom prst="rect">
            <a:avLst/>
          </a:prstGeom>
          <a:noFill/>
          <a:ln/>
        </p:spPr>
        <p:txBody>
          <a:bodyPr wrap="square" lIns="0" tIns="0" rIns="0" bIns="0" rtlCol="0" anchor="ctr"/>
          <a:lstStyle/>
          <a:p>
            <a:pPr indent="0" marL="0">
              <a:buNone/>
            </a:pPr>
            <a:r>
              <a:rPr lang="en-US" sz="1400" b="1" dirty="0">
                <a:solidFill>
                  <a:schemeClr val="tx2"/>
                </a:solidFill>
              </a:rPr>
              <a:t>What happens next</a:t>
            </a:r>
            <a:endParaRPr lang="en-US" sz="1400" dirty="0"/>
          </a:p>
          <a:p>
            <a:pPr indent="0" marL="0">
              <a:buNone/>
            </a:pPr>
            <a:r>
              <a:rPr lang="en-US" sz="1400" dirty="0">
                <a:solidFill>
                  <a:schemeClr val="tx1"/>
                </a:solidFill>
              </a:rPr>
              <a:t>AI suggests 3 practice sets on her weak sub-topics and flags her to the teacher.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When a teacher is absent, learning continues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Critical in Chhattisgarh, where 5,973 schools run with only one teacher.</a:t>
            </a:r>
            <a:endParaRPr lang="en-US" sz="1600" dirty="0"/>
          </a:p>
        </p:txBody>
      </p:sp>
      <p:sp>
        <p:nvSpPr>
          <p:cNvPr id="5" name="Absence recorded"/>
          <p:cNvSpPr/>
          <p:nvPr/>
        </p:nvSpPr>
        <p:spPr>
          <a:xfrm>
            <a:off x="548640" y="1828800"/>
            <a:ext cx="2606040" cy="1463040"/>
          </a:xfrm>
          <a:prstGeom prst="roundRect">
            <a:avLst>
              <a:gd name="adj" fmla="val 75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Absence recorded circle"/>
          <p:cNvSpPr/>
          <p:nvPr/>
        </p:nvSpPr>
        <p:spPr>
          <a:xfrm>
            <a:off x="777240" y="2011680"/>
            <a:ext cx="548640" cy="548640"/>
          </a:xfrm>
          <a:prstGeom prst="ellipse">
            <a:avLst/>
          </a:prstGeom>
          <a:solidFill>
            <a:schemeClr val="accent1"/>
          </a:solidFill>
          <a:ln/>
        </p:spPr>
      </p:sp>
      <p:pic>
        <p:nvPicPr>
          <p:cNvPr id="7" name="Absence recorded icon" descr="Absence recorded">    </p:cNvPr>
          <p:cNvPicPr>
            <a:picLocks noChangeAspect="1"/>
          </p:cNvPicPr>
          <p:nvPr/>
        </p:nvPicPr>
        <p:blipFill>
          <a:blip r:embed="rId1"/>
          <a:stretch>
            <a:fillRect/>
          </a:stretch>
        </p:blipFill>
        <p:spPr>
          <a:xfrm>
            <a:off x="914400" y="2148840"/>
            <a:ext cx="274320" cy="274320"/>
          </a:xfrm>
          <a:prstGeom prst="rect">
            <a:avLst/>
          </a:prstGeom>
        </p:spPr>
      </p:pic>
      <p:sp>
        <p:nvSpPr>
          <p:cNvPr id="8" name="Text 5"/>
          <p:cNvSpPr txBox="1"/>
          <p:nvPr/>
        </p:nvSpPr>
        <p:spPr>
          <a:xfrm>
            <a:off x="1417320" y="2011680"/>
            <a:ext cx="1645920" cy="548640"/>
          </a:xfrm>
          <a:prstGeom prst="rect">
            <a:avLst/>
          </a:prstGeom>
          <a:noFill/>
          <a:ln/>
        </p:spPr>
        <p:txBody>
          <a:bodyPr wrap="square" lIns="0" tIns="0" rIns="0" bIns="0" rtlCol="0" anchor="ctr"/>
          <a:lstStyle/>
          <a:p>
            <a:pPr indent="0" marL="0">
              <a:buNone/>
            </a:pPr>
            <a:r>
              <a:rPr lang="en-US" sz="1500" b="1" dirty="0">
                <a:solidFill>
                  <a:schemeClr val="tx2"/>
                </a:solidFill>
              </a:rPr>
              <a:t>1  Absence recorded</a:t>
            </a:r>
            <a:endParaRPr lang="en-US" sz="1500" dirty="0"/>
          </a:p>
        </p:txBody>
      </p:sp>
      <p:sp>
        <p:nvSpPr>
          <p:cNvPr id="9" name="Text 6"/>
          <p:cNvSpPr txBox="1"/>
          <p:nvPr/>
        </p:nvSpPr>
        <p:spPr>
          <a:xfrm>
            <a:off x="777240" y="2651760"/>
            <a:ext cx="2194560" cy="594360"/>
          </a:xfrm>
          <a:prstGeom prst="rect">
            <a:avLst/>
          </a:prstGeom>
          <a:noFill/>
          <a:ln/>
        </p:spPr>
        <p:txBody>
          <a:bodyPr wrap="square" lIns="0" tIns="0" rIns="0" bIns="0" rtlCol="0" anchor="t"/>
          <a:lstStyle/>
          <a:p>
            <a:pPr indent="0" marL="0">
              <a:buNone/>
            </a:pPr>
            <a:r>
              <a:rPr lang="en-US" sz="1300" dirty="0">
                <a:solidFill>
                  <a:schemeClr val="tx1"/>
                </a:solidFill>
              </a:rPr>
              <a:t>By the principal or an approved attendance system</a:t>
            </a:r>
            <a:endParaRPr lang="en-US" sz="1300" dirty="0"/>
          </a:p>
        </p:txBody>
      </p:sp>
      <p:pic>
        <p:nvPicPr>
          <p:cNvPr id="10" name="Image 1" descr="next">    </p:cNvPr>
          <p:cNvPicPr>
            <a:picLocks noChangeAspect="1"/>
          </p:cNvPicPr>
          <p:nvPr/>
        </p:nvPicPr>
        <p:blipFill>
          <a:blip r:embed="rId2"/>
          <a:stretch>
            <a:fillRect/>
          </a:stretch>
        </p:blipFill>
        <p:spPr>
          <a:xfrm>
            <a:off x="3191256" y="2450592"/>
            <a:ext cx="155448" cy="219456"/>
          </a:xfrm>
          <a:prstGeom prst="rect">
            <a:avLst/>
          </a:prstGeom>
        </p:spPr>
      </p:pic>
      <p:sp>
        <p:nvSpPr>
          <p:cNvPr id="11" name="Gap identified"/>
          <p:cNvSpPr/>
          <p:nvPr/>
        </p:nvSpPr>
        <p:spPr>
          <a:xfrm>
            <a:off x="3364992" y="1828800"/>
            <a:ext cx="2606040" cy="1463040"/>
          </a:xfrm>
          <a:prstGeom prst="roundRect">
            <a:avLst>
              <a:gd name="adj" fmla="val 75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2" name="Gap identified circle"/>
          <p:cNvSpPr/>
          <p:nvPr/>
        </p:nvSpPr>
        <p:spPr>
          <a:xfrm>
            <a:off x="3593592" y="2011680"/>
            <a:ext cx="548640" cy="548640"/>
          </a:xfrm>
          <a:prstGeom prst="ellipse">
            <a:avLst/>
          </a:prstGeom>
          <a:solidFill>
            <a:schemeClr val="accent2"/>
          </a:solidFill>
          <a:ln/>
        </p:spPr>
      </p:sp>
      <p:pic>
        <p:nvPicPr>
          <p:cNvPr id="13" name="Gap identified icon" descr="Gap identified">    </p:cNvPr>
          <p:cNvPicPr>
            <a:picLocks noChangeAspect="1"/>
          </p:cNvPicPr>
          <p:nvPr/>
        </p:nvPicPr>
        <p:blipFill>
          <a:blip r:embed="rId3"/>
          <a:stretch>
            <a:fillRect/>
          </a:stretch>
        </p:blipFill>
        <p:spPr>
          <a:xfrm>
            <a:off x="3730752" y="2148840"/>
            <a:ext cx="274320" cy="274320"/>
          </a:xfrm>
          <a:prstGeom prst="rect">
            <a:avLst/>
          </a:prstGeom>
        </p:spPr>
      </p:pic>
      <p:sp>
        <p:nvSpPr>
          <p:cNvPr id="14" name="Text 9"/>
          <p:cNvSpPr txBox="1"/>
          <p:nvPr/>
        </p:nvSpPr>
        <p:spPr>
          <a:xfrm>
            <a:off x="4233672" y="2011680"/>
            <a:ext cx="1645920" cy="548640"/>
          </a:xfrm>
          <a:prstGeom prst="rect">
            <a:avLst/>
          </a:prstGeom>
          <a:noFill/>
          <a:ln/>
        </p:spPr>
        <p:txBody>
          <a:bodyPr wrap="square" lIns="0" tIns="0" rIns="0" bIns="0" rtlCol="0" anchor="ctr"/>
          <a:lstStyle/>
          <a:p>
            <a:pPr indent="0" marL="0">
              <a:buNone/>
            </a:pPr>
            <a:r>
              <a:rPr lang="en-US" sz="1500" b="1" dirty="0">
                <a:solidFill>
                  <a:schemeClr val="tx2"/>
                </a:solidFill>
              </a:rPr>
              <a:t>2  Gap identified</a:t>
            </a:r>
            <a:endParaRPr lang="en-US" sz="1500" dirty="0"/>
          </a:p>
        </p:txBody>
      </p:sp>
      <p:sp>
        <p:nvSpPr>
          <p:cNvPr id="15" name="Text 10"/>
          <p:cNvSpPr txBox="1"/>
          <p:nvPr/>
        </p:nvSpPr>
        <p:spPr>
          <a:xfrm>
            <a:off x="3593592" y="2651760"/>
            <a:ext cx="2194560" cy="594360"/>
          </a:xfrm>
          <a:prstGeom prst="rect">
            <a:avLst/>
          </a:prstGeom>
          <a:noFill/>
          <a:ln/>
        </p:spPr>
        <p:txBody>
          <a:bodyPr wrap="square" lIns="0" tIns="0" rIns="0" bIns="0" rtlCol="0" anchor="t"/>
          <a:lstStyle/>
          <a:p>
            <a:pPr indent="0" marL="0">
              <a:buNone/>
            </a:pPr>
            <a:r>
              <a:rPr lang="en-US" sz="1300" dirty="0">
                <a:solidFill>
                  <a:schemeClr val="tx1"/>
                </a:solidFill>
              </a:rPr>
              <a:t>Affected class, period, subject and planned topic</a:t>
            </a:r>
            <a:endParaRPr lang="en-US" sz="1300" dirty="0"/>
          </a:p>
        </p:txBody>
      </p:sp>
      <p:pic>
        <p:nvPicPr>
          <p:cNvPr id="16" name="Image 3" descr="next">    </p:cNvPr>
          <p:cNvPicPr>
            <a:picLocks noChangeAspect="1"/>
          </p:cNvPicPr>
          <p:nvPr/>
        </p:nvPicPr>
        <p:blipFill>
          <a:blip r:embed="rId4"/>
          <a:stretch>
            <a:fillRect/>
          </a:stretch>
        </p:blipFill>
        <p:spPr>
          <a:xfrm>
            <a:off x="6007608" y="2450592"/>
            <a:ext cx="155448" cy="219456"/>
          </a:xfrm>
          <a:prstGeom prst="rect">
            <a:avLst/>
          </a:prstGeom>
        </p:spPr>
      </p:pic>
      <p:sp>
        <p:nvSpPr>
          <p:cNvPr id="17" name="Best cover suggested"/>
          <p:cNvSpPr/>
          <p:nvPr/>
        </p:nvSpPr>
        <p:spPr>
          <a:xfrm>
            <a:off x="6181344" y="1828800"/>
            <a:ext cx="2606040" cy="1463040"/>
          </a:xfrm>
          <a:prstGeom prst="roundRect">
            <a:avLst>
              <a:gd name="adj" fmla="val 75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8" name="Best cover suggested circle"/>
          <p:cNvSpPr/>
          <p:nvPr/>
        </p:nvSpPr>
        <p:spPr>
          <a:xfrm>
            <a:off x="6409944" y="2011680"/>
            <a:ext cx="548640" cy="548640"/>
          </a:xfrm>
          <a:prstGeom prst="ellipse">
            <a:avLst/>
          </a:prstGeom>
          <a:solidFill>
            <a:schemeClr val="accent3"/>
          </a:solidFill>
          <a:ln/>
        </p:spPr>
      </p:sp>
      <p:pic>
        <p:nvPicPr>
          <p:cNvPr id="19" name="Best cover suggested icon" descr="Best cover suggested">    </p:cNvPr>
          <p:cNvPicPr>
            <a:picLocks noChangeAspect="1"/>
          </p:cNvPicPr>
          <p:nvPr/>
        </p:nvPicPr>
        <p:blipFill>
          <a:blip r:embed="rId5"/>
          <a:stretch>
            <a:fillRect/>
          </a:stretch>
        </p:blipFill>
        <p:spPr>
          <a:xfrm>
            <a:off x="6547104" y="2148840"/>
            <a:ext cx="274320" cy="274320"/>
          </a:xfrm>
          <a:prstGeom prst="rect">
            <a:avLst/>
          </a:prstGeom>
        </p:spPr>
      </p:pic>
      <p:sp>
        <p:nvSpPr>
          <p:cNvPr id="20" name="Text 13"/>
          <p:cNvSpPr txBox="1"/>
          <p:nvPr/>
        </p:nvSpPr>
        <p:spPr>
          <a:xfrm>
            <a:off x="7050024" y="2011680"/>
            <a:ext cx="1645920" cy="548640"/>
          </a:xfrm>
          <a:prstGeom prst="rect">
            <a:avLst/>
          </a:prstGeom>
          <a:noFill/>
          <a:ln/>
        </p:spPr>
        <p:txBody>
          <a:bodyPr wrap="square" lIns="0" tIns="0" rIns="0" bIns="0" rtlCol="0" anchor="ctr"/>
          <a:lstStyle/>
          <a:p>
            <a:pPr indent="0" marL="0">
              <a:buNone/>
            </a:pPr>
            <a:r>
              <a:rPr lang="en-US" sz="1500" b="1" dirty="0">
                <a:solidFill>
                  <a:schemeClr val="tx2"/>
                </a:solidFill>
              </a:rPr>
              <a:t>3  Best cover suggested</a:t>
            </a:r>
            <a:endParaRPr lang="en-US" sz="1500" dirty="0"/>
          </a:p>
        </p:txBody>
      </p:sp>
      <p:sp>
        <p:nvSpPr>
          <p:cNvPr id="21" name="Text 14"/>
          <p:cNvSpPr txBox="1"/>
          <p:nvPr/>
        </p:nvSpPr>
        <p:spPr>
          <a:xfrm>
            <a:off x="6409944" y="2651760"/>
            <a:ext cx="2194560" cy="594360"/>
          </a:xfrm>
          <a:prstGeom prst="rect">
            <a:avLst/>
          </a:prstGeom>
          <a:noFill/>
          <a:ln/>
        </p:spPr>
        <p:txBody>
          <a:bodyPr wrap="square" lIns="0" tIns="0" rIns="0" bIns="0" rtlCol="0" anchor="t"/>
          <a:lstStyle/>
          <a:p>
            <a:pPr indent="0" marL="0">
              <a:buNone/>
            </a:pPr>
            <a:r>
              <a:rPr lang="en-US" sz="1300" dirty="0">
                <a:solidFill>
                  <a:schemeClr val="tx1"/>
                </a:solidFill>
              </a:rPr>
              <a:t>Matched on subject, timetable, workload and permissions</a:t>
            </a:r>
            <a:endParaRPr lang="en-US" sz="1300" dirty="0"/>
          </a:p>
        </p:txBody>
      </p:sp>
      <p:pic>
        <p:nvPicPr>
          <p:cNvPr id="22" name="Image 5" descr="next">    </p:cNvPr>
          <p:cNvPicPr>
            <a:picLocks noChangeAspect="1"/>
          </p:cNvPicPr>
          <p:nvPr/>
        </p:nvPicPr>
        <p:blipFill>
          <a:blip r:embed="rId6"/>
          <a:stretch>
            <a:fillRect/>
          </a:stretch>
        </p:blipFill>
        <p:spPr>
          <a:xfrm>
            <a:off x="8823960" y="2450592"/>
            <a:ext cx="155448" cy="219456"/>
          </a:xfrm>
          <a:prstGeom prst="rect">
            <a:avLst/>
          </a:prstGeom>
        </p:spPr>
      </p:pic>
      <p:sp>
        <p:nvSpPr>
          <p:cNvPr id="23" name="Principal approves"/>
          <p:cNvSpPr/>
          <p:nvPr/>
        </p:nvSpPr>
        <p:spPr>
          <a:xfrm>
            <a:off x="8997696" y="1828800"/>
            <a:ext cx="2606040" cy="1463040"/>
          </a:xfrm>
          <a:prstGeom prst="roundRect">
            <a:avLst>
              <a:gd name="adj" fmla="val 75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4" name="Principal approves circle"/>
          <p:cNvSpPr/>
          <p:nvPr/>
        </p:nvSpPr>
        <p:spPr>
          <a:xfrm>
            <a:off x="9226296" y="2011680"/>
            <a:ext cx="548640" cy="548640"/>
          </a:xfrm>
          <a:prstGeom prst="ellipse">
            <a:avLst/>
          </a:prstGeom>
          <a:solidFill>
            <a:schemeClr val="accent4"/>
          </a:solidFill>
          <a:ln/>
        </p:spPr>
      </p:sp>
      <p:pic>
        <p:nvPicPr>
          <p:cNvPr id="25" name="Principal approves icon" descr="Principal approves">    </p:cNvPr>
          <p:cNvPicPr>
            <a:picLocks noChangeAspect="1"/>
          </p:cNvPicPr>
          <p:nvPr/>
        </p:nvPicPr>
        <p:blipFill>
          <a:blip r:embed="rId7"/>
          <a:stretch>
            <a:fillRect/>
          </a:stretch>
        </p:blipFill>
        <p:spPr>
          <a:xfrm>
            <a:off x="9363456" y="2148840"/>
            <a:ext cx="274320" cy="274320"/>
          </a:xfrm>
          <a:prstGeom prst="rect">
            <a:avLst/>
          </a:prstGeom>
        </p:spPr>
      </p:pic>
      <p:sp>
        <p:nvSpPr>
          <p:cNvPr id="26" name="Text 17"/>
          <p:cNvSpPr txBox="1"/>
          <p:nvPr/>
        </p:nvSpPr>
        <p:spPr>
          <a:xfrm>
            <a:off x="9866376" y="2011680"/>
            <a:ext cx="1645920" cy="548640"/>
          </a:xfrm>
          <a:prstGeom prst="rect">
            <a:avLst/>
          </a:prstGeom>
          <a:noFill/>
          <a:ln/>
        </p:spPr>
        <p:txBody>
          <a:bodyPr wrap="square" lIns="0" tIns="0" rIns="0" bIns="0" rtlCol="0" anchor="ctr"/>
          <a:lstStyle/>
          <a:p>
            <a:pPr indent="0" marL="0">
              <a:buNone/>
            </a:pPr>
            <a:r>
              <a:rPr lang="en-US" sz="1500" b="1" dirty="0">
                <a:solidFill>
                  <a:schemeClr val="tx2"/>
                </a:solidFill>
              </a:rPr>
              <a:t>4  Principal approves</a:t>
            </a:r>
            <a:endParaRPr lang="en-US" sz="1500" dirty="0"/>
          </a:p>
        </p:txBody>
      </p:sp>
      <p:sp>
        <p:nvSpPr>
          <p:cNvPr id="27" name="Text 18"/>
          <p:cNvSpPr txBox="1"/>
          <p:nvPr/>
        </p:nvSpPr>
        <p:spPr>
          <a:xfrm>
            <a:off x="9226296" y="2651760"/>
            <a:ext cx="2194560" cy="594360"/>
          </a:xfrm>
          <a:prstGeom prst="rect">
            <a:avLst/>
          </a:prstGeom>
          <a:noFill/>
          <a:ln/>
        </p:spPr>
        <p:txBody>
          <a:bodyPr wrap="square" lIns="0" tIns="0" rIns="0" bIns="0" rtlCol="0" anchor="t"/>
          <a:lstStyle/>
          <a:p>
            <a:pPr indent="0" marL="0">
              <a:buNone/>
            </a:pPr>
            <a:r>
              <a:rPr lang="en-US" sz="1300" dirty="0">
                <a:solidFill>
                  <a:schemeClr val="tx1"/>
                </a:solidFill>
              </a:rPr>
              <a:t>Automatic only where school policy allows</a:t>
            </a:r>
            <a:endParaRPr lang="en-US" sz="1300" dirty="0"/>
          </a:p>
        </p:txBody>
      </p:sp>
      <p:sp>
        <p:nvSpPr>
          <p:cNvPr id="28" name="Substitute available"/>
          <p:cNvSpPr/>
          <p:nvPr/>
        </p:nvSpPr>
        <p:spPr>
          <a:xfrm>
            <a:off x="548640" y="3520440"/>
            <a:ext cx="5440680" cy="1325880"/>
          </a:xfrm>
          <a:prstGeom prst="roundRect">
            <a:avLst>
              <a:gd name="adj" fmla="val 8276"/>
            </a:avLst>
          </a:prstGeom>
          <a:solidFill>
            <a:schemeClr val="accent1">
              <a:alpha val="12000"/>
            </a:schemeClr>
          </a:solidFill>
          <a:ln/>
        </p:spPr>
      </p:sp>
      <p:sp>
        <p:nvSpPr>
          <p:cNvPr id="29" name="Substitute available circle"/>
          <p:cNvSpPr/>
          <p:nvPr/>
        </p:nvSpPr>
        <p:spPr>
          <a:xfrm>
            <a:off x="822960" y="3703320"/>
            <a:ext cx="640080" cy="640080"/>
          </a:xfrm>
          <a:prstGeom prst="ellipse">
            <a:avLst/>
          </a:prstGeom>
          <a:solidFill>
            <a:schemeClr val="accent1"/>
          </a:solidFill>
          <a:ln/>
        </p:spPr>
      </p:sp>
      <p:pic>
        <p:nvPicPr>
          <p:cNvPr id="30" name="Substitute available icon" descr="Substitute available">    </p:cNvPr>
          <p:cNvPicPr>
            <a:picLocks noChangeAspect="1"/>
          </p:cNvPicPr>
          <p:nvPr/>
        </p:nvPicPr>
        <p:blipFill>
          <a:blip r:embed="rId8"/>
          <a:stretch>
            <a:fillRect/>
          </a:stretch>
        </p:blipFill>
        <p:spPr>
          <a:xfrm>
            <a:off x="982980" y="3863340"/>
            <a:ext cx="320040" cy="320040"/>
          </a:xfrm>
          <a:prstGeom prst="rect">
            <a:avLst/>
          </a:prstGeom>
        </p:spPr>
      </p:pic>
      <p:sp>
        <p:nvSpPr>
          <p:cNvPr id="31" name="Text 21"/>
          <p:cNvSpPr txBox="1"/>
          <p:nvPr/>
        </p:nvSpPr>
        <p:spPr>
          <a:xfrm>
            <a:off x="1645920" y="3657600"/>
            <a:ext cx="4160520" cy="384048"/>
          </a:xfrm>
          <a:prstGeom prst="rect">
            <a:avLst/>
          </a:prstGeom>
          <a:noFill/>
          <a:ln/>
        </p:spPr>
        <p:txBody>
          <a:bodyPr wrap="square" lIns="0" tIns="0" rIns="0" bIns="0" rtlCol="0" anchor="t"/>
          <a:lstStyle/>
          <a:p>
            <a:pPr indent="0" marL="0">
              <a:buNone/>
            </a:pPr>
            <a:r>
              <a:rPr lang="en-US" sz="1700" b="1" dirty="0">
                <a:solidFill>
                  <a:schemeClr val="tx2"/>
                </a:solidFill>
              </a:rPr>
              <a:t>Substitute available</a:t>
            </a:r>
            <a:endParaRPr lang="en-US" sz="1700" dirty="0"/>
          </a:p>
        </p:txBody>
      </p:sp>
      <p:sp>
        <p:nvSpPr>
          <p:cNvPr id="32" name="Text 22"/>
          <p:cNvSpPr txBox="1"/>
          <p:nvPr/>
        </p:nvSpPr>
        <p:spPr>
          <a:xfrm>
            <a:off x="1645920" y="4041648"/>
            <a:ext cx="4160520" cy="731520"/>
          </a:xfrm>
          <a:prstGeom prst="rect">
            <a:avLst/>
          </a:prstGeom>
          <a:noFill/>
          <a:ln/>
        </p:spPr>
        <p:txBody>
          <a:bodyPr wrap="square" lIns="0" tIns="0" rIns="0" bIns="0" rtlCol="0" anchor="t"/>
          <a:lstStyle/>
          <a:p>
            <a:pPr indent="0" marL="0">
              <a:buNone/>
            </a:pPr>
            <a:r>
              <a:rPr lang="en-US" sz="1400" dirty="0">
                <a:solidFill>
                  <a:schemeClr val="tx1"/>
                </a:solidFill>
              </a:rPr>
              <a:t>The substitute teaches the planned topic, using the same lesson plan and resources.</a:t>
            </a:r>
            <a:endParaRPr lang="en-US" sz="1400" dirty="0"/>
          </a:p>
        </p:txBody>
      </p:sp>
      <p:sp>
        <p:nvSpPr>
          <p:cNvPr id="33" name="No one available → digital class"/>
          <p:cNvSpPr/>
          <p:nvPr/>
        </p:nvSpPr>
        <p:spPr>
          <a:xfrm>
            <a:off x="6172200" y="3520440"/>
            <a:ext cx="5440680" cy="1325880"/>
          </a:xfrm>
          <a:prstGeom prst="roundRect">
            <a:avLst>
              <a:gd name="adj" fmla="val 8276"/>
            </a:avLst>
          </a:prstGeom>
          <a:solidFill>
            <a:schemeClr val="accent5">
              <a:alpha val="12000"/>
            </a:schemeClr>
          </a:solidFill>
          <a:ln/>
        </p:spPr>
      </p:sp>
      <p:sp>
        <p:nvSpPr>
          <p:cNvPr id="34" name="No one available → digital class circle"/>
          <p:cNvSpPr/>
          <p:nvPr/>
        </p:nvSpPr>
        <p:spPr>
          <a:xfrm>
            <a:off x="6446520" y="3703320"/>
            <a:ext cx="640080" cy="640080"/>
          </a:xfrm>
          <a:prstGeom prst="ellipse">
            <a:avLst/>
          </a:prstGeom>
          <a:solidFill>
            <a:schemeClr val="accent5"/>
          </a:solidFill>
          <a:ln/>
        </p:spPr>
      </p:sp>
      <p:pic>
        <p:nvPicPr>
          <p:cNvPr id="35" name="No one available → digital class icon" descr="No one available → digital class">    </p:cNvPr>
          <p:cNvPicPr>
            <a:picLocks noChangeAspect="1"/>
          </p:cNvPicPr>
          <p:nvPr/>
        </p:nvPicPr>
        <p:blipFill>
          <a:blip r:embed="rId9"/>
          <a:stretch>
            <a:fillRect/>
          </a:stretch>
        </p:blipFill>
        <p:spPr>
          <a:xfrm>
            <a:off x="6606540" y="3863340"/>
            <a:ext cx="320040" cy="320040"/>
          </a:xfrm>
          <a:prstGeom prst="rect">
            <a:avLst/>
          </a:prstGeom>
        </p:spPr>
      </p:pic>
      <p:sp>
        <p:nvSpPr>
          <p:cNvPr id="36" name="Text 25"/>
          <p:cNvSpPr txBox="1"/>
          <p:nvPr/>
        </p:nvSpPr>
        <p:spPr>
          <a:xfrm>
            <a:off x="7269480" y="3657600"/>
            <a:ext cx="4160520" cy="384048"/>
          </a:xfrm>
          <a:prstGeom prst="rect">
            <a:avLst/>
          </a:prstGeom>
          <a:noFill/>
          <a:ln/>
        </p:spPr>
        <p:txBody>
          <a:bodyPr wrap="square" lIns="0" tIns="0" rIns="0" bIns="0" rtlCol="0" anchor="t"/>
          <a:lstStyle/>
          <a:p>
            <a:pPr indent="0" marL="0">
              <a:buNone/>
            </a:pPr>
            <a:r>
              <a:rPr lang="en-US" sz="1700" b="1" dirty="0">
                <a:solidFill>
                  <a:schemeClr val="tx2"/>
                </a:solidFill>
              </a:rPr>
              <a:t>No one available → digital class</a:t>
            </a:r>
            <a:endParaRPr lang="en-US" sz="1700" dirty="0"/>
          </a:p>
        </p:txBody>
      </p:sp>
      <p:sp>
        <p:nvSpPr>
          <p:cNvPr id="37" name="Text 26"/>
          <p:cNvSpPr txBox="1"/>
          <p:nvPr/>
        </p:nvSpPr>
        <p:spPr>
          <a:xfrm>
            <a:off x="7269480" y="4041648"/>
            <a:ext cx="4160520" cy="731520"/>
          </a:xfrm>
          <a:prstGeom prst="rect">
            <a:avLst/>
          </a:prstGeom>
          <a:noFill/>
          <a:ln/>
        </p:spPr>
        <p:txBody>
          <a:bodyPr wrap="square" lIns="0" tIns="0" rIns="0" bIns="0" rtlCol="0" anchor="t"/>
          <a:lstStyle/>
          <a:p>
            <a:pPr indent="0" marL="0">
              <a:buNone/>
            </a:pPr>
            <a:r>
              <a:rPr lang="en-US" sz="1400" dirty="0">
                <a:solidFill>
                  <a:schemeClr val="tx1"/>
                </a:solidFill>
              </a:rPr>
              <a:t>Approved topic video + AI doubt help + guided practice, so the period is not lost.</a:t>
            </a:r>
            <a:endParaRPr lang="en-US" sz="1400" dirty="0"/>
          </a:p>
        </p:txBody>
      </p:sp>
      <p:sp>
        <p:nvSpPr>
          <p:cNvPr id="38" name="record"/>
          <p:cNvSpPr/>
          <p:nvPr/>
        </p:nvSpPr>
        <p:spPr>
          <a:xfrm>
            <a:off x="548640" y="5074920"/>
            <a:ext cx="11094415" cy="777240"/>
          </a:xfrm>
          <a:prstGeom prst="roundRect">
            <a:avLst>
              <a:gd name="adj" fmla="val 14118"/>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9" name="calendar updated circle"/>
          <p:cNvSpPr/>
          <p:nvPr/>
        </p:nvSpPr>
        <p:spPr>
          <a:xfrm>
            <a:off x="731520" y="5184648"/>
            <a:ext cx="548640" cy="548640"/>
          </a:xfrm>
          <a:prstGeom prst="ellipse">
            <a:avLst/>
          </a:prstGeom>
          <a:solidFill>
            <a:schemeClr val="accent4"/>
          </a:solidFill>
          <a:ln/>
        </p:spPr>
      </p:sp>
      <p:pic>
        <p:nvPicPr>
          <p:cNvPr id="40" name="calendar updated icon" descr="calendar updated">    </p:cNvPr>
          <p:cNvPicPr>
            <a:picLocks noChangeAspect="1"/>
          </p:cNvPicPr>
          <p:nvPr/>
        </p:nvPicPr>
        <p:blipFill>
          <a:blip r:embed="rId10"/>
          <a:stretch>
            <a:fillRect/>
          </a:stretch>
        </p:blipFill>
        <p:spPr>
          <a:xfrm>
            <a:off x="868680" y="5321808"/>
            <a:ext cx="274320" cy="274320"/>
          </a:xfrm>
          <a:prstGeom prst="rect">
            <a:avLst/>
          </a:prstGeom>
        </p:spPr>
      </p:pic>
      <p:sp>
        <p:nvSpPr>
          <p:cNvPr id="41" name="Text 29"/>
          <p:cNvSpPr txBox="1"/>
          <p:nvPr/>
        </p:nvSpPr>
        <p:spPr>
          <a:xfrm>
            <a:off x="1463040" y="5074920"/>
            <a:ext cx="10058400" cy="777240"/>
          </a:xfrm>
          <a:prstGeom prst="rect">
            <a:avLst/>
          </a:prstGeom>
          <a:noFill/>
          <a:ln/>
        </p:spPr>
        <p:txBody>
          <a:bodyPr wrap="square" lIns="0" tIns="0" rIns="0" bIns="0" rtlCol="0" anchor="ctr"/>
          <a:lstStyle/>
          <a:p>
            <a:pPr indent="0" marL="0">
              <a:buNone/>
            </a:pPr>
            <a:r>
              <a:rPr lang="en-US" sz="1400" b="1" dirty="0">
                <a:solidFill>
                  <a:schemeClr val="tx2"/>
                </a:solidFill>
              </a:rPr>
              <a:t>5  Recorded and re-planned: </a:t>
            </a:r>
            <a:pPr indent="0" marL="0">
              <a:buNone/>
            </a:pPr>
            <a:r>
              <a:rPr lang="en-US" sz="1400" dirty="0">
                <a:solidFill>
                  <a:schemeClr val="tx1"/>
                </a:solidFill>
              </a:rPr>
              <a:t>what was delivered is logged; calendar and milestones update automatically.   </a:t>
            </a:r>
            <a:pPr indent="0" marL="0">
              <a:buNone/>
            </a:pPr>
            <a:r>
              <a:rPr lang="en-US" sz="1400" i="1" dirty="0">
                <a:solidFill>
                  <a:schemeClr val="accent6"/>
                </a:solidFill>
              </a:rPr>
              <a:t>Planned for Phase 3.</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What the AI does — now and later</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Start with simple, measurable help. Add voice, avatars and 3D only after quality and cost are proven.</a:t>
            </a:r>
            <a:endParaRPr lang="en-US" sz="1600" dirty="0"/>
          </a:p>
        </p:txBody>
      </p:sp>
      <p:sp>
        <p:nvSpPr>
          <p:cNvPr id="5" name="Doubt helper"/>
          <p:cNvSpPr/>
          <p:nvPr/>
        </p:nvSpPr>
        <p:spPr>
          <a:xfrm>
            <a:off x="548640" y="1828800"/>
            <a:ext cx="3520440" cy="1920240"/>
          </a:xfrm>
          <a:prstGeom prst="roundRect">
            <a:avLst>
              <a:gd name="adj" fmla="val 571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Doubt helper circle"/>
          <p:cNvSpPr/>
          <p:nvPr/>
        </p:nvSpPr>
        <p:spPr>
          <a:xfrm>
            <a:off x="822960" y="2103120"/>
            <a:ext cx="640080" cy="640080"/>
          </a:xfrm>
          <a:prstGeom prst="ellipse">
            <a:avLst/>
          </a:prstGeom>
          <a:solidFill>
            <a:schemeClr val="accent1"/>
          </a:solidFill>
          <a:ln/>
        </p:spPr>
      </p:sp>
      <p:pic>
        <p:nvPicPr>
          <p:cNvPr id="7" name="Doubt helper icon" descr="Doubt helper">    </p:cNvPr>
          <p:cNvPicPr>
            <a:picLocks noChangeAspect="1"/>
          </p:cNvPicPr>
          <p:nvPr/>
        </p:nvPicPr>
        <p:blipFill>
          <a:blip r:embed="rId1"/>
          <a:stretch>
            <a:fillRect/>
          </a:stretch>
        </p:blipFill>
        <p:spPr>
          <a:xfrm>
            <a:off x="982980" y="2263140"/>
            <a:ext cx="320040" cy="320040"/>
          </a:xfrm>
          <a:prstGeom prst="rect">
            <a:avLst/>
          </a:prstGeom>
        </p:spPr>
      </p:pic>
      <p:sp>
        <p:nvSpPr>
          <p:cNvPr id="8" name="tag"/>
          <p:cNvSpPr/>
          <p:nvPr/>
        </p:nvSpPr>
        <p:spPr>
          <a:xfrm>
            <a:off x="2880360" y="2176272"/>
            <a:ext cx="960120" cy="329184"/>
          </a:xfrm>
          <a:prstGeom prst="roundRect">
            <a:avLst>
              <a:gd name="adj" fmla="val 22222"/>
            </a:avLst>
          </a:prstGeom>
          <a:solidFill>
            <a:schemeClr val="accent1">
              <a:alpha val="15000"/>
            </a:schemeClr>
          </a:solidFill>
          <a:ln/>
        </p:spPr>
      </p:sp>
      <p:sp>
        <p:nvSpPr>
          <p:cNvPr id="9" name="Text 6"/>
          <p:cNvSpPr txBox="1"/>
          <p:nvPr/>
        </p:nvSpPr>
        <p:spPr>
          <a:xfrm>
            <a:off x="2880360" y="2176272"/>
            <a:ext cx="960120" cy="329184"/>
          </a:xfrm>
          <a:prstGeom prst="rect">
            <a:avLst/>
          </a:prstGeom>
          <a:noFill/>
          <a:ln/>
        </p:spPr>
        <p:txBody>
          <a:bodyPr wrap="square" lIns="0" tIns="0" rIns="0" bIns="0" rtlCol="0" anchor="ctr"/>
          <a:lstStyle/>
          <a:p>
            <a:pPr algn="ctr" indent="0" marL="0">
              <a:buNone/>
            </a:pPr>
            <a:r>
              <a:rPr lang="en-US" sz="1100" b="1" dirty="0">
                <a:solidFill>
                  <a:schemeClr val="accent1"/>
                </a:solidFill>
              </a:rPr>
              <a:t>PHASE 2</a:t>
            </a:r>
            <a:endParaRPr lang="en-US" sz="1100" dirty="0"/>
          </a:p>
        </p:txBody>
      </p:sp>
      <p:sp>
        <p:nvSpPr>
          <p:cNvPr id="10" name="Text 7"/>
          <p:cNvSpPr txBox="1"/>
          <p:nvPr/>
        </p:nvSpPr>
        <p:spPr>
          <a:xfrm>
            <a:off x="822960" y="2807208"/>
            <a:ext cx="3017520" cy="347472"/>
          </a:xfrm>
          <a:prstGeom prst="rect">
            <a:avLst/>
          </a:prstGeom>
          <a:noFill/>
          <a:ln/>
        </p:spPr>
        <p:txBody>
          <a:bodyPr wrap="square" lIns="0" tIns="0" rIns="0" bIns="0" rtlCol="0" anchor="t"/>
          <a:lstStyle/>
          <a:p>
            <a:pPr indent="0" marL="0">
              <a:buNone/>
            </a:pPr>
            <a:r>
              <a:rPr lang="en-US" sz="1700" b="1" dirty="0">
                <a:solidFill>
                  <a:schemeClr val="tx2"/>
                </a:solidFill>
              </a:rPr>
              <a:t>Doubt helper</a:t>
            </a:r>
            <a:endParaRPr lang="en-US" sz="1700" dirty="0"/>
          </a:p>
        </p:txBody>
      </p:sp>
      <p:sp>
        <p:nvSpPr>
          <p:cNvPr id="11" name="Text 8"/>
          <p:cNvSpPr txBox="1"/>
          <p:nvPr/>
        </p:nvSpPr>
        <p:spPr>
          <a:xfrm>
            <a:off x="822960" y="3154680"/>
            <a:ext cx="3017520" cy="548640"/>
          </a:xfrm>
          <a:prstGeom prst="rect">
            <a:avLst/>
          </a:prstGeom>
          <a:noFill/>
          <a:ln/>
        </p:spPr>
        <p:txBody>
          <a:bodyPr wrap="square" lIns="0" tIns="0" rIns="0" bIns="0" rtlCol="0" anchor="t"/>
          <a:lstStyle/>
          <a:p>
            <a:pPr indent="0" marL="0">
              <a:buNone/>
            </a:pPr>
            <a:r>
              <a:rPr lang="en-US" sz="1300" dirty="0">
                <a:solidFill>
                  <a:schemeClr val="tx1"/>
                </a:solidFill>
              </a:rPr>
              <a:t>Answers from the approved textbook; says clearly when it is not sure.</a:t>
            </a:r>
            <a:endParaRPr lang="en-US" sz="1300" dirty="0"/>
          </a:p>
        </p:txBody>
      </p:sp>
      <p:sp>
        <p:nvSpPr>
          <p:cNvPr id="12" name="Personal revision"/>
          <p:cNvSpPr/>
          <p:nvPr/>
        </p:nvSpPr>
        <p:spPr>
          <a:xfrm>
            <a:off x="4297680" y="1828800"/>
            <a:ext cx="3520440" cy="1920240"/>
          </a:xfrm>
          <a:prstGeom prst="roundRect">
            <a:avLst>
              <a:gd name="adj" fmla="val 571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3" name="Personal revision circle"/>
          <p:cNvSpPr/>
          <p:nvPr/>
        </p:nvSpPr>
        <p:spPr>
          <a:xfrm>
            <a:off x="4572000" y="2103120"/>
            <a:ext cx="640080" cy="640080"/>
          </a:xfrm>
          <a:prstGeom prst="ellipse">
            <a:avLst/>
          </a:prstGeom>
          <a:solidFill>
            <a:schemeClr val="accent1"/>
          </a:solidFill>
          <a:ln/>
        </p:spPr>
      </p:sp>
      <p:pic>
        <p:nvPicPr>
          <p:cNvPr id="14" name="Personal revision icon" descr="Personal revision">    </p:cNvPr>
          <p:cNvPicPr>
            <a:picLocks noChangeAspect="1"/>
          </p:cNvPicPr>
          <p:nvPr/>
        </p:nvPicPr>
        <p:blipFill>
          <a:blip r:embed="rId2"/>
          <a:stretch>
            <a:fillRect/>
          </a:stretch>
        </p:blipFill>
        <p:spPr>
          <a:xfrm>
            <a:off x="4732020" y="2263140"/>
            <a:ext cx="320040" cy="320040"/>
          </a:xfrm>
          <a:prstGeom prst="rect">
            <a:avLst/>
          </a:prstGeom>
        </p:spPr>
      </p:pic>
      <p:sp>
        <p:nvSpPr>
          <p:cNvPr id="15" name="tag"/>
          <p:cNvSpPr/>
          <p:nvPr/>
        </p:nvSpPr>
        <p:spPr>
          <a:xfrm>
            <a:off x="6629400" y="2176272"/>
            <a:ext cx="960120" cy="329184"/>
          </a:xfrm>
          <a:prstGeom prst="roundRect">
            <a:avLst>
              <a:gd name="adj" fmla="val 22222"/>
            </a:avLst>
          </a:prstGeom>
          <a:solidFill>
            <a:schemeClr val="accent1">
              <a:alpha val="15000"/>
            </a:schemeClr>
          </a:solidFill>
          <a:ln/>
        </p:spPr>
      </p:sp>
      <p:sp>
        <p:nvSpPr>
          <p:cNvPr id="16" name="Text 12"/>
          <p:cNvSpPr txBox="1"/>
          <p:nvPr/>
        </p:nvSpPr>
        <p:spPr>
          <a:xfrm>
            <a:off x="6629400" y="2176272"/>
            <a:ext cx="960120" cy="329184"/>
          </a:xfrm>
          <a:prstGeom prst="rect">
            <a:avLst/>
          </a:prstGeom>
          <a:noFill/>
          <a:ln/>
        </p:spPr>
        <p:txBody>
          <a:bodyPr wrap="square" lIns="0" tIns="0" rIns="0" bIns="0" rtlCol="0" anchor="ctr"/>
          <a:lstStyle/>
          <a:p>
            <a:pPr algn="ctr" indent="0" marL="0">
              <a:buNone/>
            </a:pPr>
            <a:r>
              <a:rPr lang="en-US" sz="1100" b="1" dirty="0">
                <a:solidFill>
                  <a:schemeClr val="accent1"/>
                </a:solidFill>
              </a:rPr>
              <a:t>PHASE 2</a:t>
            </a:r>
            <a:endParaRPr lang="en-US" sz="1100" dirty="0"/>
          </a:p>
        </p:txBody>
      </p:sp>
      <p:sp>
        <p:nvSpPr>
          <p:cNvPr id="17" name="Text 13"/>
          <p:cNvSpPr txBox="1"/>
          <p:nvPr/>
        </p:nvSpPr>
        <p:spPr>
          <a:xfrm>
            <a:off x="4572000" y="2807208"/>
            <a:ext cx="3017520" cy="347472"/>
          </a:xfrm>
          <a:prstGeom prst="rect">
            <a:avLst/>
          </a:prstGeom>
          <a:noFill/>
          <a:ln/>
        </p:spPr>
        <p:txBody>
          <a:bodyPr wrap="square" lIns="0" tIns="0" rIns="0" bIns="0" rtlCol="0" anchor="t"/>
          <a:lstStyle/>
          <a:p>
            <a:pPr indent="0" marL="0">
              <a:buNone/>
            </a:pPr>
            <a:r>
              <a:rPr lang="en-US" sz="1700" b="1" dirty="0">
                <a:solidFill>
                  <a:schemeClr val="tx2"/>
                </a:solidFill>
              </a:rPr>
              <a:t>Personal revision</a:t>
            </a:r>
            <a:endParaRPr lang="en-US" sz="1700" dirty="0"/>
          </a:p>
        </p:txBody>
      </p:sp>
      <p:sp>
        <p:nvSpPr>
          <p:cNvPr id="18" name="Text 14"/>
          <p:cNvSpPr txBox="1"/>
          <p:nvPr/>
        </p:nvSpPr>
        <p:spPr>
          <a:xfrm>
            <a:off x="4572000" y="3154680"/>
            <a:ext cx="3017520" cy="548640"/>
          </a:xfrm>
          <a:prstGeom prst="rect">
            <a:avLst/>
          </a:prstGeom>
          <a:noFill/>
          <a:ln/>
        </p:spPr>
        <p:txBody>
          <a:bodyPr wrap="square" lIns="0" tIns="0" rIns="0" bIns="0" rtlCol="0" anchor="t"/>
          <a:lstStyle/>
          <a:p>
            <a:pPr indent="0" marL="0">
              <a:buNone/>
            </a:pPr>
            <a:r>
              <a:rPr lang="en-US" sz="1300" dirty="0">
                <a:solidFill>
                  <a:schemeClr val="tx1"/>
                </a:solidFill>
              </a:rPr>
              <a:t>Uses marks and weak topics to suggest what to practise next.</a:t>
            </a:r>
            <a:endParaRPr lang="en-US" sz="1300" dirty="0"/>
          </a:p>
        </p:txBody>
      </p:sp>
      <p:sp>
        <p:nvSpPr>
          <p:cNvPr id="19" name="Teacher copilot"/>
          <p:cNvSpPr/>
          <p:nvPr/>
        </p:nvSpPr>
        <p:spPr>
          <a:xfrm>
            <a:off x="8046720" y="1828800"/>
            <a:ext cx="3520440" cy="1920240"/>
          </a:xfrm>
          <a:prstGeom prst="roundRect">
            <a:avLst>
              <a:gd name="adj" fmla="val 571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0" name="Teacher copilot circle"/>
          <p:cNvSpPr/>
          <p:nvPr/>
        </p:nvSpPr>
        <p:spPr>
          <a:xfrm>
            <a:off x="8321040" y="2103120"/>
            <a:ext cx="640080" cy="640080"/>
          </a:xfrm>
          <a:prstGeom prst="ellipse">
            <a:avLst/>
          </a:prstGeom>
          <a:solidFill>
            <a:schemeClr val="accent1"/>
          </a:solidFill>
          <a:ln/>
        </p:spPr>
      </p:sp>
      <p:pic>
        <p:nvPicPr>
          <p:cNvPr id="21" name="Teacher copilot icon" descr="Teacher copilot">    </p:cNvPr>
          <p:cNvPicPr>
            <a:picLocks noChangeAspect="1"/>
          </p:cNvPicPr>
          <p:nvPr/>
        </p:nvPicPr>
        <p:blipFill>
          <a:blip r:embed="rId3"/>
          <a:stretch>
            <a:fillRect/>
          </a:stretch>
        </p:blipFill>
        <p:spPr>
          <a:xfrm>
            <a:off x="8481060" y="2263140"/>
            <a:ext cx="320040" cy="320040"/>
          </a:xfrm>
          <a:prstGeom prst="rect">
            <a:avLst/>
          </a:prstGeom>
        </p:spPr>
      </p:pic>
      <p:sp>
        <p:nvSpPr>
          <p:cNvPr id="22" name="tag"/>
          <p:cNvSpPr/>
          <p:nvPr/>
        </p:nvSpPr>
        <p:spPr>
          <a:xfrm>
            <a:off x="10378440" y="2176272"/>
            <a:ext cx="960120" cy="329184"/>
          </a:xfrm>
          <a:prstGeom prst="roundRect">
            <a:avLst>
              <a:gd name="adj" fmla="val 22222"/>
            </a:avLst>
          </a:prstGeom>
          <a:solidFill>
            <a:schemeClr val="accent1">
              <a:alpha val="15000"/>
            </a:schemeClr>
          </a:solidFill>
          <a:ln/>
        </p:spPr>
      </p:sp>
      <p:sp>
        <p:nvSpPr>
          <p:cNvPr id="23" name="Text 18"/>
          <p:cNvSpPr txBox="1"/>
          <p:nvPr/>
        </p:nvSpPr>
        <p:spPr>
          <a:xfrm>
            <a:off x="10378440" y="2176272"/>
            <a:ext cx="960120" cy="329184"/>
          </a:xfrm>
          <a:prstGeom prst="rect">
            <a:avLst/>
          </a:prstGeom>
          <a:noFill/>
          <a:ln/>
        </p:spPr>
        <p:txBody>
          <a:bodyPr wrap="square" lIns="0" tIns="0" rIns="0" bIns="0" rtlCol="0" anchor="ctr"/>
          <a:lstStyle/>
          <a:p>
            <a:pPr algn="ctr" indent="0" marL="0">
              <a:buNone/>
            </a:pPr>
            <a:r>
              <a:rPr lang="en-US" sz="1100" b="1" dirty="0">
                <a:solidFill>
                  <a:schemeClr val="accent1"/>
                </a:solidFill>
              </a:rPr>
              <a:t>PHASE 2</a:t>
            </a:r>
            <a:endParaRPr lang="en-US" sz="1100" dirty="0"/>
          </a:p>
        </p:txBody>
      </p:sp>
      <p:sp>
        <p:nvSpPr>
          <p:cNvPr id="24" name="Text 19"/>
          <p:cNvSpPr txBox="1"/>
          <p:nvPr/>
        </p:nvSpPr>
        <p:spPr>
          <a:xfrm>
            <a:off x="8321040" y="2807208"/>
            <a:ext cx="3017520" cy="347472"/>
          </a:xfrm>
          <a:prstGeom prst="rect">
            <a:avLst/>
          </a:prstGeom>
          <a:noFill/>
          <a:ln/>
        </p:spPr>
        <p:txBody>
          <a:bodyPr wrap="square" lIns="0" tIns="0" rIns="0" bIns="0" rtlCol="0" anchor="t"/>
          <a:lstStyle/>
          <a:p>
            <a:pPr indent="0" marL="0">
              <a:buNone/>
            </a:pPr>
            <a:r>
              <a:rPr lang="en-US" sz="1700" b="1" dirty="0">
                <a:solidFill>
                  <a:schemeClr val="tx2"/>
                </a:solidFill>
              </a:rPr>
              <a:t>Teacher copilot</a:t>
            </a:r>
            <a:endParaRPr lang="en-US" sz="1700" dirty="0"/>
          </a:p>
        </p:txBody>
      </p:sp>
      <p:sp>
        <p:nvSpPr>
          <p:cNvPr id="25" name="Text 20"/>
          <p:cNvSpPr txBox="1"/>
          <p:nvPr/>
        </p:nvSpPr>
        <p:spPr>
          <a:xfrm>
            <a:off x="8321040" y="3154680"/>
            <a:ext cx="3017520" cy="548640"/>
          </a:xfrm>
          <a:prstGeom prst="rect">
            <a:avLst/>
          </a:prstGeom>
          <a:noFill/>
          <a:ln/>
        </p:spPr>
        <p:txBody>
          <a:bodyPr wrap="square" lIns="0" tIns="0" rIns="0" bIns="0" rtlCol="0" anchor="t"/>
          <a:lstStyle/>
          <a:p>
            <a:pPr indent="0" marL="0">
              <a:buNone/>
            </a:pPr>
            <a:r>
              <a:rPr lang="en-US" sz="1300" dirty="0">
                <a:solidFill>
                  <a:schemeClr val="tx1"/>
                </a:solidFill>
              </a:rPr>
              <a:t>Drafts questions, worksheets and lesson plans for the teacher to check.</a:t>
            </a:r>
            <a:endParaRPr lang="en-US" sz="1300" dirty="0"/>
          </a:p>
        </p:txBody>
      </p:sp>
      <p:sp>
        <p:nvSpPr>
          <p:cNvPr id="26" name="Exam readiness"/>
          <p:cNvSpPr/>
          <p:nvPr/>
        </p:nvSpPr>
        <p:spPr>
          <a:xfrm>
            <a:off x="548640" y="3931920"/>
            <a:ext cx="3520440" cy="1920240"/>
          </a:xfrm>
          <a:prstGeom prst="roundRect">
            <a:avLst>
              <a:gd name="adj" fmla="val 571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7" name="Exam readiness circle"/>
          <p:cNvSpPr/>
          <p:nvPr/>
        </p:nvSpPr>
        <p:spPr>
          <a:xfrm>
            <a:off x="822960" y="4206240"/>
            <a:ext cx="640080" cy="640080"/>
          </a:xfrm>
          <a:prstGeom prst="ellipse">
            <a:avLst/>
          </a:prstGeom>
          <a:solidFill>
            <a:schemeClr val="accent1"/>
          </a:solidFill>
          <a:ln/>
        </p:spPr>
      </p:sp>
      <p:pic>
        <p:nvPicPr>
          <p:cNvPr id="28" name="Exam readiness icon" descr="Exam readiness">    </p:cNvPr>
          <p:cNvPicPr>
            <a:picLocks noChangeAspect="1"/>
          </p:cNvPicPr>
          <p:nvPr/>
        </p:nvPicPr>
        <p:blipFill>
          <a:blip r:embed="rId4"/>
          <a:stretch>
            <a:fillRect/>
          </a:stretch>
        </p:blipFill>
        <p:spPr>
          <a:xfrm>
            <a:off x="982980" y="4366260"/>
            <a:ext cx="320040" cy="320040"/>
          </a:xfrm>
          <a:prstGeom prst="rect">
            <a:avLst/>
          </a:prstGeom>
        </p:spPr>
      </p:pic>
      <p:sp>
        <p:nvSpPr>
          <p:cNvPr id="29" name="tag"/>
          <p:cNvSpPr/>
          <p:nvPr/>
        </p:nvSpPr>
        <p:spPr>
          <a:xfrm>
            <a:off x="2880360" y="4279392"/>
            <a:ext cx="960120" cy="329184"/>
          </a:xfrm>
          <a:prstGeom prst="roundRect">
            <a:avLst>
              <a:gd name="adj" fmla="val 22222"/>
            </a:avLst>
          </a:prstGeom>
          <a:solidFill>
            <a:schemeClr val="accent1">
              <a:alpha val="15000"/>
            </a:schemeClr>
          </a:solidFill>
          <a:ln/>
        </p:spPr>
      </p:sp>
      <p:sp>
        <p:nvSpPr>
          <p:cNvPr id="30" name="Text 24"/>
          <p:cNvSpPr txBox="1"/>
          <p:nvPr/>
        </p:nvSpPr>
        <p:spPr>
          <a:xfrm>
            <a:off x="2880360" y="4279392"/>
            <a:ext cx="960120" cy="329184"/>
          </a:xfrm>
          <a:prstGeom prst="rect">
            <a:avLst/>
          </a:prstGeom>
          <a:noFill/>
          <a:ln/>
        </p:spPr>
        <p:txBody>
          <a:bodyPr wrap="square" lIns="0" tIns="0" rIns="0" bIns="0" rtlCol="0" anchor="ctr"/>
          <a:lstStyle/>
          <a:p>
            <a:pPr algn="ctr" indent="0" marL="0">
              <a:buNone/>
            </a:pPr>
            <a:r>
              <a:rPr lang="en-US" sz="1100" b="1" dirty="0">
                <a:solidFill>
                  <a:schemeClr val="accent1"/>
                </a:solidFill>
              </a:rPr>
              <a:t>PHASE 2</a:t>
            </a:r>
            <a:endParaRPr lang="en-US" sz="1100" dirty="0"/>
          </a:p>
        </p:txBody>
      </p:sp>
      <p:sp>
        <p:nvSpPr>
          <p:cNvPr id="31" name="Text 25"/>
          <p:cNvSpPr txBox="1"/>
          <p:nvPr/>
        </p:nvSpPr>
        <p:spPr>
          <a:xfrm>
            <a:off x="822960" y="4910328"/>
            <a:ext cx="3017520" cy="347472"/>
          </a:xfrm>
          <a:prstGeom prst="rect">
            <a:avLst/>
          </a:prstGeom>
          <a:noFill/>
          <a:ln/>
        </p:spPr>
        <p:txBody>
          <a:bodyPr wrap="square" lIns="0" tIns="0" rIns="0" bIns="0" rtlCol="0" anchor="t"/>
          <a:lstStyle/>
          <a:p>
            <a:pPr indent="0" marL="0">
              <a:buNone/>
            </a:pPr>
            <a:r>
              <a:rPr lang="en-US" sz="1700" b="1" dirty="0">
                <a:solidFill>
                  <a:schemeClr val="tx2"/>
                </a:solidFill>
              </a:rPr>
              <a:t>Exam readiness</a:t>
            </a:r>
            <a:endParaRPr lang="en-US" sz="1700" dirty="0"/>
          </a:p>
        </p:txBody>
      </p:sp>
      <p:sp>
        <p:nvSpPr>
          <p:cNvPr id="32" name="Text 26"/>
          <p:cNvSpPr txBox="1"/>
          <p:nvPr/>
        </p:nvSpPr>
        <p:spPr>
          <a:xfrm>
            <a:off x="822960" y="5257800"/>
            <a:ext cx="3017520" cy="548640"/>
          </a:xfrm>
          <a:prstGeom prst="rect">
            <a:avLst/>
          </a:prstGeom>
          <a:noFill/>
          <a:ln/>
        </p:spPr>
        <p:txBody>
          <a:bodyPr wrap="square" lIns="0" tIns="0" rIns="0" bIns="0" rtlCol="0" anchor="t"/>
          <a:lstStyle/>
          <a:p>
            <a:pPr indent="0" marL="0">
              <a:buNone/>
            </a:pPr>
            <a:r>
              <a:rPr lang="en-US" sz="1300" dirty="0">
                <a:solidFill>
                  <a:schemeClr val="tx1"/>
                </a:solidFill>
              </a:rPr>
              <a:t>Finds weak topics before CGBSE and school exams; makes a study plan.</a:t>
            </a:r>
            <a:endParaRPr lang="en-US" sz="1300" dirty="0"/>
          </a:p>
        </p:txBody>
      </p:sp>
      <p:sp>
        <p:nvSpPr>
          <p:cNvPr id="33" name="Voice and avatar tutor"/>
          <p:cNvSpPr/>
          <p:nvPr/>
        </p:nvSpPr>
        <p:spPr>
          <a:xfrm>
            <a:off x="4297680" y="3931920"/>
            <a:ext cx="3520440" cy="1920240"/>
          </a:xfrm>
          <a:prstGeom prst="roundRect">
            <a:avLst>
              <a:gd name="adj" fmla="val 571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4" name="Voice and avatar tutor circle"/>
          <p:cNvSpPr/>
          <p:nvPr/>
        </p:nvSpPr>
        <p:spPr>
          <a:xfrm>
            <a:off x="4572000" y="4206240"/>
            <a:ext cx="640080" cy="640080"/>
          </a:xfrm>
          <a:prstGeom prst="ellipse">
            <a:avLst/>
          </a:prstGeom>
          <a:solidFill>
            <a:schemeClr val="accent5"/>
          </a:solidFill>
          <a:ln/>
        </p:spPr>
      </p:sp>
      <p:pic>
        <p:nvPicPr>
          <p:cNvPr id="35" name="Voice and avatar tutor icon" descr="Voice and avatar tutor">    </p:cNvPr>
          <p:cNvPicPr>
            <a:picLocks noChangeAspect="1"/>
          </p:cNvPicPr>
          <p:nvPr/>
        </p:nvPicPr>
        <p:blipFill>
          <a:blip r:embed="rId5"/>
          <a:stretch>
            <a:fillRect/>
          </a:stretch>
        </p:blipFill>
        <p:spPr>
          <a:xfrm>
            <a:off x="4732020" y="4366260"/>
            <a:ext cx="320040" cy="320040"/>
          </a:xfrm>
          <a:prstGeom prst="rect">
            <a:avLst/>
          </a:prstGeom>
        </p:spPr>
      </p:pic>
      <p:sp>
        <p:nvSpPr>
          <p:cNvPr id="36" name="tag"/>
          <p:cNvSpPr/>
          <p:nvPr/>
        </p:nvSpPr>
        <p:spPr>
          <a:xfrm>
            <a:off x="6629400" y="4279392"/>
            <a:ext cx="960120" cy="329184"/>
          </a:xfrm>
          <a:prstGeom prst="roundRect">
            <a:avLst>
              <a:gd name="adj" fmla="val 22222"/>
            </a:avLst>
          </a:prstGeom>
          <a:solidFill>
            <a:schemeClr val="accent5">
              <a:alpha val="15000"/>
            </a:schemeClr>
          </a:solidFill>
          <a:ln/>
        </p:spPr>
      </p:sp>
      <p:sp>
        <p:nvSpPr>
          <p:cNvPr id="37" name="Text 30"/>
          <p:cNvSpPr txBox="1"/>
          <p:nvPr/>
        </p:nvSpPr>
        <p:spPr>
          <a:xfrm>
            <a:off x="6629400" y="4279392"/>
            <a:ext cx="960120" cy="329184"/>
          </a:xfrm>
          <a:prstGeom prst="rect">
            <a:avLst/>
          </a:prstGeom>
          <a:noFill/>
          <a:ln/>
        </p:spPr>
        <p:txBody>
          <a:bodyPr wrap="square" lIns="0" tIns="0" rIns="0" bIns="0" rtlCol="0" anchor="ctr"/>
          <a:lstStyle/>
          <a:p>
            <a:pPr algn="ctr" indent="0" marL="0">
              <a:buNone/>
            </a:pPr>
            <a:r>
              <a:rPr lang="en-US" sz="1100" b="1" dirty="0">
                <a:solidFill>
                  <a:schemeClr val="accent5"/>
                </a:solidFill>
              </a:rPr>
              <a:t>LATER</a:t>
            </a:r>
            <a:endParaRPr lang="en-US" sz="1100" dirty="0"/>
          </a:p>
        </p:txBody>
      </p:sp>
      <p:sp>
        <p:nvSpPr>
          <p:cNvPr id="38" name="Text 31"/>
          <p:cNvSpPr txBox="1"/>
          <p:nvPr/>
        </p:nvSpPr>
        <p:spPr>
          <a:xfrm>
            <a:off x="4572000" y="4910328"/>
            <a:ext cx="3017520" cy="347472"/>
          </a:xfrm>
          <a:prstGeom prst="rect">
            <a:avLst/>
          </a:prstGeom>
          <a:noFill/>
          <a:ln/>
        </p:spPr>
        <p:txBody>
          <a:bodyPr wrap="square" lIns="0" tIns="0" rIns="0" bIns="0" rtlCol="0" anchor="t"/>
          <a:lstStyle/>
          <a:p>
            <a:pPr indent="0" marL="0">
              <a:buNone/>
            </a:pPr>
            <a:r>
              <a:rPr lang="en-US" sz="1700" b="1" dirty="0">
                <a:solidFill>
                  <a:schemeClr val="tx2"/>
                </a:solidFill>
              </a:rPr>
              <a:t>Voice and avatar tutor</a:t>
            </a:r>
            <a:endParaRPr lang="en-US" sz="1700" dirty="0"/>
          </a:p>
        </p:txBody>
      </p:sp>
      <p:sp>
        <p:nvSpPr>
          <p:cNvPr id="39" name="Text 32"/>
          <p:cNvSpPr txBox="1"/>
          <p:nvPr/>
        </p:nvSpPr>
        <p:spPr>
          <a:xfrm>
            <a:off x="4572000" y="5257800"/>
            <a:ext cx="3017520" cy="548640"/>
          </a:xfrm>
          <a:prstGeom prst="rect">
            <a:avLst/>
          </a:prstGeom>
          <a:noFill/>
          <a:ln/>
        </p:spPr>
        <p:txBody>
          <a:bodyPr wrap="square" lIns="0" tIns="0" rIns="0" bIns="0" rtlCol="0" anchor="t"/>
          <a:lstStyle/>
          <a:p>
            <a:pPr indent="0" marL="0">
              <a:buNone/>
            </a:pPr>
            <a:r>
              <a:rPr lang="en-US" sz="1300" dirty="0">
                <a:solidFill>
                  <a:schemeClr val="tx1"/>
                </a:solidFill>
              </a:rPr>
              <a:t>Spoken explanations in simple language, with child-safe controls.</a:t>
            </a:r>
            <a:endParaRPr lang="en-US" sz="1300" dirty="0"/>
          </a:p>
        </p:txBody>
      </p:sp>
      <p:sp>
        <p:nvSpPr>
          <p:cNvPr id="40" name="Interactive simulations"/>
          <p:cNvSpPr/>
          <p:nvPr/>
        </p:nvSpPr>
        <p:spPr>
          <a:xfrm>
            <a:off x="8046720" y="3931920"/>
            <a:ext cx="3520440" cy="1920240"/>
          </a:xfrm>
          <a:prstGeom prst="roundRect">
            <a:avLst>
              <a:gd name="adj" fmla="val 571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41" name="Interactive simulations circle"/>
          <p:cNvSpPr/>
          <p:nvPr/>
        </p:nvSpPr>
        <p:spPr>
          <a:xfrm>
            <a:off x="8321040" y="4206240"/>
            <a:ext cx="640080" cy="640080"/>
          </a:xfrm>
          <a:prstGeom prst="ellipse">
            <a:avLst/>
          </a:prstGeom>
          <a:solidFill>
            <a:schemeClr val="accent5"/>
          </a:solidFill>
          <a:ln/>
        </p:spPr>
      </p:sp>
      <p:pic>
        <p:nvPicPr>
          <p:cNvPr id="42" name="Interactive simulations icon" descr="Interactive simulations">    </p:cNvPr>
          <p:cNvPicPr>
            <a:picLocks noChangeAspect="1"/>
          </p:cNvPicPr>
          <p:nvPr/>
        </p:nvPicPr>
        <p:blipFill>
          <a:blip r:embed="rId6"/>
          <a:stretch>
            <a:fillRect/>
          </a:stretch>
        </p:blipFill>
        <p:spPr>
          <a:xfrm>
            <a:off x="8481060" y="4366260"/>
            <a:ext cx="320040" cy="320040"/>
          </a:xfrm>
          <a:prstGeom prst="rect">
            <a:avLst/>
          </a:prstGeom>
        </p:spPr>
      </p:pic>
      <p:sp>
        <p:nvSpPr>
          <p:cNvPr id="43" name="tag"/>
          <p:cNvSpPr/>
          <p:nvPr/>
        </p:nvSpPr>
        <p:spPr>
          <a:xfrm>
            <a:off x="10378440" y="4279392"/>
            <a:ext cx="960120" cy="329184"/>
          </a:xfrm>
          <a:prstGeom prst="roundRect">
            <a:avLst>
              <a:gd name="adj" fmla="val 22222"/>
            </a:avLst>
          </a:prstGeom>
          <a:solidFill>
            <a:schemeClr val="accent5">
              <a:alpha val="15000"/>
            </a:schemeClr>
          </a:solidFill>
          <a:ln/>
        </p:spPr>
      </p:sp>
      <p:sp>
        <p:nvSpPr>
          <p:cNvPr id="44" name="Text 36"/>
          <p:cNvSpPr txBox="1"/>
          <p:nvPr/>
        </p:nvSpPr>
        <p:spPr>
          <a:xfrm>
            <a:off x="10378440" y="4279392"/>
            <a:ext cx="960120" cy="329184"/>
          </a:xfrm>
          <a:prstGeom prst="rect">
            <a:avLst/>
          </a:prstGeom>
          <a:noFill/>
          <a:ln/>
        </p:spPr>
        <p:txBody>
          <a:bodyPr wrap="square" lIns="0" tIns="0" rIns="0" bIns="0" rtlCol="0" anchor="ctr"/>
          <a:lstStyle/>
          <a:p>
            <a:pPr algn="ctr" indent="0" marL="0">
              <a:buNone/>
            </a:pPr>
            <a:r>
              <a:rPr lang="en-US" sz="1100" b="1" dirty="0">
                <a:solidFill>
                  <a:schemeClr val="accent5"/>
                </a:solidFill>
              </a:rPr>
              <a:t>LATER</a:t>
            </a:r>
            <a:endParaRPr lang="en-US" sz="1100" dirty="0"/>
          </a:p>
        </p:txBody>
      </p:sp>
      <p:sp>
        <p:nvSpPr>
          <p:cNvPr id="45" name="Text 37"/>
          <p:cNvSpPr txBox="1"/>
          <p:nvPr/>
        </p:nvSpPr>
        <p:spPr>
          <a:xfrm>
            <a:off x="8321040" y="4910328"/>
            <a:ext cx="3017520" cy="347472"/>
          </a:xfrm>
          <a:prstGeom prst="rect">
            <a:avLst/>
          </a:prstGeom>
          <a:noFill/>
          <a:ln/>
        </p:spPr>
        <p:txBody>
          <a:bodyPr wrap="square" lIns="0" tIns="0" rIns="0" bIns="0" rtlCol="0" anchor="t"/>
          <a:lstStyle/>
          <a:p>
            <a:pPr indent="0" marL="0">
              <a:buNone/>
            </a:pPr>
            <a:r>
              <a:rPr lang="en-US" sz="1700" b="1" dirty="0">
                <a:solidFill>
                  <a:schemeClr val="tx2"/>
                </a:solidFill>
              </a:rPr>
              <a:t>Interactive simulations</a:t>
            </a:r>
            <a:endParaRPr lang="en-US" sz="1700" dirty="0"/>
          </a:p>
        </p:txBody>
      </p:sp>
      <p:sp>
        <p:nvSpPr>
          <p:cNvPr id="46" name="Text 38"/>
          <p:cNvSpPr txBox="1"/>
          <p:nvPr/>
        </p:nvSpPr>
        <p:spPr>
          <a:xfrm>
            <a:off x="8321040" y="5257800"/>
            <a:ext cx="3017520" cy="548640"/>
          </a:xfrm>
          <a:prstGeom prst="rect">
            <a:avLst/>
          </a:prstGeom>
          <a:noFill/>
          <a:ln/>
        </p:spPr>
        <p:txBody>
          <a:bodyPr wrap="square" lIns="0" tIns="0" rIns="0" bIns="0" rtlCol="0" anchor="t"/>
          <a:lstStyle/>
          <a:p>
            <a:pPr indent="0" marL="0">
              <a:buNone/>
            </a:pPr>
            <a:r>
              <a:rPr lang="en-US" sz="1300" dirty="0">
                <a:solidFill>
                  <a:schemeClr val="tx1"/>
                </a:solidFill>
              </a:rPr>
              <a:t>Visual and 3D models for Science and Maths concepts.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Safe AI: our six promises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AI supports teachers — it never replaces them, the official curriculum or the school's judgement.</a:t>
            </a:r>
            <a:endParaRPr lang="en-US" sz="1600" dirty="0"/>
          </a:p>
        </p:txBody>
      </p:sp>
      <p:sp>
        <p:nvSpPr>
          <p:cNvPr id="5" name="Follows the textbook"/>
          <p:cNvSpPr/>
          <p:nvPr/>
        </p:nvSpPr>
        <p:spPr>
          <a:xfrm>
            <a:off x="548640" y="1828800"/>
            <a:ext cx="5440680" cy="1143000"/>
          </a:xfrm>
          <a:prstGeom prst="roundRect">
            <a:avLst>
              <a:gd name="adj" fmla="val 9600"/>
            </a:avLst>
          </a:prstGeom>
          <a:solidFill>
            <a:schemeClr val="accent1">
              <a:alpha val="10000"/>
            </a:schemeClr>
          </a:solidFill>
          <a:ln/>
        </p:spPr>
      </p:sp>
      <p:sp>
        <p:nvSpPr>
          <p:cNvPr id="6" name="Follows the textbook circle"/>
          <p:cNvSpPr/>
          <p:nvPr/>
        </p:nvSpPr>
        <p:spPr>
          <a:xfrm>
            <a:off x="777240" y="2057400"/>
            <a:ext cx="685800" cy="685800"/>
          </a:xfrm>
          <a:prstGeom prst="ellipse">
            <a:avLst/>
          </a:prstGeom>
          <a:solidFill>
            <a:schemeClr val="accent1"/>
          </a:solidFill>
          <a:ln/>
        </p:spPr>
      </p:sp>
      <p:pic>
        <p:nvPicPr>
          <p:cNvPr id="7" name="Follows the textbook icon" descr="Follows the textbook">    </p:cNvPr>
          <p:cNvPicPr>
            <a:picLocks noChangeAspect="1"/>
          </p:cNvPicPr>
          <p:nvPr/>
        </p:nvPicPr>
        <p:blipFill>
          <a:blip r:embed="rId1"/>
          <a:stretch>
            <a:fillRect/>
          </a:stretch>
        </p:blipFill>
        <p:spPr>
          <a:xfrm>
            <a:off x="948690" y="2228850"/>
            <a:ext cx="342900" cy="342900"/>
          </a:xfrm>
          <a:prstGeom prst="rect">
            <a:avLst/>
          </a:prstGeom>
        </p:spPr>
      </p:pic>
      <p:sp>
        <p:nvSpPr>
          <p:cNvPr id="8" name="Text 5"/>
          <p:cNvSpPr txBox="1"/>
          <p:nvPr/>
        </p:nvSpPr>
        <p:spPr>
          <a:xfrm>
            <a:off x="1645920" y="1993392"/>
            <a:ext cx="4160520" cy="384048"/>
          </a:xfrm>
          <a:prstGeom prst="rect">
            <a:avLst/>
          </a:prstGeom>
          <a:noFill/>
          <a:ln/>
        </p:spPr>
        <p:txBody>
          <a:bodyPr wrap="square" lIns="0" tIns="0" rIns="0" bIns="0" rtlCol="0" anchor="t"/>
          <a:lstStyle/>
          <a:p>
            <a:pPr indent="0" marL="0">
              <a:buNone/>
            </a:pPr>
            <a:r>
              <a:rPr lang="en-US" sz="1700" b="1" dirty="0">
                <a:solidFill>
                  <a:schemeClr val="tx2"/>
                </a:solidFill>
              </a:rPr>
              <a:t>Follows the textbook</a:t>
            </a:r>
            <a:endParaRPr lang="en-US" sz="1700" dirty="0"/>
          </a:p>
        </p:txBody>
      </p:sp>
      <p:sp>
        <p:nvSpPr>
          <p:cNvPr id="9" name="Text 6"/>
          <p:cNvSpPr txBox="1"/>
          <p:nvPr/>
        </p:nvSpPr>
        <p:spPr>
          <a:xfrm>
            <a:off x="1645920" y="2377440"/>
            <a:ext cx="4160520" cy="457200"/>
          </a:xfrm>
          <a:prstGeom prst="rect">
            <a:avLst/>
          </a:prstGeom>
          <a:noFill/>
          <a:ln/>
        </p:spPr>
        <p:txBody>
          <a:bodyPr wrap="square" lIns="0" tIns="0" rIns="0" bIns="0" rtlCol="0" anchor="t"/>
          <a:lstStyle/>
          <a:p>
            <a:pPr indent="0" marL="0">
              <a:buNone/>
            </a:pPr>
            <a:r>
              <a:rPr lang="en-US" sz="1400" dirty="0">
                <a:solidFill>
                  <a:schemeClr val="tx1"/>
                </a:solidFill>
              </a:rPr>
              <a:t>Prefers approved SCERT/NCERT content and shows its source.</a:t>
            </a:r>
            <a:endParaRPr lang="en-US" sz="1400" dirty="0"/>
          </a:p>
        </p:txBody>
      </p:sp>
      <p:sp>
        <p:nvSpPr>
          <p:cNvPr id="10" name="Child-safe"/>
          <p:cNvSpPr/>
          <p:nvPr/>
        </p:nvSpPr>
        <p:spPr>
          <a:xfrm>
            <a:off x="6172200" y="1828800"/>
            <a:ext cx="5440680" cy="1143000"/>
          </a:xfrm>
          <a:prstGeom prst="roundRect">
            <a:avLst>
              <a:gd name="adj" fmla="val 9600"/>
            </a:avLst>
          </a:prstGeom>
          <a:solidFill>
            <a:schemeClr val="accent2">
              <a:alpha val="10000"/>
            </a:schemeClr>
          </a:solidFill>
          <a:ln/>
        </p:spPr>
      </p:sp>
      <p:sp>
        <p:nvSpPr>
          <p:cNvPr id="11" name="Child-safe circle"/>
          <p:cNvSpPr/>
          <p:nvPr/>
        </p:nvSpPr>
        <p:spPr>
          <a:xfrm>
            <a:off x="6400800" y="2057400"/>
            <a:ext cx="685800" cy="685800"/>
          </a:xfrm>
          <a:prstGeom prst="ellipse">
            <a:avLst/>
          </a:prstGeom>
          <a:solidFill>
            <a:schemeClr val="accent2"/>
          </a:solidFill>
          <a:ln/>
        </p:spPr>
      </p:sp>
      <p:pic>
        <p:nvPicPr>
          <p:cNvPr id="12" name="Child-safe icon" descr="Child-safe">    </p:cNvPr>
          <p:cNvPicPr>
            <a:picLocks noChangeAspect="1"/>
          </p:cNvPicPr>
          <p:nvPr/>
        </p:nvPicPr>
        <p:blipFill>
          <a:blip r:embed="rId2"/>
          <a:stretch>
            <a:fillRect/>
          </a:stretch>
        </p:blipFill>
        <p:spPr>
          <a:xfrm>
            <a:off x="6572250" y="2228850"/>
            <a:ext cx="342900" cy="342900"/>
          </a:xfrm>
          <a:prstGeom prst="rect">
            <a:avLst/>
          </a:prstGeom>
        </p:spPr>
      </p:pic>
      <p:sp>
        <p:nvSpPr>
          <p:cNvPr id="13" name="Text 9"/>
          <p:cNvSpPr txBox="1"/>
          <p:nvPr/>
        </p:nvSpPr>
        <p:spPr>
          <a:xfrm>
            <a:off x="7269480" y="1993392"/>
            <a:ext cx="4160520" cy="384048"/>
          </a:xfrm>
          <a:prstGeom prst="rect">
            <a:avLst/>
          </a:prstGeom>
          <a:noFill/>
          <a:ln/>
        </p:spPr>
        <p:txBody>
          <a:bodyPr wrap="square" lIns="0" tIns="0" rIns="0" bIns="0" rtlCol="0" anchor="t"/>
          <a:lstStyle/>
          <a:p>
            <a:pPr indent="0" marL="0">
              <a:buNone/>
            </a:pPr>
            <a:r>
              <a:rPr lang="en-US" sz="1700" b="1" dirty="0">
                <a:solidFill>
                  <a:schemeClr val="tx2"/>
                </a:solidFill>
              </a:rPr>
              <a:t>Child-safe</a:t>
            </a:r>
            <a:endParaRPr lang="en-US" sz="1700" dirty="0"/>
          </a:p>
        </p:txBody>
      </p:sp>
      <p:sp>
        <p:nvSpPr>
          <p:cNvPr id="14" name="Text 10"/>
          <p:cNvSpPr txBox="1"/>
          <p:nvPr/>
        </p:nvSpPr>
        <p:spPr>
          <a:xfrm>
            <a:off x="7269480" y="2377440"/>
            <a:ext cx="4160520" cy="457200"/>
          </a:xfrm>
          <a:prstGeom prst="rect">
            <a:avLst/>
          </a:prstGeom>
          <a:noFill/>
          <a:ln/>
        </p:spPr>
        <p:txBody>
          <a:bodyPr wrap="square" lIns="0" tIns="0" rIns="0" bIns="0" rtlCol="0" anchor="t"/>
          <a:lstStyle/>
          <a:p>
            <a:pPr indent="0" marL="0">
              <a:buNone/>
            </a:pPr>
            <a:r>
              <a:rPr lang="en-US" sz="1400" dirty="0">
                <a:solidFill>
                  <a:schemeClr val="tx1"/>
                </a:solidFill>
              </a:rPr>
              <a:t>Age-appropriate answers, restricted topics, easy reporting.</a:t>
            </a:r>
            <a:endParaRPr lang="en-US" sz="1400" dirty="0"/>
          </a:p>
        </p:txBody>
      </p:sp>
      <p:sp>
        <p:nvSpPr>
          <p:cNvPr id="15" name="Teacher stays in control"/>
          <p:cNvSpPr/>
          <p:nvPr/>
        </p:nvSpPr>
        <p:spPr>
          <a:xfrm>
            <a:off x="548640" y="3127248"/>
            <a:ext cx="5440680" cy="1143000"/>
          </a:xfrm>
          <a:prstGeom prst="roundRect">
            <a:avLst>
              <a:gd name="adj" fmla="val 9600"/>
            </a:avLst>
          </a:prstGeom>
          <a:solidFill>
            <a:schemeClr val="accent3">
              <a:alpha val="10000"/>
            </a:schemeClr>
          </a:solidFill>
          <a:ln/>
        </p:spPr>
      </p:sp>
      <p:sp>
        <p:nvSpPr>
          <p:cNvPr id="16" name="Teacher stays in control circle"/>
          <p:cNvSpPr/>
          <p:nvPr/>
        </p:nvSpPr>
        <p:spPr>
          <a:xfrm>
            <a:off x="777240" y="3355848"/>
            <a:ext cx="685800" cy="685800"/>
          </a:xfrm>
          <a:prstGeom prst="ellipse">
            <a:avLst/>
          </a:prstGeom>
          <a:solidFill>
            <a:schemeClr val="accent3"/>
          </a:solidFill>
          <a:ln/>
        </p:spPr>
      </p:sp>
      <p:pic>
        <p:nvPicPr>
          <p:cNvPr id="17" name="Teacher stays in control icon" descr="Teacher stays in control">    </p:cNvPr>
          <p:cNvPicPr>
            <a:picLocks noChangeAspect="1"/>
          </p:cNvPicPr>
          <p:nvPr/>
        </p:nvPicPr>
        <p:blipFill>
          <a:blip r:embed="rId3"/>
          <a:stretch>
            <a:fillRect/>
          </a:stretch>
        </p:blipFill>
        <p:spPr>
          <a:xfrm>
            <a:off x="948690" y="3527298"/>
            <a:ext cx="342900" cy="342900"/>
          </a:xfrm>
          <a:prstGeom prst="rect">
            <a:avLst/>
          </a:prstGeom>
        </p:spPr>
      </p:pic>
      <p:sp>
        <p:nvSpPr>
          <p:cNvPr id="18" name="Text 13"/>
          <p:cNvSpPr txBox="1"/>
          <p:nvPr/>
        </p:nvSpPr>
        <p:spPr>
          <a:xfrm>
            <a:off x="1645920" y="3291840"/>
            <a:ext cx="4160520" cy="384048"/>
          </a:xfrm>
          <a:prstGeom prst="rect">
            <a:avLst/>
          </a:prstGeom>
          <a:noFill/>
          <a:ln/>
        </p:spPr>
        <p:txBody>
          <a:bodyPr wrap="square" lIns="0" tIns="0" rIns="0" bIns="0" rtlCol="0" anchor="t"/>
          <a:lstStyle/>
          <a:p>
            <a:pPr indent="0" marL="0">
              <a:buNone/>
            </a:pPr>
            <a:r>
              <a:rPr lang="en-US" sz="1700" b="1" dirty="0">
                <a:solidFill>
                  <a:schemeClr val="tx2"/>
                </a:solidFill>
              </a:rPr>
              <a:t>Teacher stays in control</a:t>
            </a:r>
            <a:endParaRPr lang="en-US" sz="1700" dirty="0"/>
          </a:p>
        </p:txBody>
      </p:sp>
      <p:sp>
        <p:nvSpPr>
          <p:cNvPr id="19" name="Text 14"/>
          <p:cNvSpPr txBox="1"/>
          <p:nvPr/>
        </p:nvSpPr>
        <p:spPr>
          <a:xfrm>
            <a:off x="1645920" y="3675888"/>
            <a:ext cx="4160520" cy="457200"/>
          </a:xfrm>
          <a:prstGeom prst="rect">
            <a:avLst/>
          </a:prstGeom>
          <a:noFill/>
          <a:ln/>
        </p:spPr>
        <p:txBody>
          <a:bodyPr wrap="square" lIns="0" tIns="0" rIns="0" bIns="0" rtlCol="0" anchor="t"/>
          <a:lstStyle/>
          <a:p>
            <a:pPr indent="0" marL="0">
              <a:buNone/>
            </a:pPr>
            <a:r>
              <a:rPr lang="en-US" sz="1400" dirty="0">
                <a:solidFill>
                  <a:schemeClr val="tx1"/>
                </a:solidFill>
              </a:rPr>
              <a:t>Teachers review, correct or override every suggestion.</a:t>
            </a:r>
            <a:endParaRPr lang="en-US" sz="1400" dirty="0"/>
          </a:p>
        </p:txBody>
      </p:sp>
      <p:sp>
        <p:nvSpPr>
          <p:cNvPr id="20" name="Privacy first"/>
          <p:cNvSpPr/>
          <p:nvPr/>
        </p:nvSpPr>
        <p:spPr>
          <a:xfrm>
            <a:off x="6172200" y="3127248"/>
            <a:ext cx="5440680" cy="1143000"/>
          </a:xfrm>
          <a:prstGeom prst="roundRect">
            <a:avLst>
              <a:gd name="adj" fmla="val 9600"/>
            </a:avLst>
          </a:prstGeom>
          <a:solidFill>
            <a:schemeClr val="accent4">
              <a:alpha val="10000"/>
            </a:schemeClr>
          </a:solidFill>
          <a:ln/>
        </p:spPr>
      </p:sp>
      <p:sp>
        <p:nvSpPr>
          <p:cNvPr id="21" name="Privacy first circle"/>
          <p:cNvSpPr/>
          <p:nvPr/>
        </p:nvSpPr>
        <p:spPr>
          <a:xfrm>
            <a:off x="6400800" y="3355848"/>
            <a:ext cx="685800" cy="685800"/>
          </a:xfrm>
          <a:prstGeom prst="ellipse">
            <a:avLst/>
          </a:prstGeom>
          <a:solidFill>
            <a:schemeClr val="accent4"/>
          </a:solidFill>
          <a:ln/>
        </p:spPr>
      </p:sp>
      <p:pic>
        <p:nvPicPr>
          <p:cNvPr id="22" name="Privacy first icon" descr="Privacy first">    </p:cNvPr>
          <p:cNvPicPr>
            <a:picLocks noChangeAspect="1"/>
          </p:cNvPicPr>
          <p:nvPr/>
        </p:nvPicPr>
        <p:blipFill>
          <a:blip r:embed="rId4"/>
          <a:stretch>
            <a:fillRect/>
          </a:stretch>
        </p:blipFill>
        <p:spPr>
          <a:xfrm>
            <a:off x="6572250" y="3527298"/>
            <a:ext cx="342900" cy="342900"/>
          </a:xfrm>
          <a:prstGeom prst="rect">
            <a:avLst/>
          </a:prstGeom>
        </p:spPr>
      </p:pic>
      <p:sp>
        <p:nvSpPr>
          <p:cNvPr id="23" name="Text 17"/>
          <p:cNvSpPr txBox="1"/>
          <p:nvPr/>
        </p:nvSpPr>
        <p:spPr>
          <a:xfrm>
            <a:off x="7269480" y="3291840"/>
            <a:ext cx="4160520" cy="384048"/>
          </a:xfrm>
          <a:prstGeom prst="rect">
            <a:avLst/>
          </a:prstGeom>
          <a:noFill/>
          <a:ln/>
        </p:spPr>
        <p:txBody>
          <a:bodyPr wrap="square" lIns="0" tIns="0" rIns="0" bIns="0" rtlCol="0" anchor="t"/>
          <a:lstStyle/>
          <a:p>
            <a:pPr indent="0" marL="0">
              <a:buNone/>
            </a:pPr>
            <a:r>
              <a:rPr lang="en-US" sz="1700" b="1" dirty="0">
                <a:solidFill>
                  <a:schemeClr val="tx2"/>
                </a:solidFill>
              </a:rPr>
              <a:t>Privacy first</a:t>
            </a:r>
            <a:endParaRPr lang="en-US" sz="1700" dirty="0"/>
          </a:p>
        </p:txBody>
      </p:sp>
      <p:sp>
        <p:nvSpPr>
          <p:cNvPr id="24" name="Text 18"/>
          <p:cNvSpPr txBox="1"/>
          <p:nvPr/>
        </p:nvSpPr>
        <p:spPr>
          <a:xfrm>
            <a:off x="7269480" y="3675888"/>
            <a:ext cx="4160520" cy="457200"/>
          </a:xfrm>
          <a:prstGeom prst="rect">
            <a:avLst/>
          </a:prstGeom>
          <a:noFill/>
          <a:ln/>
        </p:spPr>
        <p:txBody>
          <a:bodyPr wrap="square" lIns="0" tIns="0" rIns="0" bIns="0" rtlCol="0" anchor="t"/>
          <a:lstStyle/>
          <a:p>
            <a:pPr indent="0" marL="0">
              <a:buNone/>
            </a:pPr>
            <a:r>
              <a:rPr lang="en-US" sz="1400" dirty="0">
                <a:solidFill>
                  <a:schemeClr val="tx1"/>
                </a:solidFill>
              </a:rPr>
              <a:t>Minimum student data shared with AI; clear retention rules.</a:t>
            </a:r>
            <a:endParaRPr lang="en-US" sz="1400" dirty="0"/>
          </a:p>
        </p:txBody>
      </p:sp>
      <p:sp>
        <p:nvSpPr>
          <p:cNvPr id="25" name="Costs under control"/>
          <p:cNvSpPr/>
          <p:nvPr/>
        </p:nvSpPr>
        <p:spPr>
          <a:xfrm>
            <a:off x="548640" y="4425696"/>
            <a:ext cx="5440680" cy="1143000"/>
          </a:xfrm>
          <a:prstGeom prst="roundRect">
            <a:avLst>
              <a:gd name="adj" fmla="val 9600"/>
            </a:avLst>
          </a:prstGeom>
          <a:solidFill>
            <a:schemeClr val="accent5">
              <a:alpha val="10000"/>
            </a:schemeClr>
          </a:solidFill>
          <a:ln/>
        </p:spPr>
      </p:sp>
      <p:sp>
        <p:nvSpPr>
          <p:cNvPr id="26" name="Costs under control circle"/>
          <p:cNvSpPr/>
          <p:nvPr/>
        </p:nvSpPr>
        <p:spPr>
          <a:xfrm>
            <a:off x="777240" y="4654296"/>
            <a:ext cx="685800" cy="685800"/>
          </a:xfrm>
          <a:prstGeom prst="ellipse">
            <a:avLst/>
          </a:prstGeom>
          <a:solidFill>
            <a:schemeClr val="accent5"/>
          </a:solidFill>
          <a:ln/>
        </p:spPr>
      </p:sp>
      <p:pic>
        <p:nvPicPr>
          <p:cNvPr id="27" name="Costs under control icon" descr="Costs under control">    </p:cNvPr>
          <p:cNvPicPr>
            <a:picLocks noChangeAspect="1"/>
          </p:cNvPicPr>
          <p:nvPr/>
        </p:nvPicPr>
        <p:blipFill>
          <a:blip r:embed="rId5"/>
          <a:stretch>
            <a:fillRect/>
          </a:stretch>
        </p:blipFill>
        <p:spPr>
          <a:xfrm>
            <a:off x="948690" y="4825746"/>
            <a:ext cx="342900" cy="342900"/>
          </a:xfrm>
          <a:prstGeom prst="rect">
            <a:avLst/>
          </a:prstGeom>
        </p:spPr>
      </p:pic>
      <p:sp>
        <p:nvSpPr>
          <p:cNvPr id="28" name="Text 21"/>
          <p:cNvSpPr txBox="1"/>
          <p:nvPr/>
        </p:nvSpPr>
        <p:spPr>
          <a:xfrm>
            <a:off x="1645920" y="4590288"/>
            <a:ext cx="4160520" cy="384048"/>
          </a:xfrm>
          <a:prstGeom prst="rect">
            <a:avLst/>
          </a:prstGeom>
          <a:noFill/>
          <a:ln/>
        </p:spPr>
        <p:txBody>
          <a:bodyPr wrap="square" lIns="0" tIns="0" rIns="0" bIns="0" rtlCol="0" anchor="t"/>
          <a:lstStyle/>
          <a:p>
            <a:pPr indent="0" marL="0">
              <a:buNone/>
            </a:pPr>
            <a:r>
              <a:rPr lang="en-US" sz="1700" b="1" dirty="0">
                <a:solidFill>
                  <a:schemeClr val="tx2"/>
                </a:solidFill>
              </a:rPr>
              <a:t>Costs under control</a:t>
            </a:r>
            <a:endParaRPr lang="en-US" sz="1700" dirty="0"/>
          </a:p>
        </p:txBody>
      </p:sp>
      <p:sp>
        <p:nvSpPr>
          <p:cNvPr id="29" name="Text 22"/>
          <p:cNvSpPr txBox="1"/>
          <p:nvPr/>
        </p:nvSpPr>
        <p:spPr>
          <a:xfrm>
            <a:off x="1645920" y="4974336"/>
            <a:ext cx="4160520" cy="457200"/>
          </a:xfrm>
          <a:prstGeom prst="rect">
            <a:avLst/>
          </a:prstGeom>
          <a:noFill/>
          <a:ln/>
        </p:spPr>
        <p:txBody>
          <a:bodyPr wrap="square" lIns="0" tIns="0" rIns="0" bIns="0" rtlCol="0" anchor="t"/>
          <a:lstStyle/>
          <a:p>
            <a:pPr indent="0" marL="0">
              <a:buNone/>
            </a:pPr>
            <a:r>
              <a:rPr lang="en-US" sz="1400" dirty="0">
                <a:solidFill>
                  <a:schemeClr val="tx1"/>
                </a:solidFill>
              </a:rPr>
              <a:t>Per-school limits, caching, smaller models and spend alerts.</a:t>
            </a:r>
            <a:endParaRPr lang="en-US" sz="1400" dirty="0"/>
          </a:p>
        </p:txBody>
      </p:sp>
      <p:sp>
        <p:nvSpPr>
          <p:cNvPr id="30" name="Tested before scaling"/>
          <p:cNvSpPr/>
          <p:nvPr/>
        </p:nvSpPr>
        <p:spPr>
          <a:xfrm>
            <a:off x="6172200" y="4425696"/>
            <a:ext cx="5440680" cy="1143000"/>
          </a:xfrm>
          <a:prstGeom prst="roundRect">
            <a:avLst>
              <a:gd name="adj" fmla="val 9600"/>
            </a:avLst>
          </a:prstGeom>
          <a:solidFill>
            <a:schemeClr val="accent6">
              <a:alpha val="10000"/>
            </a:schemeClr>
          </a:solidFill>
          <a:ln/>
        </p:spPr>
      </p:sp>
      <p:sp>
        <p:nvSpPr>
          <p:cNvPr id="31" name="Tested before scaling circle"/>
          <p:cNvSpPr/>
          <p:nvPr/>
        </p:nvSpPr>
        <p:spPr>
          <a:xfrm>
            <a:off x="6400800" y="4654296"/>
            <a:ext cx="685800" cy="685800"/>
          </a:xfrm>
          <a:prstGeom prst="ellipse">
            <a:avLst/>
          </a:prstGeom>
          <a:solidFill>
            <a:schemeClr val="accent6"/>
          </a:solidFill>
          <a:ln/>
        </p:spPr>
      </p:sp>
      <p:pic>
        <p:nvPicPr>
          <p:cNvPr id="32" name="Tested before scaling icon" descr="Tested before scaling">    </p:cNvPr>
          <p:cNvPicPr>
            <a:picLocks noChangeAspect="1"/>
          </p:cNvPicPr>
          <p:nvPr/>
        </p:nvPicPr>
        <p:blipFill>
          <a:blip r:embed="rId6"/>
          <a:stretch>
            <a:fillRect/>
          </a:stretch>
        </p:blipFill>
        <p:spPr>
          <a:xfrm>
            <a:off x="6572250" y="4825746"/>
            <a:ext cx="342900" cy="342900"/>
          </a:xfrm>
          <a:prstGeom prst="rect">
            <a:avLst/>
          </a:prstGeom>
        </p:spPr>
      </p:pic>
      <p:sp>
        <p:nvSpPr>
          <p:cNvPr id="33" name="Text 25"/>
          <p:cNvSpPr txBox="1"/>
          <p:nvPr/>
        </p:nvSpPr>
        <p:spPr>
          <a:xfrm>
            <a:off x="7269480" y="4590288"/>
            <a:ext cx="4160520" cy="384048"/>
          </a:xfrm>
          <a:prstGeom prst="rect">
            <a:avLst/>
          </a:prstGeom>
          <a:noFill/>
          <a:ln/>
        </p:spPr>
        <p:txBody>
          <a:bodyPr wrap="square" lIns="0" tIns="0" rIns="0" bIns="0" rtlCol="0" anchor="t"/>
          <a:lstStyle/>
          <a:p>
            <a:pPr indent="0" marL="0">
              <a:buNone/>
            </a:pPr>
            <a:r>
              <a:rPr lang="en-US" sz="1700" b="1" dirty="0">
                <a:solidFill>
                  <a:schemeClr val="tx2"/>
                </a:solidFill>
              </a:rPr>
              <a:t>Tested before scaling</a:t>
            </a:r>
            <a:endParaRPr lang="en-US" sz="1700" dirty="0"/>
          </a:p>
        </p:txBody>
      </p:sp>
      <p:sp>
        <p:nvSpPr>
          <p:cNvPr id="34" name="Text 26"/>
          <p:cNvSpPr txBox="1"/>
          <p:nvPr/>
        </p:nvSpPr>
        <p:spPr>
          <a:xfrm>
            <a:off x="7269480" y="4974336"/>
            <a:ext cx="4160520" cy="457200"/>
          </a:xfrm>
          <a:prstGeom prst="rect">
            <a:avLst/>
          </a:prstGeom>
          <a:noFill/>
          <a:ln/>
        </p:spPr>
        <p:txBody>
          <a:bodyPr wrap="square" lIns="0" tIns="0" rIns="0" bIns="0" rtlCol="0" anchor="t"/>
          <a:lstStyle/>
          <a:p>
            <a:pPr indent="0" marL="0">
              <a:buNone/>
            </a:pPr>
            <a:r>
              <a:rPr lang="en-US" sz="1400" dirty="0">
                <a:solidFill>
                  <a:schemeClr val="tx1"/>
                </a:solidFill>
              </a:rPr>
              <a:t>Accuracy, safety, language quality and accessibility checks.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WHAT AI GURUKUL DOES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Simple, modular technology</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Built in layers, so we can grow from one school to thousands without rebuilding.</a:t>
            </a:r>
            <a:endParaRPr lang="en-US" sz="1600" dirty="0"/>
          </a:p>
        </p:txBody>
      </p:sp>
      <p:sp>
        <p:nvSpPr>
          <p:cNvPr id="5" name="Apps"/>
          <p:cNvSpPr/>
          <p:nvPr/>
        </p:nvSpPr>
        <p:spPr>
          <a:xfrm>
            <a:off x="548640" y="1828800"/>
            <a:ext cx="7406640" cy="896112"/>
          </a:xfrm>
          <a:prstGeom prst="roundRect">
            <a:avLst>
              <a:gd name="adj" fmla="val 12245"/>
            </a:avLst>
          </a:prstGeom>
          <a:solidFill>
            <a:schemeClr val="accent1">
              <a:alpha val="12000"/>
            </a:schemeClr>
          </a:solidFill>
          <a:ln/>
        </p:spPr>
      </p:sp>
      <p:sp>
        <p:nvSpPr>
          <p:cNvPr id="6" name="Apps circle"/>
          <p:cNvSpPr/>
          <p:nvPr/>
        </p:nvSpPr>
        <p:spPr>
          <a:xfrm>
            <a:off x="731520" y="1984248"/>
            <a:ext cx="585216" cy="585216"/>
          </a:xfrm>
          <a:prstGeom prst="ellipse">
            <a:avLst/>
          </a:prstGeom>
          <a:solidFill>
            <a:schemeClr val="accent1"/>
          </a:solidFill>
          <a:ln/>
        </p:spPr>
      </p:sp>
      <p:pic>
        <p:nvPicPr>
          <p:cNvPr id="7" name="Apps icon" descr="Apps">    </p:cNvPr>
          <p:cNvPicPr>
            <a:picLocks noChangeAspect="1"/>
          </p:cNvPicPr>
          <p:nvPr/>
        </p:nvPicPr>
        <p:blipFill>
          <a:blip r:embed="rId1"/>
          <a:stretch>
            <a:fillRect/>
          </a:stretch>
        </p:blipFill>
        <p:spPr>
          <a:xfrm>
            <a:off x="877824" y="2130552"/>
            <a:ext cx="292608" cy="292608"/>
          </a:xfrm>
          <a:prstGeom prst="rect">
            <a:avLst/>
          </a:prstGeom>
        </p:spPr>
      </p:pic>
      <p:sp>
        <p:nvSpPr>
          <p:cNvPr id="8" name="Text 5"/>
          <p:cNvSpPr txBox="1"/>
          <p:nvPr/>
        </p:nvSpPr>
        <p:spPr>
          <a:xfrm>
            <a:off x="1508760" y="1920240"/>
            <a:ext cx="6217920" cy="365760"/>
          </a:xfrm>
          <a:prstGeom prst="rect">
            <a:avLst/>
          </a:prstGeom>
          <a:noFill/>
          <a:ln/>
        </p:spPr>
        <p:txBody>
          <a:bodyPr wrap="square" lIns="0" tIns="0" rIns="0" bIns="0" rtlCol="0" anchor="t"/>
          <a:lstStyle/>
          <a:p>
            <a:pPr indent="0" marL="0">
              <a:buNone/>
            </a:pPr>
            <a:r>
              <a:rPr lang="en-US" sz="1700" b="1" dirty="0">
                <a:solidFill>
                  <a:schemeClr val="tx2"/>
                </a:solidFill>
              </a:rPr>
              <a:t>Apps</a:t>
            </a:r>
            <a:endParaRPr lang="en-US" sz="1700" dirty="0"/>
          </a:p>
        </p:txBody>
      </p:sp>
      <p:sp>
        <p:nvSpPr>
          <p:cNvPr id="9" name="Text 6"/>
          <p:cNvSpPr txBox="1"/>
          <p:nvPr/>
        </p:nvSpPr>
        <p:spPr>
          <a:xfrm>
            <a:off x="1508760" y="2286000"/>
            <a:ext cx="6217920" cy="347472"/>
          </a:xfrm>
          <a:prstGeom prst="rect">
            <a:avLst/>
          </a:prstGeom>
          <a:noFill/>
          <a:ln/>
        </p:spPr>
        <p:txBody>
          <a:bodyPr wrap="square" lIns="0" tIns="0" rIns="0" bIns="0" rtlCol="0" anchor="t"/>
          <a:lstStyle/>
          <a:p>
            <a:pPr indent="0" marL="0">
              <a:buNone/>
            </a:pPr>
            <a:r>
              <a:rPr lang="en-US" sz="1400" dirty="0">
                <a:solidFill>
                  <a:schemeClr val="tx1"/>
                </a:solidFill>
              </a:rPr>
              <a:t>React web panel now  •  Flutter Android and iOS apps later</a:t>
            </a:r>
            <a:endParaRPr lang="en-US" sz="1400" dirty="0"/>
          </a:p>
        </p:txBody>
      </p:sp>
      <p:sp>
        <p:nvSpPr>
          <p:cNvPr id="10" name="Secure gateway"/>
          <p:cNvSpPr/>
          <p:nvPr/>
        </p:nvSpPr>
        <p:spPr>
          <a:xfrm>
            <a:off x="548640" y="2852928"/>
            <a:ext cx="7406640" cy="896112"/>
          </a:xfrm>
          <a:prstGeom prst="roundRect">
            <a:avLst>
              <a:gd name="adj" fmla="val 12245"/>
            </a:avLst>
          </a:prstGeom>
          <a:solidFill>
            <a:schemeClr val="accent2">
              <a:alpha val="12000"/>
            </a:schemeClr>
          </a:solidFill>
          <a:ln/>
        </p:spPr>
      </p:sp>
      <p:sp>
        <p:nvSpPr>
          <p:cNvPr id="11" name="Secure gateway circle"/>
          <p:cNvSpPr/>
          <p:nvPr/>
        </p:nvSpPr>
        <p:spPr>
          <a:xfrm>
            <a:off x="731520" y="3008376"/>
            <a:ext cx="585216" cy="585216"/>
          </a:xfrm>
          <a:prstGeom prst="ellipse">
            <a:avLst/>
          </a:prstGeom>
          <a:solidFill>
            <a:schemeClr val="accent2"/>
          </a:solidFill>
          <a:ln/>
        </p:spPr>
      </p:sp>
      <p:pic>
        <p:nvPicPr>
          <p:cNvPr id="12" name="Secure gateway icon" descr="Secure gateway">    </p:cNvPr>
          <p:cNvPicPr>
            <a:picLocks noChangeAspect="1"/>
          </p:cNvPicPr>
          <p:nvPr/>
        </p:nvPicPr>
        <p:blipFill>
          <a:blip r:embed="rId2"/>
          <a:stretch>
            <a:fillRect/>
          </a:stretch>
        </p:blipFill>
        <p:spPr>
          <a:xfrm>
            <a:off x="877824" y="3154680"/>
            <a:ext cx="292608" cy="292608"/>
          </a:xfrm>
          <a:prstGeom prst="rect">
            <a:avLst/>
          </a:prstGeom>
        </p:spPr>
      </p:pic>
      <p:sp>
        <p:nvSpPr>
          <p:cNvPr id="13" name="Text 9"/>
          <p:cNvSpPr txBox="1"/>
          <p:nvPr/>
        </p:nvSpPr>
        <p:spPr>
          <a:xfrm>
            <a:off x="1508760" y="2944368"/>
            <a:ext cx="6217920" cy="365760"/>
          </a:xfrm>
          <a:prstGeom prst="rect">
            <a:avLst/>
          </a:prstGeom>
          <a:noFill/>
          <a:ln/>
        </p:spPr>
        <p:txBody>
          <a:bodyPr wrap="square" lIns="0" tIns="0" rIns="0" bIns="0" rtlCol="0" anchor="t"/>
          <a:lstStyle/>
          <a:p>
            <a:pPr indent="0" marL="0">
              <a:buNone/>
            </a:pPr>
            <a:r>
              <a:rPr lang="en-US" sz="1700" b="1" dirty="0">
                <a:solidFill>
                  <a:schemeClr val="tx2"/>
                </a:solidFill>
              </a:rPr>
              <a:t>Secure gateway</a:t>
            </a:r>
            <a:endParaRPr lang="en-US" sz="1700" dirty="0"/>
          </a:p>
        </p:txBody>
      </p:sp>
      <p:sp>
        <p:nvSpPr>
          <p:cNvPr id="14" name="Text 10"/>
          <p:cNvSpPr txBox="1"/>
          <p:nvPr/>
        </p:nvSpPr>
        <p:spPr>
          <a:xfrm>
            <a:off x="1508760" y="3310128"/>
            <a:ext cx="6217920" cy="347472"/>
          </a:xfrm>
          <a:prstGeom prst="rect">
            <a:avLst/>
          </a:prstGeom>
          <a:noFill/>
          <a:ln/>
        </p:spPr>
        <p:txBody>
          <a:bodyPr wrap="square" lIns="0" tIns="0" rIns="0" bIns="0" rtlCol="0" anchor="t"/>
          <a:lstStyle/>
          <a:p>
            <a:pPr indent="0" marL="0">
              <a:buNone/>
            </a:pPr>
            <a:r>
              <a:rPr lang="en-US" sz="1400" dirty="0">
                <a:solidFill>
                  <a:schemeClr val="tx1"/>
                </a:solidFill>
              </a:rPr>
              <a:t>Login  •  role checks  •  each school's data kept separate</a:t>
            </a:r>
            <a:endParaRPr lang="en-US" sz="1400" dirty="0"/>
          </a:p>
        </p:txBody>
      </p:sp>
      <p:sp>
        <p:nvSpPr>
          <p:cNvPr id="15" name="School services"/>
          <p:cNvSpPr/>
          <p:nvPr/>
        </p:nvSpPr>
        <p:spPr>
          <a:xfrm>
            <a:off x="548640" y="3877056"/>
            <a:ext cx="7406640" cy="896112"/>
          </a:xfrm>
          <a:prstGeom prst="roundRect">
            <a:avLst>
              <a:gd name="adj" fmla="val 12245"/>
            </a:avLst>
          </a:prstGeom>
          <a:solidFill>
            <a:schemeClr val="accent3">
              <a:alpha val="12000"/>
            </a:schemeClr>
          </a:solidFill>
          <a:ln/>
        </p:spPr>
      </p:sp>
      <p:sp>
        <p:nvSpPr>
          <p:cNvPr id="16" name="School services circle"/>
          <p:cNvSpPr/>
          <p:nvPr/>
        </p:nvSpPr>
        <p:spPr>
          <a:xfrm>
            <a:off x="731520" y="4032504"/>
            <a:ext cx="585216" cy="585216"/>
          </a:xfrm>
          <a:prstGeom prst="ellipse">
            <a:avLst/>
          </a:prstGeom>
          <a:solidFill>
            <a:schemeClr val="accent3"/>
          </a:solidFill>
          <a:ln/>
        </p:spPr>
      </p:sp>
      <p:pic>
        <p:nvPicPr>
          <p:cNvPr id="17" name="School services icon" descr="School services">    </p:cNvPr>
          <p:cNvPicPr>
            <a:picLocks noChangeAspect="1"/>
          </p:cNvPicPr>
          <p:nvPr/>
        </p:nvPicPr>
        <p:blipFill>
          <a:blip r:embed="rId3"/>
          <a:stretch>
            <a:fillRect/>
          </a:stretch>
        </p:blipFill>
        <p:spPr>
          <a:xfrm>
            <a:off x="877824" y="4178808"/>
            <a:ext cx="292608" cy="292608"/>
          </a:xfrm>
          <a:prstGeom prst="rect">
            <a:avLst/>
          </a:prstGeom>
        </p:spPr>
      </p:pic>
      <p:sp>
        <p:nvSpPr>
          <p:cNvPr id="18" name="Text 13"/>
          <p:cNvSpPr txBox="1"/>
          <p:nvPr/>
        </p:nvSpPr>
        <p:spPr>
          <a:xfrm>
            <a:off x="1508760" y="3968496"/>
            <a:ext cx="6217920" cy="365760"/>
          </a:xfrm>
          <a:prstGeom prst="rect">
            <a:avLst/>
          </a:prstGeom>
          <a:noFill/>
          <a:ln/>
        </p:spPr>
        <p:txBody>
          <a:bodyPr wrap="square" lIns="0" tIns="0" rIns="0" bIns="0" rtlCol="0" anchor="t"/>
          <a:lstStyle/>
          <a:p>
            <a:pPr indent="0" marL="0">
              <a:buNone/>
            </a:pPr>
            <a:r>
              <a:rPr lang="en-US" sz="1700" b="1" dirty="0">
                <a:solidFill>
                  <a:schemeClr val="tx2"/>
                </a:solidFill>
              </a:rPr>
              <a:t>School services</a:t>
            </a:r>
            <a:endParaRPr lang="en-US" sz="1700" dirty="0"/>
          </a:p>
        </p:txBody>
      </p:sp>
      <p:sp>
        <p:nvSpPr>
          <p:cNvPr id="19" name="Text 14"/>
          <p:cNvSpPr txBox="1"/>
          <p:nvPr/>
        </p:nvSpPr>
        <p:spPr>
          <a:xfrm>
            <a:off x="1508760" y="4334256"/>
            <a:ext cx="6217920" cy="347472"/>
          </a:xfrm>
          <a:prstGeom prst="rect">
            <a:avLst/>
          </a:prstGeom>
          <a:noFill/>
          <a:ln/>
        </p:spPr>
        <p:txBody>
          <a:bodyPr wrap="square" lIns="0" tIns="0" rIns="0" bIns="0" rtlCol="0" anchor="t"/>
          <a:lstStyle/>
          <a:p>
            <a:pPr indent="0" marL="0">
              <a:buNone/>
            </a:pPr>
            <a:r>
              <a:rPr lang="en-US" sz="1400" dirty="0">
                <a:solidFill>
                  <a:schemeClr val="tx1"/>
                </a:solidFill>
              </a:rPr>
              <a:t>Records  •  attendance  •  homework  •  exams  •  fees  •  reports  •  alerts</a:t>
            </a:r>
            <a:endParaRPr lang="en-US" sz="1400" dirty="0"/>
          </a:p>
        </p:txBody>
      </p:sp>
      <p:sp>
        <p:nvSpPr>
          <p:cNvPr id="20" name="Data and operations"/>
          <p:cNvSpPr/>
          <p:nvPr/>
        </p:nvSpPr>
        <p:spPr>
          <a:xfrm>
            <a:off x="548640" y="4901184"/>
            <a:ext cx="7406640" cy="896112"/>
          </a:xfrm>
          <a:prstGeom prst="roundRect">
            <a:avLst>
              <a:gd name="adj" fmla="val 12245"/>
            </a:avLst>
          </a:prstGeom>
          <a:solidFill>
            <a:schemeClr val="accent4">
              <a:alpha val="12000"/>
            </a:schemeClr>
          </a:solidFill>
          <a:ln/>
        </p:spPr>
      </p:sp>
      <p:sp>
        <p:nvSpPr>
          <p:cNvPr id="21" name="Data and operations circle"/>
          <p:cNvSpPr/>
          <p:nvPr/>
        </p:nvSpPr>
        <p:spPr>
          <a:xfrm>
            <a:off x="731520" y="5056632"/>
            <a:ext cx="585216" cy="585216"/>
          </a:xfrm>
          <a:prstGeom prst="ellipse">
            <a:avLst/>
          </a:prstGeom>
          <a:solidFill>
            <a:schemeClr val="accent4"/>
          </a:solidFill>
          <a:ln/>
        </p:spPr>
      </p:sp>
      <p:pic>
        <p:nvPicPr>
          <p:cNvPr id="22" name="Data and operations icon" descr="Data and operations">    </p:cNvPr>
          <p:cNvPicPr>
            <a:picLocks noChangeAspect="1"/>
          </p:cNvPicPr>
          <p:nvPr/>
        </p:nvPicPr>
        <p:blipFill>
          <a:blip r:embed="rId4"/>
          <a:stretch>
            <a:fillRect/>
          </a:stretch>
        </p:blipFill>
        <p:spPr>
          <a:xfrm>
            <a:off x="877824" y="5202936"/>
            <a:ext cx="292608" cy="292608"/>
          </a:xfrm>
          <a:prstGeom prst="rect">
            <a:avLst/>
          </a:prstGeom>
        </p:spPr>
      </p:pic>
      <p:sp>
        <p:nvSpPr>
          <p:cNvPr id="23" name="Text 17"/>
          <p:cNvSpPr txBox="1"/>
          <p:nvPr/>
        </p:nvSpPr>
        <p:spPr>
          <a:xfrm>
            <a:off x="1508760" y="4992624"/>
            <a:ext cx="6217920" cy="365760"/>
          </a:xfrm>
          <a:prstGeom prst="rect">
            <a:avLst/>
          </a:prstGeom>
          <a:noFill/>
          <a:ln/>
        </p:spPr>
        <p:txBody>
          <a:bodyPr wrap="square" lIns="0" tIns="0" rIns="0" bIns="0" rtlCol="0" anchor="t"/>
          <a:lstStyle/>
          <a:p>
            <a:pPr indent="0" marL="0">
              <a:buNone/>
            </a:pPr>
            <a:r>
              <a:rPr lang="en-US" sz="1700" b="1" dirty="0">
                <a:solidFill>
                  <a:schemeClr val="tx2"/>
                </a:solidFill>
              </a:rPr>
              <a:t>Data and operations</a:t>
            </a:r>
            <a:endParaRPr lang="en-US" sz="1700" dirty="0"/>
          </a:p>
        </p:txBody>
      </p:sp>
      <p:sp>
        <p:nvSpPr>
          <p:cNvPr id="24" name="Text 18"/>
          <p:cNvSpPr txBox="1"/>
          <p:nvPr/>
        </p:nvSpPr>
        <p:spPr>
          <a:xfrm>
            <a:off x="1508760" y="5358384"/>
            <a:ext cx="6217920" cy="347472"/>
          </a:xfrm>
          <a:prstGeom prst="rect">
            <a:avLst/>
          </a:prstGeom>
          <a:noFill/>
          <a:ln/>
        </p:spPr>
        <p:txBody>
          <a:bodyPr wrap="square" lIns="0" tIns="0" rIns="0" bIns="0" rtlCol="0" anchor="t"/>
          <a:lstStyle/>
          <a:p>
            <a:pPr indent="0" marL="0">
              <a:buNone/>
            </a:pPr>
            <a:r>
              <a:rPr lang="en-US" sz="1400" dirty="0">
                <a:solidFill>
                  <a:schemeClr val="tx1"/>
                </a:solidFill>
              </a:rPr>
              <a:t>Database  •  file storage  •  backups  •  monitoring</a:t>
            </a:r>
            <a:endParaRPr lang="en-US" sz="1400" dirty="0"/>
          </a:p>
        </p:txBody>
      </p:sp>
      <p:sp>
        <p:nvSpPr>
          <p:cNvPr id="25" name="AI layer"/>
          <p:cNvSpPr/>
          <p:nvPr/>
        </p:nvSpPr>
        <p:spPr>
          <a:xfrm>
            <a:off x="8229600" y="1828800"/>
            <a:ext cx="341071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6" name="AI layer circle"/>
          <p:cNvSpPr/>
          <p:nvPr/>
        </p:nvSpPr>
        <p:spPr>
          <a:xfrm>
            <a:off x="8503920" y="2057400"/>
            <a:ext cx="548640" cy="548640"/>
          </a:xfrm>
          <a:prstGeom prst="ellipse">
            <a:avLst/>
          </a:prstGeom>
          <a:solidFill>
            <a:schemeClr val="accent5"/>
          </a:solidFill>
          <a:ln/>
        </p:spPr>
      </p:sp>
      <p:pic>
        <p:nvPicPr>
          <p:cNvPr id="27" name="AI layer icon" descr="AI layer">    </p:cNvPr>
          <p:cNvPicPr>
            <a:picLocks noChangeAspect="1"/>
          </p:cNvPicPr>
          <p:nvPr/>
        </p:nvPicPr>
        <p:blipFill>
          <a:blip r:embed="rId5"/>
          <a:stretch>
            <a:fillRect/>
          </a:stretch>
        </p:blipFill>
        <p:spPr>
          <a:xfrm>
            <a:off x="8641080" y="2194560"/>
            <a:ext cx="274320" cy="274320"/>
          </a:xfrm>
          <a:prstGeom prst="rect">
            <a:avLst/>
          </a:prstGeom>
        </p:spPr>
      </p:pic>
      <p:sp>
        <p:nvSpPr>
          <p:cNvPr id="28" name="Text 21"/>
          <p:cNvSpPr txBox="1"/>
          <p:nvPr/>
        </p:nvSpPr>
        <p:spPr>
          <a:xfrm>
            <a:off x="9189720" y="205740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AI layer</a:t>
            </a:r>
            <a:endParaRPr lang="en-US" sz="1700" dirty="0"/>
          </a:p>
        </p:txBody>
      </p:sp>
      <p:sp>
        <p:nvSpPr>
          <p:cNvPr id="29" name="Text 22"/>
          <p:cNvSpPr txBox="1"/>
          <p:nvPr/>
        </p:nvSpPr>
        <p:spPr>
          <a:xfrm>
            <a:off x="8503920" y="2697480"/>
            <a:ext cx="2926080" cy="1005840"/>
          </a:xfrm>
          <a:prstGeom prst="rect">
            <a:avLst/>
          </a:prstGeom>
          <a:noFill/>
          <a:ln/>
        </p:spPr>
        <p:txBody>
          <a:bodyPr wrap="square" lIns="0" tIns="0" rIns="0" bIns="0" rtlCol="0" anchor="t"/>
          <a:lstStyle/>
          <a:p>
            <a:pPr indent="0" marL="0">
              <a:buNone/>
            </a:pPr>
            <a:r>
              <a:rPr lang="en-US" sz="1300" dirty="0">
                <a:solidFill>
                  <a:schemeClr val="tx1"/>
                </a:solidFill>
              </a:rPr>
              <a:t>Approved content, choice of AI model, usage limits and safety checks — kept separate from the core.</a:t>
            </a:r>
            <a:endParaRPr lang="en-US" sz="1300" dirty="0"/>
          </a:p>
        </p:txBody>
      </p:sp>
      <p:sp>
        <p:nvSpPr>
          <p:cNvPr id="30" name="built for Chhattisgarh"/>
          <p:cNvSpPr/>
          <p:nvPr/>
        </p:nvSpPr>
        <p:spPr>
          <a:xfrm>
            <a:off x="8229600" y="3931920"/>
            <a:ext cx="341071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1" name="low bandwidth circle"/>
          <p:cNvSpPr/>
          <p:nvPr/>
        </p:nvSpPr>
        <p:spPr>
          <a:xfrm>
            <a:off x="8503920" y="4160520"/>
            <a:ext cx="548640" cy="548640"/>
          </a:xfrm>
          <a:prstGeom prst="ellipse">
            <a:avLst/>
          </a:prstGeom>
          <a:solidFill>
            <a:schemeClr val="accent2"/>
          </a:solidFill>
          <a:ln/>
        </p:spPr>
      </p:sp>
      <p:pic>
        <p:nvPicPr>
          <p:cNvPr id="32" name="low bandwidth icon" descr="low bandwidth">    </p:cNvPr>
          <p:cNvPicPr>
            <a:picLocks noChangeAspect="1"/>
          </p:cNvPicPr>
          <p:nvPr/>
        </p:nvPicPr>
        <p:blipFill>
          <a:blip r:embed="rId6"/>
          <a:stretch>
            <a:fillRect/>
          </a:stretch>
        </p:blipFill>
        <p:spPr>
          <a:xfrm>
            <a:off x="8641080" y="4297680"/>
            <a:ext cx="274320" cy="274320"/>
          </a:xfrm>
          <a:prstGeom prst="rect">
            <a:avLst/>
          </a:prstGeom>
        </p:spPr>
      </p:pic>
      <p:sp>
        <p:nvSpPr>
          <p:cNvPr id="33" name="Text 25"/>
          <p:cNvSpPr txBox="1"/>
          <p:nvPr/>
        </p:nvSpPr>
        <p:spPr>
          <a:xfrm>
            <a:off x="9189720" y="416052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Built for villages</a:t>
            </a:r>
            <a:endParaRPr lang="en-US" sz="1700" dirty="0"/>
          </a:p>
        </p:txBody>
      </p:sp>
      <p:sp>
        <p:nvSpPr>
          <p:cNvPr id="34" name="Text 26"/>
          <p:cNvSpPr txBox="1"/>
          <p:nvPr/>
        </p:nvSpPr>
        <p:spPr>
          <a:xfrm>
            <a:off x="8503920" y="4800600"/>
            <a:ext cx="2926080" cy="1005840"/>
          </a:xfrm>
          <a:prstGeom prst="rect">
            <a:avLst/>
          </a:prstGeom>
          <a:noFill/>
          <a:ln/>
        </p:spPr>
        <p:txBody>
          <a:bodyPr wrap="square" lIns="0" tIns="0" rIns="0" bIns="0" rtlCol="0" anchor="t"/>
          <a:lstStyle/>
          <a:p>
            <a:pPr indent="0" marL="0">
              <a:buNone/>
            </a:pPr>
            <a:r>
              <a:rPr lang="en-US" sz="1300" dirty="0">
                <a:solidFill>
                  <a:schemeClr val="tx1"/>
                </a:solidFill>
              </a:rPr>
              <a:t>Works on low bandwidth; offline-ready workflows planned and tested for remote schools.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WE DELIVER</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A working web panel in 8 weeks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Depends on timely scope sign-off, school data and feedback.</a:t>
            </a:r>
            <a:endParaRPr lang="en-US" sz="1600" dirty="0"/>
          </a:p>
        </p:txBody>
      </p:sp>
      <p:sp>
        <p:nvSpPr>
          <p:cNvPr id="5" name="Weeks 1–2"/>
          <p:cNvSpPr/>
          <p:nvPr/>
        </p:nvSpPr>
        <p:spPr>
          <a:xfrm>
            <a:off x="548640" y="1874520"/>
            <a:ext cx="2606040" cy="731520"/>
          </a:xfrm>
          <a:prstGeom prst="chevron">
            <a:avLst/>
          </a:prstGeom>
          <a:solidFill>
            <a:schemeClr val="accent1"/>
          </a:solidFill>
          <a:ln/>
        </p:spPr>
      </p:sp>
      <p:sp>
        <p:nvSpPr>
          <p:cNvPr id="6" name="Text 4"/>
          <p:cNvSpPr txBox="1"/>
          <p:nvPr/>
        </p:nvSpPr>
        <p:spPr>
          <a:xfrm>
            <a:off x="868680" y="1874520"/>
            <a:ext cx="1965960" cy="731520"/>
          </a:xfrm>
          <a:prstGeom prst="rect">
            <a:avLst/>
          </a:prstGeom>
          <a:noFill/>
          <a:ln/>
        </p:spPr>
        <p:txBody>
          <a:bodyPr wrap="square" lIns="0" tIns="0" rIns="0" bIns="0" rtlCol="0" anchor="ctr"/>
          <a:lstStyle/>
          <a:p>
            <a:pPr algn="ctr" indent="0" marL="0">
              <a:buNone/>
            </a:pPr>
            <a:r>
              <a:rPr lang="en-US" sz="1600" b="1" dirty="0">
                <a:solidFill>
                  <a:schemeClr val="bg1"/>
                </a:solidFill>
              </a:rPr>
              <a:t>Weeks 1–2</a:t>
            </a:r>
            <a:endParaRPr lang="en-US" sz="1600" dirty="0"/>
          </a:p>
        </p:txBody>
      </p:sp>
      <p:sp>
        <p:nvSpPr>
          <p:cNvPr id="7" name="Plan and design"/>
          <p:cNvSpPr/>
          <p:nvPr/>
        </p:nvSpPr>
        <p:spPr>
          <a:xfrm>
            <a:off x="548640" y="2834640"/>
            <a:ext cx="2606040" cy="210312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777240" y="30175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Plan and design</a:t>
            </a:r>
            <a:endParaRPr lang="en-US" sz="1800" dirty="0"/>
          </a:p>
        </p:txBody>
      </p:sp>
      <p:sp>
        <p:nvSpPr>
          <p:cNvPr id="9" name="Text 7"/>
          <p:cNvSpPr txBox="1"/>
          <p:nvPr/>
        </p:nvSpPr>
        <p:spPr>
          <a:xfrm>
            <a:off x="777240" y="3474720"/>
            <a:ext cx="2194560" cy="1371600"/>
          </a:xfrm>
          <a:prstGeom prst="rect">
            <a:avLst/>
          </a:prstGeom>
          <a:noFill/>
          <a:ln/>
        </p:spPr>
        <p:txBody>
          <a:bodyPr wrap="square" lIns="0" tIns="0" rIns="0" bIns="0" rtlCol="0" anchor="t"/>
          <a:lstStyle/>
          <a:p>
            <a:pPr indent="0" marL="0">
              <a:buNone/>
            </a:pPr>
            <a:r>
              <a:rPr lang="en-US" sz="1400" dirty="0">
                <a:solidFill>
                  <a:schemeClr val="tx1"/>
                </a:solidFill>
              </a:rPr>
              <a:t>Agree roles, screens, workflows and what 'done' means.</a:t>
            </a:r>
            <a:endParaRPr lang="en-US" sz="1400" dirty="0"/>
          </a:p>
        </p:txBody>
      </p:sp>
      <p:sp>
        <p:nvSpPr>
          <p:cNvPr id="10" name="Weeks 3–4"/>
          <p:cNvSpPr/>
          <p:nvPr/>
        </p:nvSpPr>
        <p:spPr>
          <a:xfrm>
            <a:off x="3364992" y="1874520"/>
            <a:ext cx="2606040" cy="731520"/>
          </a:xfrm>
          <a:prstGeom prst="chevron">
            <a:avLst/>
          </a:prstGeom>
          <a:solidFill>
            <a:schemeClr val="accent2"/>
          </a:solidFill>
          <a:ln/>
        </p:spPr>
      </p:sp>
      <p:sp>
        <p:nvSpPr>
          <p:cNvPr id="11" name="Text 9"/>
          <p:cNvSpPr txBox="1"/>
          <p:nvPr/>
        </p:nvSpPr>
        <p:spPr>
          <a:xfrm>
            <a:off x="3685032" y="1874520"/>
            <a:ext cx="1965960" cy="731520"/>
          </a:xfrm>
          <a:prstGeom prst="rect">
            <a:avLst/>
          </a:prstGeom>
          <a:noFill/>
          <a:ln/>
        </p:spPr>
        <p:txBody>
          <a:bodyPr wrap="square" lIns="0" tIns="0" rIns="0" bIns="0" rtlCol="0" anchor="ctr"/>
          <a:lstStyle/>
          <a:p>
            <a:pPr algn="ctr" indent="0" marL="0">
              <a:buNone/>
            </a:pPr>
            <a:r>
              <a:rPr lang="en-US" sz="1600" b="1" dirty="0">
                <a:solidFill>
                  <a:schemeClr val="bg1"/>
                </a:solidFill>
              </a:rPr>
              <a:t>Weeks 3–4</a:t>
            </a:r>
            <a:endParaRPr lang="en-US" sz="1600" dirty="0"/>
          </a:p>
        </p:txBody>
      </p:sp>
      <p:sp>
        <p:nvSpPr>
          <p:cNvPr id="12" name="Core build"/>
          <p:cNvSpPr/>
          <p:nvPr/>
        </p:nvSpPr>
        <p:spPr>
          <a:xfrm>
            <a:off x="3364992" y="2834640"/>
            <a:ext cx="2606040" cy="210312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3" name="Text 11"/>
          <p:cNvSpPr txBox="1"/>
          <p:nvPr/>
        </p:nvSpPr>
        <p:spPr>
          <a:xfrm>
            <a:off x="3593592" y="30175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Core build</a:t>
            </a:r>
            <a:endParaRPr lang="en-US" sz="1800" dirty="0"/>
          </a:p>
        </p:txBody>
      </p:sp>
      <p:sp>
        <p:nvSpPr>
          <p:cNvPr id="14" name="Text 12"/>
          <p:cNvSpPr txBox="1"/>
          <p:nvPr/>
        </p:nvSpPr>
        <p:spPr>
          <a:xfrm>
            <a:off x="3593592" y="3474720"/>
            <a:ext cx="2194560" cy="1371600"/>
          </a:xfrm>
          <a:prstGeom prst="rect">
            <a:avLst/>
          </a:prstGeom>
          <a:noFill/>
          <a:ln/>
        </p:spPr>
        <p:txBody>
          <a:bodyPr wrap="square" lIns="0" tIns="0" rIns="0" bIns="0" rtlCol="0" anchor="t"/>
          <a:lstStyle/>
          <a:p>
            <a:pPr indent="0" marL="0">
              <a:buNone/>
            </a:pPr>
            <a:r>
              <a:rPr lang="en-US" sz="1400" dirty="0">
                <a:solidFill>
                  <a:schemeClr val="tx1"/>
                </a:solidFill>
              </a:rPr>
              <a:t>School setup, login, classes, records, bulk upload, curriculum structure.</a:t>
            </a:r>
            <a:endParaRPr lang="en-US" sz="1400" dirty="0"/>
          </a:p>
        </p:txBody>
      </p:sp>
      <p:sp>
        <p:nvSpPr>
          <p:cNvPr id="15" name="Weeks 5–6"/>
          <p:cNvSpPr/>
          <p:nvPr/>
        </p:nvSpPr>
        <p:spPr>
          <a:xfrm>
            <a:off x="6181344" y="1874520"/>
            <a:ext cx="2606040" cy="731520"/>
          </a:xfrm>
          <a:prstGeom prst="chevron">
            <a:avLst/>
          </a:prstGeom>
          <a:solidFill>
            <a:schemeClr val="accent3"/>
          </a:solidFill>
          <a:ln/>
        </p:spPr>
      </p:sp>
      <p:sp>
        <p:nvSpPr>
          <p:cNvPr id="16" name="Text 14"/>
          <p:cNvSpPr txBox="1"/>
          <p:nvPr/>
        </p:nvSpPr>
        <p:spPr>
          <a:xfrm>
            <a:off x="6501384" y="1874520"/>
            <a:ext cx="1965960" cy="731520"/>
          </a:xfrm>
          <a:prstGeom prst="rect">
            <a:avLst/>
          </a:prstGeom>
          <a:noFill/>
          <a:ln/>
        </p:spPr>
        <p:txBody>
          <a:bodyPr wrap="square" lIns="0" tIns="0" rIns="0" bIns="0" rtlCol="0" anchor="ctr"/>
          <a:lstStyle/>
          <a:p>
            <a:pPr algn="ctr" indent="0" marL="0">
              <a:buNone/>
            </a:pPr>
            <a:r>
              <a:rPr lang="en-US" sz="1600" b="1" dirty="0">
                <a:solidFill>
                  <a:schemeClr val="bg1"/>
                </a:solidFill>
              </a:rPr>
              <a:t>Weeks 5–6</a:t>
            </a:r>
            <a:endParaRPr lang="en-US" sz="1600" dirty="0"/>
          </a:p>
        </p:txBody>
      </p:sp>
      <p:sp>
        <p:nvSpPr>
          <p:cNvPr id="17" name="Daily workflows"/>
          <p:cNvSpPr/>
          <p:nvPr/>
        </p:nvSpPr>
        <p:spPr>
          <a:xfrm>
            <a:off x="6181344" y="2834640"/>
            <a:ext cx="2606040" cy="210312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8" name="Text 16"/>
          <p:cNvSpPr txBox="1"/>
          <p:nvPr/>
        </p:nvSpPr>
        <p:spPr>
          <a:xfrm>
            <a:off x="6409944" y="30175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Daily workflows</a:t>
            </a:r>
            <a:endParaRPr lang="en-US" sz="1800" dirty="0"/>
          </a:p>
        </p:txBody>
      </p:sp>
      <p:sp>
        <p:nvSpPr>
          <p:cNvPr id="19" name="Text 17"/>
          <p:cNvSpPr txBox="1"/>
          <p:nvPr/>
        </p:nvSpPr>
        <p:spPr>
          <a:xfrm>
            <a:off x="6409944" y="3474720"/>
            <a:ext cx="2194560" cy="1371600"/>
          </a:xfrm>
          <a:prstGeom prst="rect">
            <a:avLst/>
          </a:prstGeom>
          <a:noFill/>
          <a:ln/>
        </p:spPr>
        <p:txBody>
          <a:bodyPr wrap="square" lIns="0" tIns="0" rIns="0" bIns="0" rtlCol="0" anchor="t"/>
          <a:lstStyle/>
          <a:p>
            <a:pPr indent="0" marL="0">
              <a:buNone/>
            </a:pPr>
            <a:r>
              <a:rPr lang="en-US" sz="1400" dirty="0">
                <a:solidFill>
                  <a:schemeClr val="tx1"/>
                </a:solidFill>
              </a:rPr>
              <a:t>Attendance, homework, notices, dashboards and key reports.</a:t>
            </a:r>
            <a:endParaRPr lang="en-US" sz="1400" dirty="0"/>
          </a:p>
        </p:txBody>
      </p:sp>
      <p:sp>
        <p:nvSpPr>
          <p:cNvPr id="20" name="Weeks 7–8"/>
          <p:cNvSpPr/>
          <p:nvPr/>
        </p:nvSpPr>
        <p:spPr>
          <a:xfrm>
            <a:off x="8997696" y="1874520"/>
            <a:ext cx="2606040" cy="731520"/>
          </a:xfrm>
          <a:prstGeom prst="chevron">
            <a:avLst/>
          </a:prstGeom>
          <a:solidFill>
            <a:schemeClr val="accent4"/>
          </a:solidFill>
          <a:ln/>
        </p:spPr>
      </p:sp>
      <p:sp>
        <p:nvSpPr>
          <p:cNvPr id="21" name="Text 19"/>
          <p:cNvSpPr txBox="1"/>
          <p:nvPr/>
        </p:nvSpPr>
        <p:spPr>
          <a:xfrm>
            <a:off x="9317736" y="1874520"/>
            <a:ext cx="1965960" cy="731520"/>
          </a:xfrm>
          <a:prstGeom prst="rect">
            <a:avLst/>
          </a:prstGeom>
          <a:noFill/>
          <a:ln/>
        </p:spPr>
        <p:txBody>
          <a:bodyPr wrap="square" lIns="0" tIns="0" rIns="0" bIns="0" rtlCol="0" anchor="ctr"/>
          <a:lstStyle/>
          <a:p>
            <a:pPr algn="ctr" indent="0" marL="0">
              <a:buNone/>
            </a:pPr>
            <a:r>
              <a:rPr lang="en-US" sz="1600" b="1" dirty="0">
                <a:solidFill>
                  <a:schemeClr val="bg1"/>
                </a:solidFill>
              </a:rPr>
              <a:t>Weeks 7–8</a:t>
            </a:r>
            <a:endParaRPr lang="en-US" sz="1600" dirty="0"/>
          </a:p>
        </p:txBody>
      </p:sp>
      <p:sp>
        <p:nvSpPr>
          <p:cNvPr id="22" name="Test and launch"/>
          <p:cNvSpPr/>
          <p:nvPr/>
        </p:nvSpPr>
        <p:spPr>
          <a:xfrm>
            <a:off x="8997696" y="2834640"/>
            <a:ext cx="2606040" cy="2103120"/>
          </a:xfrm>
          <a:prstGeom prst="roundRect">
            <a:avLst>
              <a:gd name="adj" fmla="val 521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3" name="Text 21"/>
          <p:cNvSpPr txBox="1"/>
          <p:nvPr/>
        </p:nvSpPr>
        <p:spPr>
          <a:xfrm>
            <a:off x="9226296" y="30175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Test and launch</a:t>
            </a:r>
            <a:endParaRPr lang="en-US" sz="1800" dirty="0"/>
          </a:p>
        </p:txBody>
      </p:sp>
      <p:sp>
        <p:nvSpPr>
          <p:cNvPr id="24" name="Text 22"/>
          <p:cNvSpPr txBox="1"/>
          <p:nvPr/>
        </p:nvSpPr>
        <p:spPr>
          <a:xfrm>
            <a:off x="9226296" y="3474720"/>
            <a:ext cx="2194560" cy="1371600"/>
          </a:xfrm>
          <a:prstGeom prst="rect">
            <a:avLst/>
          </a:prstGeom>
          <a:noFill/>
          <a:ln/>
        </p:spPr>
        <p:txBody>
          <a:bodyPr wrap="square" lIns="0" tIns="0" rIns="0" bIns="0" rtlCol="0" anchor="t"/>
          <a:lstStyle/>
          <a:p>
            <a:pPr indent="0" marL="0">
              <a:buNone/>
            </a:pPr>
            <a:r>
              <a:rPr lang="en-US" sz="1400" dirty="0">
                <a:solidFill>
                  <a:schemeClr val="tx1"/>
                </a:solidFill>
              </a:rPr>
              <a:t>Testing with users, fixes, training, go-live and handover.</a:t>
            </a:r>
            <a:endParaRPr lang="en-US" sz="1400" dirty="0"/>
          </a:p>
        </p:txBody>
      </p:sp>
      <p:sp>
        <p:nvSpPr>
          <p:cNvPr id="25" name="release gate"/>
          <p:cNvSpPr/>
          <p:nvPr/>
        </p:nvSpPr>
        <p:spPr>
          <a:xfrm>
            <a:off x="548640" y="5212080"/>
            <a:ext cx="11094415" cy="685800"/>
          </a:xfrm>
          <a:prstGeom prst="roundRect">
            <a:avLst>
              <a:gd name="adj" fmla="val 16000"/>
            </a:avLst>
          </a:prstGeom>
          <a:solidFill>
            <a:schemeClr val="accent1">
              <a:alpha val="12000"/>
            </a:schemeClr>
          </a:solidFill>
          <a:ln/>
        </p:spPr>
      </p:sp>
      <p:sp>
        <p:nvSpPr>
          <p:cNvPr id="26" name="release gate circle"/>
          <p:cNvSpPr/>
          <p:nvPr/>
        </p:nvSpPr>
        <p:spPr>
          <a:xfrm>
            <a:off x="731520" y="5321808"/>
            <a:ext cx="457200" cy="457200"/>
          </a:xfrm>
          <a:prstGeom prst="ellipse">
            <a:avLst/>
          </a:prstGeom>
          <a:solidFill>
            <a:schemeClr val="accent1"/>
          </a:solidFill>
          <a:ln/>
        </p:spPr>
      </p:sp>
      <p:pic>
        <p:nvPicPr>
          <p:cNvPr id="27" name="release gate icon" descr="release gate">    </p:cNvPr>
          <p:cNvPicPr>
            <a:picLocks noChangeAspect="1"/>
          </p:cNvPicPr>
          <p:nvPr/>
        </p:nvPicPr>
        <p:blipFill>
          <a:blip r:embed="rId1"/>
          <a:stretch>
            <a:fillRect/>
          </a:stretch>
        </p:blipFill>
        <p:spPr>
          <a:xfrm>
            <a:off x="845820" y="5436108"/>
            <a:ext cx="228600" cy="228600"/>
          </a:xfrm>
          <a:prstGeom prst="rect">
            <a:avLst/>
          </a:prstGeom>
        </p:spPr>
      </p:pic>
      <p:sp>
        <p:nvSpPr>
          <p:cNvPr id="28" name="Text 25"/>
          <p:cNvSpPr txBox="1"/>
          <p:nvPr/>
        </p:nvSpPr>
        <p:spPr>
          <a:xfrm>
            <a:off x="1371600" y="5212080"/>
            <a:ext cx="10058400" cy="685800"/>
          </a:xfrm>
          <a:prstGeom prst="rect">
            <a:avLst/>
          </a:prstGeom>
          <a:noFill/>
          <a:ln/>
        </p:spPr>
        <p:txBody>
          <a:bodyPr wrap="square" lIns="0" tIns="0" rIns="0" bIns="0" rtlCol="0" anchor="ctr"/>
          <a:lstStyle/>
          <a:p>
            <a:pPr indent="0" marL="0">
              <a:buNone/>
            </a:pPr>
            <a:r>
              <a:rPr lang="en-US" sz="1500" b="1" dirty="0">
                <a:solidFill>
                  <a:schemeClr val="accent1"/>
                </a:solidFill>
              </a:rPr>
              <a:t>Go-live check: </a:t>
            </a:r>
            <a:pPr indent="0" marL="0">
              <a:buNone/>
            </a:pPr>
            <a:r>
              <a:rPr lang="en-US" sz="1500" dirty="0">
                <a:solidFill>
                  <a:schemeClr val="tx1"/>
                </a:solidFill>
              </a:rPr>
              <a:t>agreed workflows pass testing, major bugs are fixed, and school staff can do their daily tasks.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WE DELIVER</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Build in steps — not one risky big launch</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Dates are indicative; later phases follow scope sign-off and pilot learning.</a:t>
            </a:r>
            <a:endParaRPr lang="en-US" sz="1600" dirty="0"/>
          </a:p>
        </p:txBody>
      </p:sp>
      <p:sp>
        <p:nvSpPr>
          <p:cNvPr id="5" name="grid"/>
          <p:cNvSpPr/>
          <p:nvPr/>
        </p:nvSpPr>
        <p:spPr>
          <a:xfrm>
            <a:off x="3931920" y="2103120"/>
            <a:ext cx="0" cy="3794760"/>
          </a:xfrm>
          <a:prstGeom prst="line">
            <a:avLst/>
          </a:prstGeom>
          <a:noFill/>
          <a:ln w="9525">
            <a:solidFill>
              <a:srgbClr val="DCE3EC"/>
            </a:solidFill>
            <a:prstDash val="solid"/>
          </a:ln>
        </p:spPr>
      </p:sp>
      <p:sp>
        <p:nvSpPr>
          <p:cNvPr id="6" name="Text 4"/>
          <p:cNvSpPr txBox="1"/>
          <p:nvPr/>
        </p:nvSpPr>
        <p:spPr>
          <a:xfrm>
            <a:off x="3566160" y="178308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Wk 0</a:t>
            </a:r>
            <a:endParaRPr lang="en-US" sz="1100" dirty="0"/>
          </a:p>
        </p:txBody>
      </p:sp>
      <p:sp>
        <p:nvSpPr>
          <p:cNvPr id="7" name="grid"/>
          <p:cNvSpPr/>
          <p:nvPr/>
        </p:nvSpPr>
        <p:spPr>
          <a:xfrm>
            <a:off x="5102352" y="2103120"/>
            <a:ext cx="0" cy="3794760"/>
          </a:xfrm>
          <a:prstGeom prst="line">
            <a:avLst/>
          </a:prstGeom>
          <a:noFill/>
          <a:ln w="9525">
            <a:solidFill>
              <a:srgbClr val="DCE3EC"/>
            </a:solidFill>
            <a:prstDash val="solid"/>
          </a:ln>
        </p:spPr>
      </p:sp>
      <p:sp>
        <p:nvSpPr>
          <p:cNvPr id="8" name="Text 6"/>
          <p:cNvSpPr txBox="1"/>
          <p:nvPr/>
        </p:nvSpPr>
        <p:spPr>
          <a:xfrm>
            <a:off x="4736592" y="178308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Wk 4</a:t>
            </a:r>
            <a:endParaRPr lang="en-US" sz="1100" dirty="0"/>
          </a:p>
        </p:txBody>
      </p:sp>
      <p:sp>
        <p:nvSpPr>
          <p:cNvPr id="9" name="grid"/>
          <p:cNvSpPr/>
          <p:nvPr/>
        </p:nvSpPr>
        <p:spPr>
          <a:xfrm>
            <a:off x="6272784" y="2103120"/>
            <a:ext cx="0" cy="3794760"/>
          </a:xfrm>
          <a:prstGeom prst="line">
            <a:avLst/>
          </a:prstGeom>
          <a:noFill/>
          <a:ln w="9525">
            <a:solidFill>
              <a:srgbClr val="DCE3EC"/>
            </a:solidFill>
            <a:prstDash val="solid"/>
          </a:ln>
        </p:spPr>
      </p:sp>
      <p:sp>
        <p:nvSpPr>
          <p:cNvPr id="10" name="Text 8"/>
          <p:cNvSpPr txBox="1"/>
          <p:nvPr/>
        </p:nvSpPr>
        <p:spPr>
          <a:xfrm>
            <a:off x="5907024" y="178308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Wk 8</a:t>
            </a:r>
            <a:endParaRPr lang="en-US" sz="1100" dirty="0"/>
          </a:p>
        </p:txBody>
      </p:sp>
      <p:sp>
        <p:nvSpPr>
          <p:cNvPr id="11" name="grid"/>
          <p:cNvSpPr/>
          <p:nvPr/>
        </p:nvSpPr>
        <p:spPr>
          <a:xfrm>
            <a:off x="7443216" y="2103120"/>
            <a:ext cx="0" cy="3794760"/>
          </a:xfrm>
          <a:prstGeom prst="line">
            <a:avLst/>
          </a:prstGeom>
          <a:noFill/>
          <a:ln w="9525">
            <a:solidFill>
              <a:srgbClr val="DCE3EC"/>
            </a:solidFill>
            <a:prstDash val="solid"/>
          </a:ln>
        </p:spPr>
      </p:sp>
      <p:sp>
        <p:nvSpPr>
          <p:cNvPr id="12" name="Text 10"/>
          <p:cNvSpPr txBox="1"/>
          <p:nvPr/>
        </p:nvSpPr>
        <p:spPr>
          <a:xfrm>
            <a:off x="7077456" y="178308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Wk 12</a:t>
            </a:r>
            <a:endParaRPr lang="en-US" sz="1100" dirty="0"/>
          </a:p>
        </p:txBody>
      </p:sp>
      <p:sp>
        <p:nvSpPr>
          <p:cNvPr id="13" name="grid"/>
          <p:cNvSpPr/>
          <p:nvPr/>
        </p:nvSpPr>
        <p:spPr>
          <a:xfrm>
            <a:off x="8613648" y="2103120"/>
            <a:ext cx="0" cy="3794760"/>
          </a:xfrm>
          <a:prstGeom prst="line">
            <a:avLst/>
          </a:prstGeom>
          <a:noFill/>
          <a:ln w="9525">
            <a:solidFill>
              <a:srgbClr val="DCE3EC"/>
            </a:solidFill>
            <a:prstDash val="solid"/>
          </a:ln>
        </p:spPr>
      </p:sp>
      <p:sp>
        <p:nvSpPr>
          <p:cNvPr id="14" name="Text 12"/>
          <p:cNvSpPr txBox="1"/>
          <p:nvPr/>
        </p:nvSpPr>
        <p:spPr>
          <a:xfrm>
            <a:off x="8247888" y="178308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Wk 16</a:t>
            </a:r>
            <a:endParaRPr lang="en-US" sz="1100" dirty="0"/>
          </a:p>
        </p:txBody>
      </p:sp>
      <p:sp>
        <p:nvSpPr>
          <p:cNvPr id="15" name="grid"/>
          <p:cNvSpPr/>
          <p:nvPr/>
        </p:nvSpPr>
        <p:spPr>
          <a:xfrm>
            <a:off x="9784080" y="2103120"/>
            <a:ext cx="0" cy="3794760"/>
          </a:xfrm>
          <a:prstGeom prst="line">
            <a:avLst/>
          </a:prstGeom>
          <a:noFill/>
          <a:ln w="9525">
            <a:solidFill>
              <a:srgbClr val="DCE3EC"/>
            </a:solidFill>
            <a:prstDash val="solid"/>
          </a:ln>
        </p:spPr>
      </p:sp>
      <p:sp>
        <p:nvSpPr>
          <p:cNvPr id="16" name="Text 14"/>
          <p:cNvSpPr txBox="1"/>
          <p:nvPr/>
        </p:nvSpPr>
        <p:spPr>
          <a:xfrm>
            <a:off x="9418320" y="178308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Wk 20</a:t>
            </a:r>
            <a:endParaRPr lang="en-US" sz="1100" dirty="0"/>
          </a:p>
        </p:txBody>
      </p:sp>
      <p:sp>
        <p:nvSpPr>
          <p:cNvPr id="17" name="Text 15"/>
          <p:cNvSpPr txBox="1"/>
          <p:nvPr/>
        </p:nvSpPr>
        <p:spPr>
          <a:xfrm>
            <a:off x="9966960" y="1783080"/>
            <a:ext cx="1783080" cy="274320"/>
          </a:xfrm>
          <a:prstGeom prst="rect">
            <a:avLst/>
          </a:prstGeom>
          <a:noFill/>
          <a:ln/>
        </p:spPr>
        <p:txBody>
          <a:bodyPr wrap="square" lIns="0" tIns="0" rIns="0" bIns="0" rtlCol="0" anchor="t"/>
          <a:lstStyle/>
          <a:p>
            <a:pPr algn="ctr" indent="0" marL="0">
              <a:buNone/>
            </a:pPr>
            <a:r>
              <a:rPr lang="en-US" sz="1100" dirty="0">
                <a:solidFill>
                  <a:schemeClr val="accent6"/>
                </a:solidFill>
              </a:rPr>
              <a:t>Later</a:t>
            </a:r>
            <a:endParaRPr lang="en-US" sz="1100" dirty="0"/>
          </a:p>
        </p:txBody>
      </p:sp>
      <p:sp>
        <p:nvSpPr>
          <p:cNvPr id="18" name="Text 16"/>
          <p:cNvSpPr txBox="1"/>
          <p:nvPr/>
        </p:nvSpPr>
        <p:spPr>
          <a:xfrm>
            <a:off x="548640" y="2194560"/>
            <a:ext cx="3291840" cy="320040"/>
          </a:xfrm>
          <a:prstGeom prst="rect">
            <a:avLst/>
          </a:prstGeom>
          <a:noFill/>
          <a:ln/>
        </p:spPr>
        <p:txBody>
          <a:bodyPr wrap="square" lIns="0" tIns="0" rIns="0" bIns="0" rtlCol="0" anchor="t"/>
          <a:lstStyle/>
          <a:p>
            <a:pPr indent="0" marL="0">
              <a:buNone/>
            </a:pPr>
            <a:r>
              <a:rPr lang="en-US" sz="1500" b="1" dirty="0">
                <a:solidFill>
                  <a:schemeClr val="accent1"/>
                </a:solidFill>
              </a:rPr>
              <a:t>Phase 1  </a:t>
            </a:r>
            <a:pPr indent="0" marL="0">
              <a:buNone/>
            </a:pPr>
            <a:r>
              <a:rPr lang="en-US" sz="1500" b="1" dirty="0">
                <a:solidFill>
                  <a:schemeClr val="tx2"/>
                </a:solidFill>
              </a:rPr>
              <a:t>Web school system</a:t>
            </a:r>
            <a:endParaRPr lang="en-US" sz="1500" dirty="0"/>
          </a:p>
        </p:txBody>
      </p:sp>
      <p:sp>
        <p:nvSpPr>
          <p:cNvPr id="19" name="Text 17"/>
          <p:cNvSpPr txBox="1"/>
          <p:nvPr/>
        </p:nvSpPr>
        <p:spPr>
          <a:xfrm>
            <a:off x="548640" y="2514600"/>
            <a:ext cx="3291840" cy="365760"/>
          </a:xfrm>
          <a:prstGeom prst="rect">
            <a:avLst/>
          </a:prstGeom>
          <a:noFill/>
          <a:ln/>
        </p:spPr>
        <p:txBody>
          <a:bodyPr wrap="square" lIns="0" tIns="0" rIns="0" bIns="0" rtlCol="0" anchor="t"/>
          <a:lstStyle/>
          <a:p>
            <a:pPr indent="0" marL="0">
              <a:buNone/>
            </a:pPr>
            <a:r>
              <a:rPr lang="en-US" sz="1100" dirty="0">
                <a:solidFill>
                  <a:schemeClr val="accent6"/>
                </a:solidFill>
              </a:rPr>
              <a:t>Roles, setup, curriculum, attendance, notices, dashboards</a:t>
            </a:r>
            <a:endParaRPr lang="en-US" sz="1100" dirty="0"/>
          </a:p>
        </p:txBody>
      </p:sp>
      <p:sp>
        <p:nvSpPr>
          <p:cNvPr id="20" name="Phase 1 bar"/>
          <p:cNvSpPr/>
          <p:nvPr/>
        </p:nvSpPr>
        <p:spPr>
          <a:xfrm>
            <a:off x="3931920" y="2304288"/>
            <a:ext cx="2340864" cy="457200"/>
          </a:xfrm>
          <a:prstGeom prst="roundRect">
            <a:avLst>
              <a:gd name="adj" fmla="val 20000"/>
            </a:avLst>
          </a:prstGeom>
          <a:solidFill>
            <a:schemeClr val="accent1"/>
          </a:solidFill>
          <a:ln/>
        </p:spPr>
      </p:sp>
      <p:sp>
        <p:nvSpPr>
          <p:cNvPr id="21" name="Text 19"/>
          <p:cNvSpPr txBox="1"/>
          <p:nvPr/>
        </p:nvSpPr>
        <p:spPr>
          <a:xfrm>
            <a:off x="3931920" y="2304288"/>
            <a:ext cx="2340864" cy="457200"/>
          </a:xfrm>
          <a:prstGeom prst="rect">
            <a:avLst/>
          </a:prstGeom>
          <a:noFill/>
          <a:ln/>
        </p:spPr>
        <p:txBody>
          <a:bodyPr wrap="square" lIns="0" tIns="0" rIns="0" bIns="0" rtlCol="0" anchor="ctr"/>
          <a:lstStyle/>
          <a:p>
            <a:pPr algn="ctr" indent="0" marL="0">
              <a:buNone/>
            </a:pPr>
            <a:r>
              <a:rPr lang="en-US" sz="1200" b="1" dirty="0">
                <a:solidFill>
                  <a:schemeClr val="bg1"/>
                </a:solidFill>
              </a:rPr>
              <a:t>Weeks 1–8</a:t>
            </a:r>
            <a:endParaRPr lang="en-US" sz="1200" dirty="0"/>
          </a:p>
        </p:txBody>
      </p:sp>
      <p:sp>
        <p:nvSpPr>
          <p:cNvPr id="22" name="Text 20"/>
          <p:cNvSpPr txBox="1"/>
          <p:nvPr/>
        </p:nvSpPr>
        <p:spPr>
          <a:xfrm>
            <a:off x="548640" y="2944368"/>
            <a:ext cx="3291840" cy="320040"/>
          </a:xfrm>
          <a:prstGeom prst="rect">
            <a:avLst/>
          </a:prstGeom>
          <a:noFill/>
          <a:ln/>
        </p:spPr>
        <p:txBody>
          <a:bodyPr wrap="square" lIns="0" tIns="0" rIns="0" bIns="0" rtlCol="0" anchor="t"/>
          <a:lstStyle/>
          <a:p>
            <a:pPr indent="0" marL="0">
              <a:buNone/>
            </a:pPr>
            <a:r>
              <a:rPr lang="en-US" sz="1500" b="1" dirty="0">
                <a:solidFill>
                  <a:schemeClr val="accent2"/>
                </a:solidFill>
              </a:rPr>
              <a:t>Phase 2  </a:t>
            </a:r>
            <a:pPr indent="0" marL="0">
              <a:buNone/>
            </a:pPr>
            <a:r>
              <a:rPr lang="en-US" sz="1500" b="1" dirty="0">
                <a:solidFill>
                  <a:schemeClr val="tx2"/>
                </a:solidFill>
              </a:rPr>
              <a:t>Planning, exams + AI</a:t>
            </a:r>
            <a:endParaRPr lang="en-US" sz="1500" dirty="0"/>
          </a:p>
        </p:txBody>
      </p:sp>
      <p:sp>
        <p:nvSpPr>
          <p:cNvPr id="23" name="Text 21"/>
          <p:cNvSpPr txBox="1"/>
          <p:nvPr/>
        </p:nvSpPr>
        <p:spPr>
          <a:xfrm>
            <a:off x="548640" y="3264408"/>
            <a:ext cx="3291840" cy="365760"/>
          </a:xfrm>
          <a:prstGeom prst="rect">
            <a:avLst/>
          </a:prstGeom>
          <a:noFill/>
          <a:ln/>
        </p:spPr>
        <p:txBody>
          <a:bodyPr wrap="square" lIns="0" tIns="0" rIns="0" bIns="0" rtlCol="0" anchor="t"/>
          <a:lstStyle/>
          <a:p>
            <a:pPr indent="0" marL="0">
              <a:buNone/>
            </a:pPr>
            <a:r>
              <a:rPr lang="en-US" sz="1100" dirty="0">
                <a:solidFill>
                  <a:schemeClr val="accent6"/>
                </a:solidFill>
              </a:rPr>
              <a:t>Planning, assessments, AI assistant, learning profile</a:t>
            </a:r>
            <a:endParaRPr lang="en-US" sz="1100" dirty="0"/>
          </a:p>
        </p:txBody>
      </p:sp>
      <p:sp>
        <p:nvSpPr>
          <p:cNvPr id="24" name="Phase 2 bar"/>
          <p:cNvSpPr/>
          <p:nvPr/>
        </p:nvSpPr>
        <p:spPr>
          <a:xfrm>
            <a:off x="5687568" y="3054096"/>
            <a:ext cx="1755648" cy="457200"/>
          </a:xfrm>
          <a:prstGeom prst="roundRect">
            <a:avLst>
              <a:gd name="adj" fmla="val 20000"/>
            </a:avLst>
          </a:prstGeom>
          <a:solidFill>
            <a:schemeClr val="accent2"/>
          </a:solidFill>
          <a:ln/>
        </p:spPr>
      </p:sp>
      <p:sp>
        <p:nvSpPr>
          <p:cNvPr id="25" name="Text 23"/>
          <p:cNvSpPr txBox="1"/>
          <p:nvPr/>
        </p:nvSpPr>
        <p:spPr>
          <a:xfrm>
            <a:off x="5687568" y="3054096"/>
            <a:ext cx="1755648" cy="457200"/>
          </a:xfrm>
          <a:prstGeom prst="rect">
            <a:avLst/>
          </a:prstGeom>
          <a:noFill/>
          <a:ln/>
        </p:spPr>
        <p:txBody>
          <a:bodyPr wrap="square" lIns="0" tIns="0" rIns="0" bIns="0" rtlCol="0" anchor="ctr"/>
          <a:lstStyle/>
          <a:p>
            <a:pPr algn="ctr" indent="0" marL="0">
              <a:buNone/>
            </a:pPr>
            <a:r>
              <a:rPr lang="en-US" sz="1200" b="1" dirty="0">
                <a:solidFill>
                  <a:schemeClr val="bg1"/>
                </a:solidFill>
              </a:rPr>
              <a:t>Weeks 7–12</a:t>
            </a:r>
            <a:endParaRPr lang="en-US" sz="1200" dirty="0"/>
          </a:p>
        </p:txBody>
      </p:sp>
      <p:sp>
        <p:nvSpPr>
          <p:cNvPr id="26" name="Text 24"/>
          <p:cNvSpPr txBox="1"/>
          <p:nvPr/>
        </p:nvSpPr>
        <p:spPr>
          <a:xfrm>
            <a:off x="548640" y="3694176"/>
            <a:ext cx="3291840" cy="320040"/>
          </a:xfrm>
          <a:prstGeom prst="rect">
            <a:avLst/>
          </a:prstGeom>
          <a:noFill/>
          <a:ln/>
        </p:spPr>
        <p:txBody>
          <a:bodyPr wrap="square" lIns="0" tIns="0" rIns="0" bIns="0" rtlCol="0" anchor="t"/>
          <a:lstStyle/>
          <a:p>
            <a:pPr indent="0" marL="0">
              <a:buNone/>
            </a:pPr>
            <a:r>
              <a:rPr lang="en-US" sz="1500" b="1" dirty="0">
                <a:solidFill>
                  <a:schemeClr val="accent3"/>
                </a:solidFill>
              </a:rPr>
              <a:t>Phase 3  </a:t>
            </a:r>
            <a:pPr indent="0" marL="0">
              <a:buNone/>
            </a:pPr>
            <a:r>
              <a:rPr lang="en-US" sz="1500" b="1" dirty="0">
                <a:solidFill>
                  <a:schemeClr val="tx2"/>
                </a:solidFill>
              </a:rPr>
              <a:t>Teacher cover + mobile</a:t>
            </a:r>
            <a:endParaRPr lang="en-US" sz="1500" dirty="0"/>
          </a:p>
        </p:txBody>
      </p:sp>
      <p:sp>
        <p:nvSpPr>
          <p:cNvPr id="27" name="Text 25"/>
          <p:cNvSpPr txBox="1"/>
          <p:nvPr/>
        </p:nvSpPr>
        <p:spPr>
          <a:xfrm>
            <a:off x="548640" y="4014216"/>
            <a:ext cx="3291840" cy="365760"/>
          </a:xfrm>
          <a:prstGeom prst="rect">
            <a:avLst/>
          </a:prstGeom>
          <a:noFill/>
          <a:ln/>
        </p:spPr>
        <p:txBody>
          <a:bodyPr wrap="square" lIns="0" tIns="0" rIns="0" bIns="0" rtlCol="0" anchor="t"/>
          <a:lstStyle/>
          <a:p>
            <a:pPr indent="0" marL="0">
              <a:buNone/>
            </a:pPr>
            <a:r>
              <a:rPr lang="en-US" sz="1100" dirty="0">
                <a:solidFill>
                  <a:schemeClr val="accent6"/>
                </a:solidFill>
              </a:rPr>
              <a:t>Absence/substitute workflow, digital class, mobile apps</a:t>
            </a:r>
            <a:endParaRPr lang="en-US" sz="1100" dirty="0"/>
          </a:p>
        </p:txBody>
      </p:sp>
      <p:sp>
        <p:nvSpPr>
          <p:cNvPr id="28" name="Phase 3 bar"/>
          <p:cNvSpPr/>
          <p:nvPr/>
        </p:nvSpPr>
        <p:spPr>
          <a:xfrm>
            <a:off x="6565392" y="3803904"/>
            <a:ext cx="3218688" cy="457200"/>
          </a:xfrm>
          <a:prstGeom prst="roundRect">
            <a:avLst>
              <a:gd name="adj" fmla="val 20000"/>
            </a:avLst>
          </a:prstGeom>
          <a:solidFill>
            <a:schemeClr val="accent3"/>
          </a:solidFill>
          <a:ln/>
        </p:spPr>
      </p:sp>
      <p:sp>
        <p:nvSpPr>
          <p:cNvPr id="29" name="Text 27"/>
          <p:cNvSpPr txBox="1"/>
          <p:nvPr/>
        </p:nvSpPr>
        <p:spPr>
          <a:xfrm>
            <a:off x="6565392" y="3803904"/>
            <a:ext cx="3218688" cy="457200"/>
          </a:xfrm>
          <a:prstGeom prst="rect">
            <a:avLst/>
          </a:prstGeom>
          <a:noFill/>
          <a:ln/>
        </p:spPr>
        <p:txBody>
          <a:bodyPr wrap="square" lIns="0" tIns="0" rIns="0" bIns="0" rtlCol="0" anchor="ctr"/>
          <a:lstStyle/>
          <a:p>
            <a:pPr algn="ctr" indent="0" marL="0">
              <a:buNone/>
            </a:pPr>
            <a:r>
              <a:rPr lang="en-US" sz="1200" b="1" dirty="0">
                <a:solidFill>
                  <a:schemeClr val="bg1"/>
                </a:solidFill>
              </a:rPr>
              <a:t>Weeks 10–20</a:t>
            </a:r>
            <a:endParaRPr lang="en-US" sz="1200" dirty="0"/>
          </a:p>
        </p:txBody>
      </p:sp>
      <p:sp>
        <p:nvSpPr>
          <p:cNvPr id="30" name="Text 28"/>
          <p:cNvSpPr txBox="1"/>
          <p:nvPr/>
        </p:nvSpPr>
        <p:spPr>
          <a:xfrm>
            <a:off x="548640" y="4443984"/>
            <a:ext cx="3291840" cy="320040"/>
          </a:xfrm>
          <a:prstGeom prst="rect">
            <a:avLst/>
          </a:prstGeom>
          <a:noFill/>
          <a:ln/>
        </p:spPr>
        <p:txBody>
          <a:bodyPr wrap="square" lIns="0" tIns="0" rIns="0" bIns="0" rtlCol="0" anchor="t"/>
          <a:lstStyle/>
          <a:p>
            <a:pPr indent="0" marL="0">
              <a:buNone/>
            </a:pPr>
            <a:r>
              <a:rPr lang="en-US" sz="1500" b="1" dirty="0">
                <a:solidFill>
                  <a:schemeClr val="accent4"/>
                </a:solidFill>
              </a:rPr>
              <a:t>Phase 4  </a:t>
            </a:r>
            <a:pPr indent="0" marL="0">
              <a:buNone/>
            </a:pPr>
            <a:r>
              <a:rPr lang="en-US" sz="1500" b="1" dirty="0">
                <a:solidFill>
                  <a:schemeClr val="tx2"/>
                </a:solidFill>
              </a:rPr>
              <a:t>Advanced learning</a:t>
            </a:r>
            <a:endParaRPr lang="en-US" sz="1500" dirty="0"/>
          </a:p>
        </p:txBody>
      </p:sp>
      <p:sp>
        <p:nvSpPr>
          <p:cNvPr id="31" name="Text 29"/>
          <p:cNvSpPr txBox="1"/>
          <p:nvPr/>
        </p:nvSpPr>
        <p:spPr>
          <a:xfrm>
            <a:off x="548640" y="4764024"/>
            <a:ext cx="3291840" cy="365760"/>
          </a:xfrm>
          <a:prstGeom prst="rect">
            <a:avLst/>
          </a:prstGeom>
          <a:noFill/>
          <a:ln/>
        </p:spPr>
        <p:txBody>
          <a:bodyPr wrap="square" lIns="0" tIns="0" rIns="0" bIns="0" rtlCol="0" anchor="t"/>
          <a:lstStyle/>
          <a:p>
            <a:pPr indent="0" marL="0">
              <a:buNone/>
            </a:pPr>
            <a:r>
              <a:rPr lang="en-US" sz="1100" dirty="0">
                <a:solidFill>
                  <a:schemeClr val="accent6"/>
                </a:solidFill>
              </a:rPr>
              <a:t>Voice/avatar tutor, 3D simulations, rankings, lab usage</a:t>
            </a:r>
            <a:endParaRPr lang="en-US" sz="1100" dirty="0"/>
          </a:p>
        </p:txBody>
      </p:sp>
      <p:sp>
        <p:nvSpPr>
          <p:cNvPr id="32" name="Phase 4 bar"/>
          <p:cNvSpPr/>
          <p:nvPr/>
        </p:nvSpPr>
        <p:spPr>
          <a:xfrm>
            <a:off x="10058400" y="4553712"/>
            <a:ext cx="1600200" cy="457200"/>
          </a:xfrm>
          <a:prstGeom prst="roundRect">
            <a:avLst>
              <a:gd name="adj" fmla="val 20000"/>
            </a:avLst>
          </a:prstGeom>
          <a:solidFill>
            <a:schemeClr val="accent4"/>
          </a:solidFill>
          <a:ln/>
        </p:spPr>
      </p:sp>
      <p:sp>
        <p:nvSpPr>
          <p:cNvPr id="33" name="Text 31"/>
          <p:cNvSpPr txBox="1"/>
          <p:nvPr/>
        </p:nvSpPr>
        <p:spPr>
          <a:xfrm>
            <a:off x="10058400" y="4553712"/>
            <a:ext cx="1600200" cy="457200"/>
          </a:xfrm>
          <a:prstGeom prst="rect">
            <a:avLst/>
          </a:prstGeom>
          <a:noFill/>
          <a:ln/>
        </p:spPr>
        <p:txBody>
          <a:bodyPr wrap="square" lIns="0" tIns="0" rIns="0" bIns="0" rtlCol="0" anchor="ctr"/>
          <a:lstStyle/>
          <a:p>
            <a:pPr algn="ctr" indent="0" marL="0">
              <a:buNone/>
            </a:pPr>
            <a:r>
              <a:rPr lang="en-US" sz="1200" b="1" dirty="0">
                <a:solidFill>
                  <a:schemeClr val="bg1"/>
                </a:solidFill>
              </a:rPr>
              <a:t>Optional</a:t>
            </a:r>
            <a:endParaRPr lang="en-US" sz="1200" dirty="0"/>
          </a:p>
        </p:txBody>
      </p:sp>
      <p:sp>
        <p:nvSpPr>
          <p:cNvPr id="34" name="Text 32"/>
          <p:cNvSpPr txBox="1"/>
          <p:nvPr/>
        </p:nvSpPr>
        <p:spPr>
          <a:xfrm>
            <a:off x="548640" y="5193792"/>
            <a:ext cx="3291840" cy="320040"/>
          </a:xfrm>
          <a:prstGeom prst="rect">
            <a:avLst/>
          </a:prstGeom>
          <a:noFill/>
          <a:ln/>
        </p:spPr>
        <p:txBody>
          <a:bodyPr wrap="square" lIns="0" tIns="0" rIns="0" bIns="0" rtlCol="0" anchor="t"/>
          <a:lstStyle/>
          <a:p>
            <a:pPr indent="0" marL="0">
              <a:buNone/>
            </a:pPr>
            <a:r>
              <a:rPr lang="en-US" sz="1500" b="1" dirty="0">
                <a:solidFill>
                  <a:schemeClr val="accent5"/>
                </a:solidFill>
              </a:rPr>
              <a:t>Phase 5  </a:t>
            </a:r>
            <a:pPr indent="0" marL="0">
              <a:buNone/>
            </a:pPr>
            <a:r>
              <a:rPr lang="en-US" sz="1500" b="1" dirty="0">
                <a:solidFill>
                  <a:schemeClr val="tx2"/>
                </a:solidFill>
              </a:rPr>
              <a:t>Large-scale rollout</a:t>
            </a:r>
            <a:endParaRPr lang="en-US" sz="1500" dirty="0"/>
          </a:p>
        </p:txBody>
      </p:sp>
      <p:sp>
        <p:nvSpPr>
          <p:cNvPr id="35" name="Text 33"/>
          <p:cNvSpPr txBox="1"/>
          <p:nvPr/>
        </p:nvSpPr>
        <p:spPr>
          <a:xfrm>
            <a:off x="548640" y="5513832"/>
            <a:ext cx="3291840" cy="365760"/>
          </a:xfrm>
          <a:prstGeom prst="rect">
            <a:avLst/>
          </a:prstGeom>
          <a:noFill/>
          <a:ln/>
        </p:spPr>
        <p:txBody>
          <a:bodyPr wrap="square" lIns="0" tIns="0" rIns="0" bIns="0" rtlCol="0" anchor="t"/>
          <a:lstStyle/>
          <a:p>
            <a:pPr indent="0" marL="0">
              <a:buNone/>
            </a:pPr>
            <a:r>
              <a:rPr lang="en-US" sz="1100" dirty="0">
                <a:solidFill>
                  <a:schemeClr val="accent6"/>
                </a:solidFill>
              </a:rPr>
              <a:t>District/state dashboards, load testing, cost control</a:t>
            </a:r>
            <a:endParaRPr lang="en-US" sz="1100" dirty="0"/>
          </a:p>
        </p:txBody>
      </p:sp>
      <p:sp>
        <p:nvSpPr>
          <p:cNvPr id="36" name="Phase 5 bar"/>
          <p:cNvSpPr/>
          <p:nvPr/>
        </p:nvSpPr>
        <p:spPr>
          <a:xfrm>
            <a:off x="10058400" y="5303520"/>
            <a:ext cx="1600200" cy="457200"/>
          </a:xfrm>
          <a:prstGeom prst="roundRect">
            <a:avLst>
              <a:gd name="adj" fmla="val 20000"/>
            </a:avLst>
          </a:prstGeom>
          <a:solidFill>
            <a:schemeClr val="accent5"/>
          </a:solidFill>
          <a:ln/>
        </p:spPr>
      </p:sp>
      <p:sp>
        <p:nvSpPr>
          <p:cNvPr id="37" name="Text 35"/>
          <p:cNvSpPr txBox="1"/>
          <p:nvPr/>
        </p:nvSpPr>
        <p:spPr>
          <a:xfrm>
            <a:off x="10058400" y="5303520"/>
            <a:ext cx="1600200" cy="457200"/>
          </a:xfrm>
          <a:prstGeom prst="rect">
            <a:avLst/>
          </a:prstGeom>
          <a:noFill/>
          <a:ln/>
        </p:spPr>
        <p:txBody>
          <a:bodyPr wrap="square" lIns="0" tIns="0" rIns="0" bIns="0" rtlCol="0" anchor="ctr"/>
          <a:lstStyle/>
          <a:p>
            <a:pPr algn="ctr" indent="0" marL="0">
              <a:buNone/>
            </a:pPr>
            <a:r>
              <a:rPr lang="en-US" sz="1200" b="1" dirty="0">
                <a:solidFill>
                  <a:schemeClr val="bg1"/>
                </a:solidFill>
              </a:rPr>
              <a:t>After scale checks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WE DELIVER</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Why a phased build is safer and faster</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Compared with a typical single-release AI-LMS proposal for the same FRD.</a:t>
            </a:r>
            <a:endParaRPr lang="en-US" sz="1600" dirty="0"/>
          </a:p>
        </p:txBody>
      </p:sp>
      <p:sp>
        <p:nvSpPr>
          <p:cNvPr id="5" name="Text 3"/>
          <p:cNvSpPr txBox="1"/>
          <p:nvPr/>
        </p:nvSpPr>
        <p:spPr>
          <a:xfrm>
            <a:off x="3977640" y="1810512"/>
            <a:ext cx="3566160" cy="320040"/>
          </a:xfrm>
          <a:prstGeom prst="rect">
            <a:avLst/>
          </a:prstGeom>
          <a:noFill/>
          <a:ln/>
        </p:spPr>
        <p:txBody>
          <a:bodyPr wrap="square" lIns="0" tIns="0" rIns="0" bIns="0" rtlCol="0" anchor="t"/>
          <a:lstStyle/>
          <a:p>
            <a:pPr algn="ctr" indent="0" marL="0">
              <a:buNone/>
            </a:pPr>
            <a:r>
              <a:rPr lang="en-US" sz="1300" b="1" spc="100" kern="0" dirty="0">
                <a:solidFill>
                  <a:schemeClr val="accent3"/>
                </a:solidFill>
              </a:rPr>
              <a:t>SINGLE BIG RELEASE</a:t>
            </a:r>
            <a:endParaRPr lang="en-US" sz="1300" dirty="0"/>
          </a:p>
        </p:txBody>
      </p:sp>
      <p:sp>
        <p:nvSpPr>
          <p:cNvPr id="6" name="our column"/>
          <p:cNvSpPr/>
          <p:nvPr/>
        </p:nvSpPr>
        <p:spPr>
          <a:xfrm>
            <a:off x="7818120" y="1755648"/>
            <a:ext cx="3822192" cy="3794760"/>
          </a:xfrm>
          <a:prstGeom prst="roundRect">
            <a:avLst>
              <a:gd name="adj" fmla="val 2892"/>
            </a:avLst>
          </a:prstGeom>
          <a:solidFill>
            <a:schemeClr val="accent1">
              <a:alpha val="12000"/>
            </a:schemeClr>
          </a:solidFill>
          <a:ln/>
        </p:spPr>
      </p:sp>
      <p:sp>
        <p:nvSpPr>
          <p:cNvPr id="7" name="Text 5"/>
          <p:cNvSpPr txBox="1"/>
          <p:nvPr/>
        </p:nvSpPr>
        <p:spPr>
          <a:xfrm>
            <a:off x="7818120" y="1810512"/>
            <a:ext cx="3822192" cy="320040"/>
          </a:xfrm>
          <a:prstGeom prst="rect">
            <a:avLst/>
          </a:prstGeom>
          <a:noFill/>
          <a:ln/>
        </p:spPr>
        <p:txBody>
          <a:bodyPr wrap="square" lIns="0" tIns="0" rIns="0" bIns="0" rtlCol="0" anchor="t"/>
          <a:lstStyle/>
          <a:p>
            <a:pPr algn="ctr" indent="0" marL="0">
              <a:buNone/>
            </a:pPr>
            <a:r>
              <a:rPr lang="en-US" sz="1300" b="1" spc="100" kern="0" dirty="0">
                <a:solidFill>
                  <a:schemeClr val="accent1"/>
                </a:solidFill>
              </a:rPr>
              <a:t>AI GURUKUL — PHASED</a:t>
            </a:r>
            <a:endParaRPr lang="en-US" sz="1300" dirty="0"/>
          </a:p>
        </p:txBody>
      </p:sp>
      <p:sp>
        <p:nvSpPr>
          <p:cNvPr id="8" name="First usable system circle"/>
          <p:cNvSpPr/>
          <p:nvPr/>
        </p:nvSpPr>
        <p:spPr>
          <a:xfrm>
            <a:off x="548640" y="2304288"/>
            <a:ext cx="502920" cy="502920"/>
          </a:xfrm>
          <a:prstGeom prst="ellipse">
            <a:avLst/>
          </a:prstGeom>
          <a:solidFill>
            <a:schemeClr val="tx2"/>
          </a:solidFill>
          <a:ln/>
        </p:spPr>
      </p:sp>
      <p:pic>
        <p:nvPicPr>
          <p:cNvPr id="9" name="First usable system icon" descr="First usable system">    </p:cNvPr>
          <p:cNvPicPr>
            <a:picLocks noChangeAspect="1"/>
          </p:cNvPicPr>
          <p:nvPr/>
        </p:nvPicPr>
        <p:blipFill>
          <a:blip r:embed="rId1"/>
          <a:stretch>
            <a:fillRect/>
          </a:stretch>
        </p:blipFill>
        <p:spPr>
          <a:xfrm>
            <a:off x="674370" y="2430018"/>
            <a:ext cx="251460" cy="251460"/>
          </a:xfrm>
          <a:prstGeom prst="rect">
            <a:avLst/>
          </a:prstGeom>
        </p:spPr>
      </p:pic>
      <p:sp>
        <p:nvSpPr>
          <p:cNvPr id="10" name="Text 7"/>
          <p:cNvSpPr txBox="1"/>
          <p:nvPr/>
        </p:nvSpPr>
        <p:spPr>
          <a:xfrm>
            <a:off x="1234440" y="2194560"/>
            <a:ext cx="2651760" cy="731520"/>
          </a:xfrm>
          <a:prstGeom prst="rect">
            <a:avLst/>
          </a:prstGeom>
          <a:noFill/>
          <a:ln/>
        </p:spPr>
        <p:txBody>
          <a:bodyPr wrap="square" lIns="0" tIns="0" rIns="0" bIns="0" rtlCol="0" anchor="ctr"/>
          <a:lstStyle/>
          <a:p>
            <a:pPr indent="0" marL="0">
              <a:buNone/>
            </a:pPr>
            <a:r>
              <a:rPr lang="en-US" sz="1600" b="1" dirty="0">
                <a:solidFill>
                  <a:schemeClr val="tx2"/>
                </a:solidFill>
              </a:rPr>
              <a:t>First usable system</a:t>
            </a:r>
            <a:endParaRPr lang="en-US" sz="1600" dirty="0"/>
          </a:p>
        </p:txBody>
      </p:sp>
      <p:sp>
        <p:nvSpPr>
          <p:cNvPr id="11" name="Text 8"/>
          <p:cNvSpPr txBox="1"/>
          <p:nvPr/>
        </p:nvSpPr>
        <p:spPr>
          <a:xfrm>
            <a:off x="3977640" y="2194560"/>
            <a:ext cx="3566160" cy="731520"/>
          </a:xfrm>
          <a:prstGeom prst="rect">
            <a:avLst/>
          </a:prstGeom>
          <a:noFill/>
          <a:ln/>
        </p:spPr>
        <p:txBody>
          <a:bodyPr wrap="square" lIns="0" tIns="0" rIns="0" bIns="0" rtlCol="0" anchor="ctr"/>
          <a:lstStyle/>
          <a:p>
            <a:pPr algn="ctr" indent="0" marL="0">
              <a:buNone/>
            </a:pPr>
            <a:r>
              <a:rPr lang="en-US" sz="1500" dirty="0">
                <a:solidFill>
                  <a:schemeClr val="tx1"/>
                </a:solidFill>
              </a:rPr>
              <a:t>Week 40 (10 months)</a:t>
            </a:r>
            <a:endParaRPr lang="en-US" sz="1500" dirty="0"/>
          </a:p>
        </p:txBody>
      </p:sp>
      <p:sp>
        <p:nvSpPr>
          <p:cNvPr id="12" name="Text 9"/>
          <p:cNvSpPr txBox="1"/>
          <p:nvPr/>
        </p:nvSpPr>
        <p:spPr>
          <a:xfrm>
            <a:off x="8001000" y="2194560"/>
            <a:ext cx="3474720" cy="731520"/>
          </a:xfrm>
          <a:prstGeom prst="rect">
            <a:avLst/>
          </a:prstGeom>
          <a:noFill/>
          <a:ln/>
        </p:spPr>
        <p:txBody>
          <a:bodyPr wrap="square" lIns="0" tIns="0" rIns="0" bIns="0" rtlCol="0" anchor="ctr"/>
          <a:lstStyle/>
          <a:p>
            <a:pPr algn="ctr" indent="0" marL="0">
              <a:buNone/>
            </a:pPr>
            <a:r>
              <a:rPr lang="en-US" sz="1500" b="1" dirty="0">
                <a:solidFill>
                  <a:schemeClr val="tx2"/>
                </a:solidFill>
              </a:rPr>
              <a:t>Week 8</a:t>
            </a:r>
            <a:endParaRPr lang="en-US" sz="1500" dirty="0"/>
          </a:p>
        </p:txBody>
      </p:sp>
      <p:sp>
        <p:nvSpPr>
          <p:cNvPr id="13" name="divider"/>
          <p:cNvSpPr/>
          <p:nvPr/>
        </p:nvSpPr>
        <p:spPr>
          <a:xfrm>
            <a:off x="548640" y="2980944"/>
            <a:ext cx="11094415" cy="0"/>
          </a:xfrm>
          <a:prstGeom prst="line">
            <a:avLst/>
          </a:prstGeom>
          <a:noFill/>
          <a:ln w="9525">
            <a:solidFill>
              <a:srgbClr val="DCE3EC"/>
            </a:solidFill>
            <a:prstDash val="solid"/>
          </a:ln>
        </p:spPr>
      </p:sp>
      <p:sp>
        <p:nvSpPr>
          <p:cNvPr id="14" name="One-time build cost circle"/>
          <p:cNvSpPr/>
          <p:nvPr/>
        </p:nvSpPr>
        <p:spPr>
          <a:xfrm>
            <a:off x="548640" y="3145536"/>
            <a:ext cx="502920" cy="502920"/>
          </a:xfrm>
          <a:prstGeom prst="ellipse">
            <a:avLst/>
          </a:prstGeom>
          <a:solidFill>
            <a:schemeClr val="tx2"/>
          </a:solidFill>
          <a:ln/>
        </p:spPr>
      </p:sp>
      <p:pic>
        <p:nvPicPr>
          <p:cNvPr id="15" name="One-time build cost icon" descr="One-time build cost">    </p:cNvPr>
          <p:cNvPicPr>
            <a:picLocks noChangeAspect="1"/>
          </p:cNvPicPr>
          <p:nvPr/>
        </p:nvPicPr>
        <p:blipFill>
          <a:blip r:embed="rId2"/>
          <a:stretch>
            <a:fillRect/>
          </a:stretch>
        </p:blipFill>
        <p:spPr>
          <a:xfrm>
            <a:off x="674370" y="3271266"/>
            <a:ext cx="251460" cy="251460"/>
          </a:xfrm>
          <a:prstGeom prst="rect">
            <a:avLst/>
          </a:prstGeom>
        </p:spPr>
      </p:pic>
      <p:sp>
        <p:nvSpPr>
          <p:cNvPr id="16" name="Text 12"/>
          <p:cNvSpPr txBox="1"/>
          <p:nvPr/>
        </p:nvSpPr>
        <p:spPr>
          <a:xfrm>
            <a:off x="1234440" y="3035808"/>
            <a:ext cx="2651760" cy="731520"/>
          </a:xfrm>
          <a:prstGeom prst="rect">
            <a:avLst/>
          </a:prstGeom>
          <a:noFill/>
          <a:ln/>
        </p:spPr>
        <p:txBody>
          <a:bodyPr wrap="square" lIns="0" tIns="0" rIns="0" bIns="0" rtlCol="0" anchor="ctr"/>
          <a:lstStyle/>
          <a:p>
            <a:pPr indent="0" marL="0">
              <a:buNone/>
            </a:pPr>
            <a:r>
              <a:rPr lang="en-US" sz="1600" b="1" dirty="0">
                <a:solidFill>
                  <a:schemeClr val="tx2"/>
                </a:solidFill>
              </a:rPr>
              <a:t>One-time build cost</a:t>
            </a:r>
            <a:endParaRPr lang="en-US" sz="1600" dirty="0"/>
          </a:p>
        </p:txBody>
      </p:sp>
      <p:sp>
        <p:nvSpPr>
          <p:cNvPr id="17" name="Text 13"/>
          <p:cNvSpPr txBox="1"/>
          <p:nvPr/>
        </p:nvSpPr>
        <p:spPr>
          <a:xfrm>
            <a:off x="3977640" y="3035808"/>
            <a:ext cx="3566160" cy="731520"/>
          </a:xfrm>
          <a:prstGeom prst="rect">
            <a:avLst/>
          </a:prstGeom>
          <a:noFill/>
          <a:ln/>
        </p:spPr>
        <p:txBody>
          <a:bodyPr wrap="square" lIns="0" tIns="0" rIns="0" bIns="0" rtlCol="0" anchor="ctr"/>
          <a:lstStyle/>
          <a:p>
            <a:pPr algn="ctr" indent="0" marL="0">
              <a:buNone/>
            </a:pPr>
            <a:r>
              <a:rPr lang="en-US" sz="1500" dirty="0">
                <a:solidFill>
                  <a:schemeClr val="tx1"/>
                </a:solidFill>
              </a:rPr>
              <a:t>₹51.48 lakh (GST not stated)</a:t>
            </a:r>
            <a:endParaRPr lang="en-US" sz="1500" dirty="0"/>
          </a:p>
        </p:txBody>
      </p:sp>
      <p:sp>
        <p:nvSpPr>
          <p:cNvPr id="18" name="Text 14"/>
          <p:cNvSpPr txBox="1"/>
          <p:nvPr/>
        </p:nvSpPr>
        <p:spPr>
          <a:xfrm>
            <a:off x="8001000" y="3035808"/>
            <a:ext cx="3474720" cy="731520"/>
          </a:xfrm>
          <a:prstGeom prst="rect">
            <a:avLst/>
          </a:prstGeom>
          <a:noFill/>
          <a:ln/>
        </p:spPr>
        <p:txBody>
          <a:bodyPr wrap="square" lIns="0" tIns="0" rIns="0" bIns="0" rtlCol="0" anchor="ctr"/>
          <a:lstStyle/>
          <a:p>
            <a:pPr algn="ctr" indent="0" marL="0">
              <a:buNone/>
            </a:pPr>
            <a:r>
              <a:rPr lang="en-US" sz="1500" b="1" dirty="0">
                <a:solidFill>
                  <a:schemeClr val="tx2"/>
                </a:solidFill>
              </a:rPr>
              <a:t>₹23.70 lakh incl. GST</a:t>
            </a:r>
            <a:endParaRPr lang="en-US" sz="1500" dirty="0"/>
          </a:p>
        </p:txBody>
      </p:sp>
      <p:sp>
        <p:nvSpPr>
          <p:cNvPr id="19" name="divider"/>
          <p:cNvSpPr/>
          <p:nvPr/>
        </p:nvSpPr>
        <p:spPr>
          <a:xfrm>
            <a:off x="548640" y="3822192"/>
            <a:ext cx="11094415" cy="0"/>
          </a:xfrm>
          <a:prstGeom prst="line">
            <a:avLst/>
          </a:prstGeom>
          <a:noFill/>
          <a:ln w="9525">
            <a:solidFill>
              <a:srgbClr val="DCE3EC"/>
            </a:solidFill>
            <a:prstDash val="solid"/>
          </a:ln>
        </p:spPr>
      </p:sp>
      <p:sp>
        <p:nvSpPr>
          <p:cNvPr id="20" name="Avatar, voice and 3D circle"/>
          <p:cNvSpPr/>
          <p:nvPr/>
        </p:nvSpPr>
        <p:spPr>
          <a:xfrm>
            <a:off x="548640" y="3986784"/>
            <a:ext cx="502920" cy="502920"/>
          </a:xfrm>
          <a:prstGeom prst="ellipse">
            <a:avLst/>
          </a:prstGeom>
          <a:solidFill>
            <a:schemeClr val="tx2"/>
          </a:solidFill>
          <a:ln/>
        </p:spPr>
      </p:sp>
      <p:pic>
        <p:nvPicPr>
          <p:cNvPr id="21" name="Avatar, voice and 3D icon" descr="Avatar, voice and 3D">    </p:cNvPr>
          <p:cNvPicPr>
            <a:picLocks noChangeAspect="1"/>
          </p:cNvPicPr>
          <p:nvPr/>
        </p:nvPicPr>
        <p:blipFill>
          <a:blip r:embed="rId3"/>
          <a:stretch>
            <a:fillRect/>
          </a:stretch>
        </p:blipFill>
        <p:spPr>
          <a:xfrm>
            <a:off x="674370" y="4112514"/>
            <a:ext cx="251460" cy="251460"/>
          </a:xfrm>
          <a:prstGeom prst="rect">
            <a:avLst/>
          </a:prstGeom>
        </p:spPr>
      </p:pic>
      <p:sp>
        <p:nvSpPr>
          <p:cNvPr id="22" name="Text 17"/>
          <p:cNvSpPr txBox="1"/>
          <p:nvPr/>
        </p:nvSpPr>
        <p:spPr>
          <a:xfrm>
            <a:off x="1234440" y="3877056"/>
            <a:ext cx="2651760" cy="731520"/>
          </a:xfrm>
          <a:prstGeom prst="rect">
            <a:avLst/>
          </a:prstGeom>
          <a:noFill/>
          <a:ln/>
        </p:spPr>
        <p:txBody>
          <a:bodyPr wrap="square" lIns="0" tIns="0" rIns="0" bIns="0" rtlCol="0" anchor="ctr"/>
          <a:lstStyle/>
          <a:p>
            <a:pPr indent="0" marL="0">
              <a:buNone/>
            </a:pPr>
            <a:r>
              <a:rPr lang="en-US" sz="1600" b="1" dirty="0">
                <a:solidFill>
                  <a:schemeClr val="tx2"/>
                </a:solidFill>
              </a:rPr>
              <a:t>Avatar, voice and 3D</a:t>
            </a:r>
            <a:endParaRPr lang="en-US" sz="1600" dirty="0"/>
          </a:p>
        </p:txBody>
      </p:sp>
      <p:sp>
        <p:nvSpPr>
          <p:cNvPr id="23" name="Text 18"/>
          <p:cNvSpPr txBox="1"/>
          <p:nvPr/>
        </p:nvSpPr>
        <p:spPr>
          <a:xfrm>
            <a:off x="3977640" y="3877056"/>
            <a:ext cx="3566160" cy="731520"/>
          </a:xfrm>
          <a:prstGeom prst="rect">
            <a:avLst/>
          </a:prstGeom>
          <a:noFill/>
          <a:ln/>
        </p:spPr>
        <p:txBody>
          <a:bodyPr wrap="square" lIns="0" tIns="0" rIns="0" bIns="0" rtlCol="0" anchor="ctr"/>
          <a:lstStyle/>
          <a:p>
            <a:pPr algn="ctr" indent="0" marL="0">
              <a:buNone/>
            </a:pPr>
            <a:r>
              <a:rPr lang="en-US" sz="1500" dirty="0">
                <a:solidFill>
                  <a:schemeClr val="tx1"/>
                </a:solidFill>
              </a:rPr>
              <a:t>All built in the first release</a:t>
            </a:r>
            <a:endParaRPr lang="en-US" sz="1500" dirty="0"/>
          </a:p>
        </p:txBody>
      </p:sp>
      <p:sp>
        <p:nvSpPr>
          <p:cNvPr id="24" name="Text 19"/>
          <p:cNvSpPr txBox="1"/>
          <p:nvPr/>
        </p:nvSpPr>
        <p:spPr>
          <a:xfrm>
            <a:off x="8001000" y="3877056"/>
            <a:ext cx="3474720" cy="731520"/>
          </a:xfrm>
          <a:prstGeom prst="rect">
            <a:avLst/>
          </a:prstGeom>
          <a:noFill/>
          <a:ln/>
        </p:spPr>
        <p:txBody>
          <a:bodyPr wrap="square" lIns="0" tIns="0" rIns="0" bIns="0" rtlCol="0" anchor="ctr"/>
          <a:lstStyle/>
          <a:p>
            <a:pPr algn="ctr" indent="0" marL="0">
              <a:buNone/>
            </a:pPr>
            <a:r>
              <a:rPr lang="en-US" sz="1500" b="1" dirty="0">
                <a:solidFill>
                  <a:schemeClr val="tx2"/>
                </a:solidFill>
              </a:rPr>
              <a:t>Added after the pilot proves quality and cost</a:t>
            </a:r>
            <a:endParaRPr lang="en-US" sz="1500" dirty="0"/>
          </a:p>
        </p:txBody>
      </p:sp>
      <p:sp>
        <p:nvSpPr>
          <p:cNvPr id="25" name="divider"/>
          <p:cNvSpPr/>
          <p:nvPr/>
        </p:nvSpPr>
        <p:spPr>
          <a:xfrm>
            <a:off x="548640" y="4663440"/>
            <a:ext cx="11094415" cy="0"/>
          </a:xfrm>
          <a:prstGeom prst="line">
            <a:avLst/>
          </a:prstGeom>
          <a:noFill/>
          <a:ln w="9525">
            <a:solidFill>
              <a:srgbClr val="DCE3EC"/>
            </a:solidFill>
            <a:prstDash val="solid"/>
          </a:ln>
        </p:spPr>
      </p:sp>
      <p:sp>
        <p:nvSpPr>
          <p:cNvPr id="26" name="Feedback and risk circle"/>
          <p:cNvSpPr/>
          <p:nvPr/>
        </p:nvSpPr>
        <p:spPr>
          <a:xfrm>
            <a:off x="548640" y="4828032"/>
            <a:ext cx="502920" cy="502920"/>
          </a:xfrm>
          <a:prstGeom prst="ellipse">
            <a:avLst/>
          </a:prstGeom>
          <a:solidFill>
            <a:schemeClr val="tx2"/>
          </a:solidFill>
          <a:ln/>
        </p:spPr>
      </p:sp>
      <p:pic>
        <p:nvPicPr>
          <p:cNvPr id="27" name="Feedback and risk icon" descr="Feedback and risk">    </p:cNvPr>
          <p:cNvPicPr>
            <a:picLocks noChangeAspect="1"/>
          </p:cNvPicPr>
          <p:nvPr/>
        </p:nvPicPr>
        <p:blipFill>
          <a:blip r:embed="rId4"/>
          <a:stretch>
            <a:fillRect/>
          </a:stretch>
        </p:blipFill>
        <p:spPr>
          <a:xfrm>
            <a:off x="674370" y="4953762"/>
            <a:ext cx="251460" cy="251460"/>
          </a:xfrm>
          <a:prstGeom prst="rect">
            <a:avLst/>
          </a:prstGeom>
        </p:spPr>
      </p:pic>
      <p:sp>
        <p:nvSpPr>
          <p:cNvPr id="28" name="Text 22"/>
          <p:cNvSpPr txBox="1"/>
          <p:nvPr/>
        </p:nvSpPr>
        <p:spPr>
          <a:xfrm>
            <a:off x="1234440" y="4718304"/>
            <a:ext cx="2651760" cy="731520"/>
          </a:xfrm>
          <a:prstGeom prst="rect">
            <a:avLst/>
          </a:prstGeom>
          <a:noFill/>
          <a:ln/>
        </p:spPr>
        <p:txBody>
          <a:bodyPr wrap="square" lIns="0" tIns="0" rIns="0" bIns="0" rtlCol="0" anchor="ctr"/>
          <a:lstStyle/>
          <a:p>
            <a:pPr indent="0" marL="0">
              <a:buNone/>
            </a:pPr>
            <a:r>
              <a:rPr lang="en-US" sz="1600" b="1" dirty="0">
                <a:solidFill>
                  <a:schemeClr val="tx2"/>
                </a:solidFill>
              </a:rPr>
              <a:t>Feedback and risk</a:t>
            </a:r>
            <a:endParaRPr lang="en-US" sz="1600" dirty="0"/>
          </a:p>
        </p:txBody>
      </p:sp>
      <p:sp>
        <p:nvSpPr>
          <p:cNvPr id="29" name="Text 23"/>
          <p:cNvSpPr txBox="1"/>
          <p:nvPr/>
        </p:nvSpPr>
        <p:spPr>
          <a:xfrm>
            <a:off x="3977640" y="4718304"/>
            <a:ext cx="3566160" cy="731520"/>
          </a:xfrm>
          <a:prstGeom prst="rect">
            <a:avLst/>
          </a:prstGeom>
          <a:noFill/>
          <a:ln/>
        </p:spPr>
        <p:txBody>
          <a:bodyPr wrap="square" lIns="0" tIns="0" rIns="0" bIns="0" rtlCol="0" anchor="ctr"/>
          <a:lstStyle/>
          <a:p>
            <a:pPr algn="ctr" indent="0" marL="0">
              <a:buNone/>
            </a:pPr>
            <a:r>
              <a:rPr lang="en-US" sz="1500" dirty="0">
                <a:solidFill>
                  <a:schemeClr val="tx1"/>
                </a:solidFill>
              </a:rPr>
              <a:t>Everything ships at once; feedback comes late</a:t>
            </a:r>
            <a:endParaRPr lang="en-US" sz="1500" dirty="0"/>
          </a:p>
        </p:txBody>
      </p:sp>
      <p:sp>
        <p:nvSpPr>
          <p:cNvPr id="30" name="Text 24"/>
          <p:cNvSpPr txBox="1"/>
          <p:nvPr/>
        </p:nvSpPr>
        <p:spPr>
          <a:xfrm>
            <a:off x="8001000" y="4718304"/>
            <a:ext cx="3474720" cy="731520"/>
          </a:xfrm>
          <a:prstGeom prst="rect">
            <a:avLst/>
          </a:prstGeom>
          <a:noFill/>
          <a:ln/>
        </p:spPr>
        <p:txBody>
          <a:bodyPr wrap="square" lIns="0" tIns="0" rIns="0" bIns="0" rtlCol="0" anchor="ctr"/>
          <a:lstStyle/>
          <a:p>
            <a:pPr algn="ctr" indent="0" marL="0">
              <a:buNone/>
            </a:pPr>
            <a:r>
              <a:rPr lang="en-US" sz="1500" b="1" dirty="0">
                <a:solidFill>
                  <a:schemeClr val="tx2"/>
                </a:solidFill>
              </a:rPr>
              <a:t>Schools use it early; each phase learns from the last</a:t>
            </a:r>
            <a:endParaRPr lang="en-US" sz="1500" dirty="0"/>
          </a:p>
        </p:txBody>
      </p:sp>
      <p:sp>
        <p:nvSpPr>
          <p:cNvPr id="31" name="Text 25"/>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600" b="1" dirty="0">
                <a:solidFill>
                  <a:schemeClr val="accent1"/>
                </a:solidFill>
              </a:rPr>
              <a:t>Result: </a:t>
            </a:r>
            <a:pPr indent="0" marL="0">
              <a:buNone/>
            </a:pPr>
            <a:r>
              <a:rPr lang="en-US" sz="1600" dirty="0">
                <a:solidFill>
                  <a:schemeClr val="tx1"/>
                </a:solidFill>
              </a:rPr>
              <a:t>less than half the build cost, and schools start using it about 32 weeks sooner.</a:t>
            </a:r>
            <a:endParaRPr lang="en-US" sz="1600" dirty="0"/>
          </a:p>
        </p:txBody>
      </p:sp>
      <p:sp>
        <p:nvSpPr>
          <p:cNvPr id="32" name="Text 26"/>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accent6"/>
                </a:solidFill>
              </a:rPr>
              <a:t>Source: comparable proposal reviewed, October 2026. Scope differs: it includes voice avatar and a 3D player in release one; here they are optional later modules.</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WE DELIVER</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Pilot in Chhattisgarh first</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Test in different kinds of schools before expanding. Final pilot size and schools to be agreed together.</a:t>
            </a:r>
            <a:endParaRPr lang="en-US" sz="1600" dirty="0"/>
          </a:p>
        </p:txBody>
      </p:sp>
      <p:sp>
        <p:nvSpPr>
          <p:cNvPr id="5" name="Urban schools"/>
          <p:cNvSpPr/>
          <p:nvPr/>
        </p:nvSpPr>
        <p:spPr>
          <a:xfrm>
            <a:off x="548640" y="182880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Urban schools circle"/>
          <p:cNvSpPr/>
          <p:nvPr/>
        </p:nvSpPr>
        <p:spPr>
          <a:xfrm>
            <a:off x="822960" y="2057400"/>
            <a:ext cx="640080" cy="640080"/>
          </a:xfrm>
          <a:prstGeom prst="ellipse">
            <a:avLst/>
          </a:prstGeom>
          <a:solidFill>
            <a:schemeClr val="accent1"/>
          </a:solidFill>
          <a:ln/>
        </p:spPr>
      </p:sp>
      <p:pic>
        <p:nvPicPr>
          <p:cNvPr id="7" name="Urban schools icon" descr="Urban schools">    </p:cNvPr>
          <p:cNvPicPr>
            <a:picLocks noChangeAspect="1"/>
          </p:cNvPicPr>
          <p:nvPr/>
        </p:nvPicPr>
        <p:blipFill>
          <a:blip r:embed="rId1"/>
          <a:stretch>
            <a:fillRect/>
          </a:stretch>
        </p:blipFill>
        <p:spPr>
          <a:xfrm>
            <a:off x="982980" y="2217420"/>
            <a:ext cx="320040" cy="320040"/>
          </a:xfrm>
          <a:prstGeom prst="rect">
            <a:avLst/>
          </a:prstGeom>
        </p:spPr>
      </p:pic>
      <p:sp>
        <p:nvSpPr>
          <p:cNvPr id="8" name="Text 5"/>
          <p:cNvSpPr txBox="1"/>
          <p:nvPr/>
        </p:nvSpPr>
        <p:spPr>
          <a:xfrm>
            <a:off x="1645920" y="2029968"/>
            <a:ext cx="2286000" cy="365760"/>
          </a:xfrm>
          <a:prstGeom prst="rect">
            <a:avLst/>
          </a:prstGeom>
          <a:noFill/>
          <a:ln/>
        </p:spPr>
        <p:txBody>
          <a:bodyPr wrap="square" lIns="0" tIns="0" rIns="0" bIns="0" rtlCol="0" anchor="t"/>
          <a:lstStyle/>
          <a:p>
            <a:pPr indent="0" marL="0">
              <a:buNone/>
            </a:pPr>
            <a:r>
              <a:rPr lang="en-US" sz="1800" b="1" dirty="0">
                <a:solidFill>
                  <a:schemeClr val="tx2"/>
                </a:solidFill>
              </a:rPr>
              <a:t>Urban schools</a:t>
            </a:r>
            <a:endParaRPr lang="en-US" sz="1800" dirty="0"/>
          </a:p>
        </p:txBody>
      </p:sp>
      <p:sp>
        <p:nvSpPr>
          <p:cNvPr id="9" name="Text 6"/>
          <p:cNvSpPr txBox="1"/>
          <p:nvPr/>
        </p:nvSpPr>
        <p:spPr>
          <a:xfrm>
            <a:off x="1645920" y="2395728"/>
            <a:ext cx="2286000" cy="320040"/>
          </a:xfrm>
          <a:prstGeom prst="rect">
            <a:avLst/>
          </a:prstGeom>
          <a:noFill/>
          <a:ln/>
        </p:spPr>
        <p:txBody>
          <a:bodyPr wrap="square" lIns="0" tIns="0" rIns="0" bIns="0" rtlCol="0" anchor="t"/>
          <a:lstStyle/>
          <a:p>
            <a:pPr indent="0" marL="0">
              <a:buNone/>
            </a:pPr>
            <a:r>
              <a:rPr lang="en-US" sz="1300" i="1" dirty="0">
                <a:solidFill>
                  <a:schemeClr val="accent6"/>
                </a:solidFill>
              </a:rPr>
              <a:t>e.g. Raipur, Durg, Bilaspur</a:t>
            </a:r>
            <a:endParaRPr lang="en-US" sz="1300" dirty="0"/>
          </a:p>
        </p:txBody>
      </p:sp>
      <p:sp>
        <p:nvSpPr>
          <p:cNvPr id="10" name="Text 7"/>
          <p:cNvSpPr txBox="1"/>
          <p:nvPr/>
        </p:nvSpPr>
        <p:spPr>
          <a:xfrm>
            <a:off x="822960" y="2880360"/>
            <a:ext cx="3017520" cy="594360"/>
          </a:xfrm>
          <a:prstGeom prst="rect">
            <a:avLst/>
          </a:prstGeom>
          <a:noFill/>
          <a:ln/>
        </p:spPr>
        <p:txBody>
          <a:bodyPr wrap="square" lIns="0" tIns="0" rIns="0" bIns="0" rtlCol="0" anchor="t"/>
          <a:lstStyle/>
          <a:p>
            <a:pPr indent="0" marL="0">
              <a:buNone/>
            </a:pPr>
            <a:r>
              <a:rPr lang="en-US" sz="1400" dirty="0">
                <a:solidFill>
                  <a:schemeClr val="tx1"/>
                </a:solidFill>
              </a:rPr>
              <a:t>Test scale, reports and parent use</a:t>
            </a:r>
            <a:endParaRPr lang="en-US" sz="1400" dirty="0"/>
          </a:p>
        </p:txBody>
      </p:sp>
      <p:sp>
        <p:nvSpPr>
          <p:cNvPr id="11" name="Rural plains"/>
          <p:cNvSpPr/>
          <p:nvPr/>
        </p:nvSpPr>
        <p:spPr>
          <a:xfrm>
            <a:off x="4297680" y="182880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2" name="Rural plains circle"/>
          <p:cNvSpPr/>
          <p:nvPr/>
        </p:nvSpPr>
        <p:spPr>
          <a:xfrm>
            <a:off x="4572000" y="2057400"/>
            <a:ext cx="640080" cy="640080"/>
          </a:xfrm>
          <a:prstGeom prst="ellipse">
            <a:avLst/>
          </a:prstGeom>
          <a:solidFill>
            <a:schemeClr val="accent2"/>
          </a:solidFill>
          <a:ln/>
        </p:spPr>
      </p:sp>
      <p:pic>
        <p:nvPicPr>
          <p:cNvPr id="13" name="Rural plains icon" descr="Rural plains">    </p:cNvPr>
          <p:cNvPicPr>
            <a:picLocks noChangeAspect="1"/>
          </p:cNvPicPr>
          <p:nvPr/>
        </p:nvPicPr>
        <p:blipFill>
          <a:blip r:embed="rId2"/>
          <a:stretch>
            <a:fillRect/>
          </a:stretch>
        </p:blipFill>
        <p:spPr>
          <a:xfrm>
            <a:off x="4732020" y="2217420"/>
            <a:ext cx="320040" cy="320040"/>
          </a:xfrm>
          <a:prstGeom prst="rect">
            <a:avLst/>
          </a:prstGeom>
        </p:spPr>
      </p:pic>
      <p:sp>
        <p:nvSpPr>
          <p:cNvPr id="14" name="Text 10"/>
          <p:cNvSpPr txBox="1"/>
          <p:nvPr/>
        </p:nvSpPr>
        <p:spPr>
          <a:xfrm>
            <a:off x="5394960" y="2029968"/>
            <a:ext cx="2286000" cy="365760"/>
          </a:xfrm>
          <a:prstGeom prst="rect">
            <a:avLst/>
          </a:prstGeom>
          <a:noFill/>
          <a:ln/>
        </p:spPr>
        <p:txBody>
          <a:bodyPr wrap="square" lIns="0" tIns="0" rIns="0" bIns="0" rtlCol="0" anchor="t"/>
          <a:lstStyle/>
          <a:p>
            <a:pPr indent="0" marL="0">
              <a:buNone/>
            </a:pPr>
            <a:r>
              <a:rPr lang="en-US" sz="1800" b="1" dirty="0">
                <a:solidFill>
                  <a:schemeClr val="tx2"/>
                </a:solidFill>
              </a:rPr>
              <a:t>Rural plains</a:t>
            </a:r>
            <a:endParaRPr lang="en-US" sz="1800" dirty="0"/>
          </a:p>
        </p:txBody>
      </p:sp>
      <p:sp>
        <p:nvSpPr>
          <p:cNvPr id="15" name="Text 11"/>
          <p:cNvSpPr txBox="1"/>
          <p:nvPr/>
        </p:nvSpPr>
        <p:spPr>
          <a:xfrm>
            <a:off x="5394960" y="2395728"/>
            <a:ext cx="2286000" cy="320040"/>
          </a:xfrm>
          <a:prstGeom prst="rect">
            <a:avLst/>
          </a:prstGeom>
          <a:noFill/>
          <a:ln/>
        </p:spPr>
        <p:txBody>
          <a:bodyPr wrap="square" lIns="0" tIns="0" rIns="0" bIns="0" rtlCol="0" anchor="t"/>
          <a:lstStyle/>
          <a:p>
            <a:pPr indent="0" marL="0">
              <a:buNone/>
            </a:pPr>
            <a:r>
              <a:rPr lang="en-US" sz="1300" i="1" dirty="0">
                <a:solidFill>
                  <a:schemeClr val="accent6"/>
                </a:solidFill>
              </a:rPr>
              <a:t>e.g. Mahasamund, Dhamtari</a:t>
            </a:r>
            <a:endParaRPr lang="en-US" sz="1300" dirty="0"/>
          </a:p>
        </p:txBody>
      </p:sp>
      <p:sp>
        <p:nvSpPr>
          <p:cNvPr id="16" name="Text 12"/>
          <p:cNvSpPr txBox="1"/>
          <p:nvPr/>
        </p:nvSpPr>
        <p:spPr>
          <a:xfrm>
            <a:off x="4572000" y="2880360"/>
            <a:ext cx="3017520" cy="594360"/>
          </a:xfrm>
          <a:prstGeom prst="rect">
            <a:avLst/>
          </a:prstGeom>
          <a:noFill/>
          <a:ln/>
        </p:spPr>
        <p:txBody>
          <a:bodyPr wrap="square" lIns="0" tIns="0" rIns="0" bIns="0" rtlCol="0" anchor="t"/>
          <a:lstStyle/>
          <a:p>
            <a:pPr indent="0" marL="0">
              <a:buNone/>
            </a:pPr>
            <a:r>
              <a:rPr lang="en-US" sz="1400" dirty="0">
                <a:solidFill>
                  <a:schemeClr val="tx1"/>
                </a:solidFill>
              </a:rPr>
              <a:t>Test daily use and teacher time saved</a:t>
            </a:r>
            <a:endParaRPr lang="en-US" sz="1400" dirty="0"/>
          </a:p>
        </p:txBody>
      </p:sp>
      <p:sp>
        <p:nvSpPr>
          <p:cNvPr id="17" name="Tribal and remote"/>
          <p:cNvSpPr/>
          <p:nvPr/>
        </p:nvSpPr>
        <p:spPr>
          <a:xfrm>
            <a:off x="8046720" y="1828800"/>
            <a:ext cx="3520440" cy="1783080"/>
          </a:xfrm>
          <a:prstGeom prst="roundRect">
            <a:avLst>
              <a:gd name="adj" fmla="val 6154"/>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8" name="Tribal and remote circle"/>
          <p:cNvSpPr/>
          <p:nvPr/>
        </p:nvSpPr>
        <p:spPr>
          <a:xfrm>
            <a:off x="8321040" y="2057400"/>
            <a:ext cx="640080" cy="640080"/>
          </a:xfrm>
          <a:prstGeom prst="ellipse">
            <a:avLst/>
          </a:prstGeom>
          <a:solidFill>
            <a:schemeClr val="accent3"/>
          </a:solidFill>
          <a:ln/>
        </p:spPr>
      </p:sp>
      <p:pic>
        <p:nvPicPr>
          <p:cNvPr id="19" name="Tribal and remote icon" descr="Tribal and remote">    </p:cNvPr>
          <p:cNvPicPr>
            <a:picLocks noChangeAspect="1"/>
          </p:cNvPicPr>
          <p:nvPr/>
        </p:nvPicPr>
        <p:blipFill>
          <a:blip r:embed="rId3"/>
          <a:stretch>
            <a:fillRect/>
          </a:stretch>
        </p:blipFill>
        <p:spPr>
          <a:xfrm>
            <a:off x="8481060" y="2217420"/>
            <a:ext cx="320040" cy="320040"/>
          </a:xfrm>
          <a:prstGeom prst="rect">
            <a:avLst/>
          </a:prstGeom>
        </p:spPr>
      </p:pic>
      <p:sp>
        <p:nvSpPr>
          <p:cNvPr id="20" name="Text 15"/>
          <p:cNvSpPr txBox="1"/>
          <p:nvPr/>
        </p:nvSpPr>
        <p:spPr>
          <a:xfrm>
            <a:off x="9144000" y="2029968"/>
            <a:ext cx="2286000" cy="365760"/>
          </a:xfrm>
          <a:prstGeom prst="rect">
            <a:avLst/>
          </a:prstGeom>
          <a:noFill/>
          <a:ln/>
        </p:spPr>
        <p:txBody>
          <a:bodyPr wrap="square" lIns="0" tIns="0" rIns="0" bIns="0" rtlCol="0" anchor="t"/>
          <a:lstStyle/>
          <a:p>
            <a:pPr indent="0" marL="0">
              <a:buNone/>
            </a:pPr>
            <a:r>
              <a:rPr lang="en-US" sz="1800" b="1" dirty="0">
                <a:solidFill>
                  <a:schemeClr val="tx2"/>
                </a:solidFill>
              </a:rPr>
              <a:t>Tribal and remote</a:t>
            </a:r>
            <a:endParaRPr lang="en-US" sz="1800" dirty="0"/>
          </a:p>
        </p:txBody>
      </p:sp>
      <p:sp>
        <p:nvSpPr>
          <p:cNvPr id="21" name="Text 16"/>
          <p:cNvSpPr txBox="1"/>
          <p:nvPr/>
        </p:nvSpPr>
        <p:spPr>
          <a:xfrm>
            <a:off x="9144000" y="2395728"/>
            <a:ext cx="2286000" cy="320040"/>
          </a:xfrm>
          <a:prstGeom prst="rect">
            <a:avLst/>
          </a:prstGeom>
          <a:noFill/>
          <a:ln/>
        </p:spPr>
        <p:txBody>
          <a:bodyPr wrap="square" lIns="0" tIns="0" rIns="0" bIns="0" rtlCol="0" anchor="t"/>
          <a:lstStyle/>
          <a:p>
            <a:pPr indent="0" marL="0">
              <a:buNone/>
            </a:pPr>
            <a:r>
              <a:rPr lang="en-US" sz="1300" i="1" dirty="0">
                <a:solidFill>
                  <a:schemeClr val="accent6"/>
                </a:solidFill>
              </a:rPr>
              <a:t>e.g. Bastar, Kanker, Surguja</a:t>
            </a:r>
            <a:endParaRPr lang="en-US" sz="1300" dirty="0"/>
          </a:p>
        </p:txBody>
      </p:sp>
      <p:sp>
        <p:nvSpPr>
          <p:cNvPr id="22" name="Text 17"/>
          <p:cNvSpPr txBox="1"/>
          <p:nvPr/>
        </p:nvSpPr>
        <p:spPr>
          <a:xfrm>
            <a:off x="8321040" y="2880360"/>
            <a:ext cx="3017520" cy="594360"/>
          </a:xfrm>
          <a:prstGeom prst="rect">
            <a:avLst/>
          </a:prstGeom>
          <a:noFill/>
          <a:ln/>
        </p:spPr>
        <p:txBody>
          <a:bodyPr wrap="square" lIns="0" tIns="0" rIns="0" bIns="0" rtlCol="0" anchor="t"/>
          <a:lstStyle/>
          <a:p>
            <a:pPr indent="0" marL="0">
              <a:buNone/>
            </a:pPr>
            <a:r>
              <a:rPr lang="en-US" sz="1400" dirty="0">
                <a:solidFill>
                  <a:schemeClr val="tx1"/>
                </a:solidFill>
              </a:rPr>
              <a:t>Test low bandwidth and local languages</a:t>
            </a:r>
            <a:endParaRPr lang="en-US" sz="1400" dirty="0"/>
          </a:p>
        </p:txBody>
      </p:sp>
      <p:sp>
        <p:nvSpPr>
          <p:cNvPr id="23" name="Text 18"/>
          <p:cNvSpPr txBox="1"/>
          <p:nvPr/>
        </p:nvSpPr>
        <p:spPr>
          <a:xfrm>
            <a:off x="548640" y="3730752"/>
            <a:ext cx="91440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THE PILOT IN FOUR STEPS   (districts above are suggestions for discussion)</a:t>
            </a:r>
            <a:endParaRPr lang="en-US" sz="1100" dirty="0"/>
          </a:p>
        </p:txBody>
      </p:sp>
      <p:sp>
        <p:nvSpPr>
          <p:cNvPr id="24" name="Baseline"/>
          <p:cNvSpPr/>
          <p:nvPr/>
        </p:nvSpPr>
        <p:spPr>
          <a:xfrm>
            <a:off x="548640" y="4114800"/>
            <a:ext cx="2606040" cy="1783080"/>
          </a:xfrm>
          <a:prstGeom prst="roundRect">
            <a:avLst>
              <a:gd name="adj" fmla="val 6154"/>
            </a:avLst>
          </a:prstGeom>
          <a:solidFill>
            <a:schemeClr val="accent1">
              <a:alpha val="10000"/>
            </a:schemeClr>
          </a:solidFill>
          <a:ln/>
        </p:spPr>
      </p:sp>
      <p:sp>
        <p:nvSpPr>
          <p:cNvPr id="25" name="step 1"/>
          <p:cNvSpPr/>
          <p:nvPr/>
        </p:nvSpPr>
        <p:spPr>
          <a:xfrm>
            <a:off x="777240" y="4297680"/>
            <a:ext cx="502920" cy="502920"/>
          </a:xfrm>
          <a:prstGeom prst="ellipse">
            <a:avLst/>
          </a:prstGeom>
          <a:solidFill>
            <a:schemeClr val="accent1"/>
          </a:solidFill>
          <a:ln/>
        </p:spPr>
      </p:sp>
      <p:sp>
        <p:nvSpPr>
          <p:cNvPr id="26" name="Text 21"/>
          <p:cNvSpPr txBox="1"/>
          <p:nvPr/>
        </p:nvSpPr>
        <p:spPr>
          <a:xfrm>
            <a:off x="777240" y="4297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7" name="Text 22"/>
          <p:cNvSpPr txBox="1"/>
          <p:nvPr/>
        </p:nvSpPr>
        <p:spPr>
          <a:xfrm>
            <a:off x="1417320" y="4297680"/>
            <a:ext cx="1645920" cy="502920"/>
          </a:xfrm>
          <a:prstGeom prst="rect">
            <a:avLst/>
          </a:prstGeom>
          <a:noFill/>
          <a:ln/>
        </p:spPr>
        <p:txBody>
          <a:bodyPr wrap="square" lIns="0" tIns="0" rIns="0" bIns="0" rtlCol="0" anchor="ctr"/>
          <a:lstStyle/>
          <a:p>
            <a:pPr indent="0" marL="0">
              <a:buNone/>
            </a:pPr>
            <a:r>
              <a:rPr lang="en-US" sz="1800" b="1" dirty="0">
                <a:solidFill>
                  <a:schemeClr val="tx2"/>
                </a:solidFill>
              </a:rPr>
              <a:t>Baseline</a:t>
            </a:r>
            <a:endParaRPr lang="en-US" sz="1800" dirty="0"/>
          </a:p>
        </p:txBody>
      </p:sp>
      <p:sp>
        <p:nvSpPr>
          <p:cNvPr id="28" name="Text 23"/>
          <p:cNvSpPr txBox="1"/>
          <p:nvPr/>
        </p:nvSpPr>
        <p:spPr>
          <a:xfrm>
            <a:off x="777240" y="4937760"/>
            <a:ext cx="2194560" cy="868680"/>
          </a:xfrm>
          <a:prstGeom prst="rect">
            <a:avLst/>
          </a:prstGeom>
          <a:noFill/>
          <a:ln/>
        </p:spPr>
        <p:txBody>
          <a:bodyPr wrap="square" lIns="0" tIns="0" rIns="0" bIns="0" rtlCol="0" anchor="t"/>
          <a:lstStyle/>
          <a:p>
            <a:pPr indent="0" marL="0">
              <a:buNone/>
            </a:pPr>
            <a:r>
              <a:rPr lang="en-US" sz="1400" dirty="0">
                <a:solidFill>
                  <a:schemeClr val="tx1"/>
                </a:solidFill>
              </a:rPr>
              <a:t>Record today's attendance, results and teacher effort</a:t>
            </a:r>
            <a:endParaRPr lang="en-US" sz="1400" dirty="0"/>
          </a:p>
        </p:txBody>
      </p:sp>
      <p:sp>
        <p:nvSpPr>
          <p:cNvPr id="29" name="Deploy"/>
          <p:cNvSpPr/>
          <p:nvPr/>
        </p:nvSpPr>
        <p:spPr>
          <a:xfrm>
            <a:off x="3364992" y="4114800"/>
            <a:ext cx="2606040" cy="1783080"/>
          </a:xfrm>
          <a:prstGeom prst="roundRect">
            <a:avLst>
              <a:gd name="adj" fmla="val 6154"/>
            </a:avLst>
          </a:prstGeom>
          <a:solidFill>
            <a:schemeClr val="accent1">
              <a:alpha val="10000"/>
            </a:schemeClr>
          </a:solidFill>
          <a:ln/>
        </p:spPr>
      </p:sp>
      <p:sp>
        <p:nvSpPr>
          <p:cNvPr id="30" name="step 2"/>
          <p:cNvSpPr/>
          <p:nvPr/>
        </p:nvSpPr>
        <p:spPr>
          <a:xfrm>
            <a:off x="3593592" y="4297680"/>
            <a:ext cx="502920" cy="502920"/>
          </a:xfrm>
          <a:prstGeom prst="ellipse">
            <a:avLst/>
          </a:prstGeom>
          <a:solidFill>
            <a:schemeClr val="accent1"/>
          </a:solidFill>
          <a:ln/>
        </p:spPr>
      </p:sp>
      <p:sp>
        <p:nvSpPr>
          <p:cNvPr id="31" name="Text 26"/>
          <p:cNvSpPr txBox="1"/>
          <p:nvPr/>
        </p:nvSpPr>
        <p:spPr>
          <a:xfrm>
            <a:off x="3593592" y="4297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2" name="Text 27"/>
          <p:cNvSpPr txBox="1"/>
          <p:nvPr/>
        </p:nvSpPr>
        <p:spPr>
          <a:xfrm>
            <a:off x="4233672" y="4297680"/>
            <a:ext cx="1645920" cy="502920"/>
          </a:xfrm>
          <a:prstGeom prst="rect">
            <a:avLst/>
          </a:prstGeom>
          <a:noFill/>
          <a:ln/>
        </p:spPr>
        <p:txBody>
          <a:bodyPr wrap="square" lIns="0" tIns="0" rIns="0" bIns="0" rtlCol="0" anchor="ctr"/>
          <a:lstStyle/>
          <a:p>
            <a:pPr indent="0" marL="0">
              <a:buNone/>
            </a:pPr>
            <a:r>
              <a:rPr lang="en-US" sz="1800" b="1" dirty="0">
                <a:solidFill>
                  <a:schemeClr val="tx2"/>
                </a:solidFill>
              </a:rPr>
              <a:t>Deploy</a:t>
            </a:r>
            <a:endParaRPr lang="en-US" sz="1800" dirty="0"/>
          </a:p>
        </p:txBody>
      </p:sp>
      <p:sp>
        <p:nvSpPr>
          <p:cNvPr id="33" name="Text 28"/>
          <p:cNvSpPr txBox="1"/>
          <p:nvPr/>
        </p:nvSpPr>
        <p:spPr>
          <a:xfrm>
            <a:off x="3593592" y="4937760"/>
            <a:ext cx="2194560" cy="868680"/>
          </a:xfrm>
          <a:prstGeom prst="rect">
            <a:avLst/>
          </a:prstGeom>
          <a:noFill/>
          <a:ln/>
        </p:spPr>
        <p:txBody>
          <a:bodyPr wrap="square" lIns="0" tIns="0" rIns="0" bIns="0" rtlCol="0" anchor="t"/>
          <a:lstStyle/>
          <a:p>
            <a:pPr indent="0" marL="0">
              <a:buNone/>
            </a:pPr>
            <a:r>
              <a:rPr lang="en-US" sz="1400" dirty="0">
                <a:solidFill>
                  <a:schemeClr val="tx1"/>
                </a:solidFill>
              </a:rPr>
              <a:t>Set up schools, train teachers, support onboarding</a:t>
            </a:r>
            <a:endParaRPr lang="en-US" sz="1400" dirty="0"/>
          </a:p>
        </p:txBody>
      </p:sp>
      <p:sp>
        <p:nvSpPr>
          <p:cNvPr id="34" name="Measure"/>
          <p:cNvSpPr/>
          <p:nvPr/>
        </p:nvSpPr>
        <p:spPr>
          <a:xfrm>
            <a:off x="6181344" y="4114800"/>
            <a:ext cx="2606040" cy="1783080"/>
          </a:xfrm>
          <a:prstGeom prst="roundRect">
            <a:avLst>
              <a:gd name="adj" fmla="val 6154"/>
            </a:avLst>
          </a:prstGeom>
          <a:solidFill>
            <a:schemeClr val="accent1">
              <a:alpha val="10000"/>
            </a:schemeClr>
          </a:solidFill>
          <a:ln/>
        </p:spPr>
      </p:sp>
      <p:sp>
        <p:nvSpPr>
          <p:cNvPr id="35" name="step 3"/>
          <p:cNvSpPr/>
          <p:nvPr/>
        </p:nvSpPr>
        <p:spPr>
          <a:xfrm>
            <a:off x="6409944" y="4297680"/>
            <a:ext cx="502920" cy="502920"/>
          </a:xfrm>
          <a:prstGeom prst="ellipse">
            <a:avLst/>
          </a:prstGeom>
          <a:solidFill>
            <a:schemeClr val="accent1"/>
          </a:solidFill>
          <a:ln/>
        </p:spPr>
      </p:sp>
      <p:sp>
        <p:nvSpPr>
          <p:cNvPr id="36" name="Text 31"/>
          <p:cNvSpPr txBox="1"/>
          <p:nvPr/>
        </p:nvSpPr>
        <p:spPr>
          <a:xfrm>
            <a:off x="6409944" y="4297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7" name="Text 32"/>
          <p:cNvSpPr txBox="1"/>
          <p:nvPr/>
        </p:nvSpPr>
        <p:spPr>
          <a:xfrm>
            <a:off x="7050024" y="4297680"/>
            <a:ext cx="1645920" cy="502920"/>
          </a:xfrm>
          <a:prstGeom prst="rect">
            <a:avLst/>
          </a:prstGeom>
          <a:noFill/>
          <a:ln/>
        </p:spPr>
        <p:txBody>
          <a:bodyPr wrap="square" lIns="0" tIns="0" rIns="0" bIns="0" rtlCol="0" anchor="ctr"/>
          <a:lstStyle/>
          <a:p>
            <a:pPr indent="0" marL="0">
              <a:buNone/>
            </a:pPr>
            <a:r>
              <a:rPr lang="en-US" sz="1800" b="1" dirty="0">
                <a:solidFill>
                  <a:schemeClr val="tx2"/>
                </a:solidFill>
              </a:rPr>
              <a:t>Measure</a:t>
            </a:r>
            <a:endParaRPr lang="en-US" sz="1800" dirty="0"/>
          </a:p>
        </p:txBody>
      </p:sp>
      <p:sp>
        <p:nvSpPr>
          <p:cNvPr id="38" name="Text 33"/>
          <p:cNvSpPr txBox="1"/>
          <p:nvPr/>
        </p:nvSpPr>
        <p:spPr>
          <a:xfrm>
            <a:off x="6409944" y="4937760"/>
            <a:ext cx="2194560" cy="868680"/>
          </a:xfrm>
          <a:prstGeom prst="rect">
            <a:avLst/>
          </a:prstGeom>
          <a:noFill/>
          <a:ln/>
        </p:spPr>
        <p:txBody>
          <a:bodyPr wrap="square" lIns="0" tIns="0" rIns="0" bIns="0" rtlCol="0" anchor="t"/>
          <a:lstStyle/>
          <a:p>
            <a:pPr indent="0" marL="0">
              <a:buNone/>
            </a:pPr>
            <a:r>
              <a:rPr lang="en-US" sz="1400" dirty="0">
                <a:solidFill>
                  <a:schemeClr val="tx1"/>
                </a:solidFill>
              </a:rPr>
              <a:t>Track usage, homework completion, support issues</a:t>
            </a:r>
            <a:endParaRPr lang="en-US" sz="1400" dirty="0"/>
          </a:p>
        </p:txBody>
      </p:sp>
      <p:sp>
        <p:nvSpPr>
          <p:cNvPr id="39" name="Decide"/>
          <p:cNvSpPr/>
          <p:nvPr/>
        </p:nvSpPr>
        <p:spPr>
          <a:xfrm>
            <a:off x="8997696" y="4114800"/>
            <a:ext cx="2606040" cy="1783080"/>
          </a:xfrm>
          <a:prstGeom prst="roundRect">
            <a:avLst>
              <a:gd name="adj" fmla="val 6154"/>
            </a:avLst>
          </a:prstGeom>
          <a:solidFill>
            <a:schemeClr val="accent1">
              <a:alpha val="10000"/>
            </a:schemeClr>
          </a:solidFill>
          <a:ln/>
        </p:spPr>
      </p:sp>
      <p:sp>
        <p:nvSpPr>
          <p:cNvPr id="40" name="step 4"/>
          <p:cNvSpPr/>
          <p:nvPr/>
        </p:nvSpPr>
        <p:spPr>
          <a:xfrm>
            <a:off x="9226296" y="4297680"/>
            <a:ext cx="502920" cy="502920"/>
          </a:xfrm>
          <a:prstGeom prst="ellipse">
            <a:avLst/>
          </a:prstGeom>
          <a:solidFill>
            <a:schemeClr val="accent1"/>
          </a:solidFill>
          <a:ln/>
        </p:spPr>
      </p:sp>
      <p:sp>
        <p:nvSpPr>
          <p:cNvPr id="41" name="Text 36"/>
          <p:cNvSpPr txBox="1"/>
          <p:nvPr/>
        </p:nvSpPr>
        <p:spPr>
          <a:xfrm>
            <a:off x="9226296" y="4297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2" name="Text 37"/>
          <p:cNvSpPr txBox="1"/>
          <p:nvPr/>
        </p:nvSpPr>
        <p:spPr>
          <a:xfrm>
            <a:off x="9866376" y="4297680"/>
            <a:ext cx="1645920" cy="502920"/>
          </a:xfrm>
          <a:prstGeom prst="rect">
            <a:avLst/>
          </a:prstGeom>
          <a:noFill/>
          <a:ln/>
        </p:spPr>
        <p:txBody>
          <a:bodyPr wrap="square" lIns="0" tIns="0" rIns="0" bIns="0" rtlCol="0" anchor="ctr"/>
          <a:lstStyle/>
          <a:p>
            <a:pPr indent="0" marL="0">
              <a:buNone/>
            </a:pPr>
            <a:r>
              <a:rPr lang="en-US" sz="1800" b="1" dirty="0">
                <a:solidFill>
                  <a:schemeClr val="tx2"/>
                </a:solidFill>
              </a:rPr>
              <a:t>Decide</a:t>
            </a:r>
            <a:endParaRPr lang="en-US" sz="1800" dirty="0"/>
          </a:p>
        </p:txBody>
      </p:sp>
      <p:sp>
        <p:nvSpPr>
          <p:cNvPr id="43" name="Text 38"/>
          <p:cNvSpPr txBox="1"/>
          <p:nvPr/>
        </p:nvSpPr>
        <p:spPr>
          <a:xfrm>
            <a:off x="9226296" y="4937760"/>
            <a:ext cx="2194560" cy="868680"/>
          </a:xfrm>
          <a:prstGeom prst="rect">
            <a:avLst/>
          </a:prstGeom>
          <a:noFill/>
          <a:ln/>
        </p:spPr>
        <p:txBody>
          <a:bodyPr wrap="square" lIns="0" tIns="0" rIns="0" bIns="0" rtlCol="0" anchor="t"/>
          <a:lstStyle/>
          <a:p>
            <a:pPr indent="0" marL="0">
              <a:buNone/>
            </a:pPr>
            <a:r>
              <a:rPr lang="en-US" sz="1400" dirty="0">
                <a:solidFill>
                  <a:schemeClr val="tx1"/>
                </a:solidFill>
              </a:rPr>
              <a:t>Fix gaps, check costs, agree to expand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WE DELIVER</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How we will know it works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Six simple measures, agreed before the pilot starts.</a:t>
            </a:r>
            <a:endParaRPr lang="en-US" sz="1600" dirty="0"/>
          </a:p>
        </p:txBody>
      </p:sp>
      <p:sp>
        <p:nvSpPr>
          <p:cNvPr id="5" name="Usage"/>
          <p:cNvSpPr/>
          <p:nvPr/>
        </p:nvSpPr>
        <p:spPr>
          <a:xfrm>
            <a:off x="548640" y="18288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Usage circle"/>
          <p:cNvSpPr/>
          <p:nvPr/>
        </p:nvSpPr>
        <p:spPr>
          <a:xfrm>
            <a:off x="822960" y="2103120"/>
            <a:ext cx="731520" cy="731520"/>
          </a:xfrm>
          <a:prstGeom prst="ellipse">
            <a:avLst/>
          </a:prstGeom>
          <a:solidFill>
            <a:schemeClr val="accent1"/>
          </a:solidFill>
          <a:ln/>
        </p:spPr>
      </p:sp>
      <p:pic>
        <p:nvPicPr>
          <p:cNvPr id="7" name="Usage icon" descr="Usage">    </p:cNvPr>
          <p:cNvPicPr>
            <a:picLocks noChangeAspect="1"/>
          </p:cNvPicPr>
          <p:nvPr/>
        </p:nvPicPr>
        <p:blipFill>
          <a:blip r:embed="rId1"/>
          <a:stretch>
            <a:fillRect/>
          </a:stretch>
        </p:blipFill>
        <p:spPr>
          <a:xfrm>
            <a:off x="1005840" y="2286000"/>
            <a:ext cx="365760" cy="365760"/>
          </a:xfrm>
          <a:prstGeom prst="rect">
            <a:avLst/>
          </a:prstGeom>
        </p:spPr>
      </p:pic>
      <p:sp>
        <p:nvSpPr>
          <p:cNvPr id="8" name="Text 5"/>
          <p:cNvSpPr txBox="1"/>
          <p:nvPr/>
        </p:nvSpPr>
        <p:spPr>
          <a:xfrm>
            <a:off x="1737360" y="21031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Usage</a:t>
            </a:r>
            <a:endParaRPr lang="en-US" sz="1900" dirty="0"/>
          </a:p>
        </p:txBody>
      </p:sp>
      <p:sp>
        <p:nvSpPr>
          <p:cNvPr id="9" name="Text 6"/>
          <p:cNvSpPr txBox="1"/>
          <p:nvPr/>
        </p:nvSpPr>
        <p:spPr>
          <a:xfrm>
            <a:off x="822960" y="2971800"/>
            <a:ext cx="3017520" cy="594360"/>
          </a:xfrm>
          <a:prstGeom prst="rect">
            <a:avLst/>
          </a:prstGeom>
          <a:noFill/>
          <a:ln/>
        </p:spPr>
        <p:txBody>
          <a:bodyPr wrap="square" lIns="0" tIns="0" rIns="0" bIns="0" rtlCol="0" anchor="t"/>
          <a:lstStyle/>
          <a:p>
            <a:pPr indent="0" marL="0">
              <a:buNone/>
            </a:pPr>
            <a:r>
              <a:rPr lang="en-US" sz="1400" dirty="0">
                <a:solidFill>
                  <a:schemeClr val="tx1"/>
                </a:solidFill>
              </a:rPr>
              <a:t>How many teachers, students and parents use it every week</a:t>
            </a:r>
            <a:endParaRPr lang="en-US" sz="1400" dirty="0"/>
          </a:p>
        </p:txBody>
      </p:sp>
      <p:sp>
        <p:nvSpPr>
          <p:cNvPr id="10" name="Teacher time"/>
          <p:cNvSpPr/>
          <p:nvPr/>
        </p:nvSpPr>
        <p:spPr>
          <a:xfrm>
            <a:off x="4297680" y="18288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Teacher time circle"/>
          <p:cNvSpPr/>
          <p:nvPr/>
        </p:nvSpPr>
        <p:spPr>
          <a:xfrm>
            <a:off x="4572000" y="2103120"/>
            <a:ext cx="731520" cy="731520"/>
          </a:xfrm>
          <a:prstGeom prst="ellipse">
            <a:avLst/>
          </a:prstGeom>
          <a:solidFill>
            <a:schemeClr val="accent2"/>
          </a:solidFill>
          <a:ln/>
        </p:spPr>
      </p:sp>
      <p:pic>
        <p:nvPicPr>
          <p:cNvPr id="12" name="Teacher time icon" descr="Teacher time">    </p:cNvPr>
          <p:cNvPicPr>
            <a:picLocks noChangeAspect="1"/>
          </p:cNvPicPr>
          <p:nvPr/>
        </p:nvPicPr>
        <p:blipFill>
          <a:blip r:embed="rId2"/>
          <a:stretch>
            <a:fillRect/>
          </a:stretch>
        </p:blipFill>
        <p:spPr>
          <a:xfrm>
            <a:off x="4754880" y="2286000"/>
            <a:ext cx="365760" cy="365760"/>
          </a:xfrm>
          <a:prstGeom prst="rect">
            <a:avLst/>
          </a:prstGeom>
        </p:spPr>
      </p:pic>
      <p:sp>
        <p:nvSpPr>
          <p:cNvPr id="13" name="Text 9"/>
          <p:cNvSpPr txBox="1"/>
          <p:nvPr/>
        </p:nvSpPr>
        <p:spPr>
          <a:xfrm>
            <a:off x="5486400" y="21031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Teacher time</a:t>
            </a:r>
            <a:endParaRPr lang="en-US" sz="1900" dirty="0"/>
          </a:p>
        </p:txBody>
      </p:sp>
      <p:sp>
        <p:nvSpPr>
          <p:cNvPr id="14" name="Text 10"/>
          <p:cNvSpPr txBox="1"/>
          <p:nvPr/>
        </p:nvSpPr>
        <p:spPr>
          <a:xfrm>
            <a:off x="4572000" y="2971800"/>
            <a:ext cx="3017520" cy="594360"/>
          </a:xfrm>
          <a:prstGeom prst="rect">
            <a:avLst/>
          </a:prstGeom>
          <a:noFill/>
          <a:ln/>
        </p:spPr>
        <p:txBody>
          <a:bodyPr wrap="square" lIns="0" tIns="0" rIns="0" bIns="0" rtlCol="0" anchor="t"/>
          <a:lstStyle/>
          <a:p>
            <a:pPr indent="0" marL="0">
              <a:buNone/>
            </a:pPr>
            <a:r>
              <a:rPr lang="en-US" sz="1400" dirty="0">
                <a:solidFill>
                  <a:schemeClr val="tx1"/>
                </a:solidFill>
              </a:rPr>
              <a:t>Hours of report-making and paperwork saved</a:t>
            </a:r>
            <a:endParaRPr lang="en-US" sz="1400" dirty="0"/>
          </a:p>
        </p:txBody>
      </p:sp>
      <p:sp>
        <p:nvSpPr>
          <p:cNvPr id="15" name="Learning continuity"/>
          <p:cNvSpPr/>
          <p:nvPr/>
        </p:nvSpPr>
        <p:spPr>
          <a:xfrm>
            <a:off x="8046720" y="18288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Learning continuity circle"/>
          <p:cNvSpPr/>
          <p:nvPr/>
        </p:nvSpPr>
        <p:spPr>
          <a:xfrm>
            <a:off x="8321040" y="2103120"/>
            <a:ext cx="731520" cy="731520"/>
          </a:xfrm>
          <a:prstGeom prst="ellipse">
            <a:avLst/>
          </a:prstGeom>
          <a:solidFill>
            <a:schemeClr val="accent3"/>
          </a:solidFill>
          <a:ln/>
        </p:spPr>
      </p:sp>
      <p:pic>
        <p:nvPicPr>
          <p:cNvPr id="17" name="Learning continuity icon" descr="Learning continuity">    </p:cNvPr>
          <p:cNvPicPr>
            <a:picLocks noChangeAspect="1"/>
          </p:cNvPicPr>
          <p:nvPr/>
        </p:nvPicPr>
        <p:blipFill>
          <a:blip r:embed="rId3"/>
          <a:stretch>
            <a:fillRect/>
          </a:stretch>
        </p:blipFill>
        <p:spPr>
          <a:xfrm>
            <a:off x="8503920" y="2286000"/>
            <a:ext cx="365760" cy="365760"/>
          </a:xfrm>
          <a:prstGeom prst="rect">
            <a:avLst/>
          </a:prstGeom>
        </p:spPr>
      </p:pic>
      <p:sp>
        <p:nvSpPr>
          <p:cNvPr id="18" name="Text 13"/>
          <p:cNvSpPr txBox="1"/>
          <p:nvPr/>
        </p:nvSpPr>
        <p:spPr>
          <a:xfrm>
            <a:off x="9235440" y="21031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Learning continuity</a:t>
            </a:r>
            <a:endParaRPr lang="en-US" sz="1900" dirty="0"/>
          </a:p>
        </p:txBody>
      </p:sp>
      <p:sp>
        <p:nvSpPr>
          <p:cNvPr id="19" name="Text 14"/>
          <p:cNvSpPr txBox="1"/>
          <p:nvPr/>
        </p:nvSpPr>
        <p:spPr>
          <a:xfrm>
            <a:off x="8321040" y="2971800"/>
            <a:ext cx="3017520" cy="594360"/>
          </a:xfrm>
          <a:prstGeom prst="rect">
            <a:avLst/>
          </a:prstGeom>
          <a:noFill/>
          <a:ln/>
        </p:spPr>
        <p:txBody>
          <a:bodyPr wrap="square" lIns="0" tIns="0" rIns="0" bIns="0" rtlCol="0" anchor="t"/>
          <a:lstStyle/>
          <a:p>
            <a:pPr indent="0" marL="0">
              <a:buNone/>
            </a:pPr>
            <a:r>
              <a:rPr lang="en-US" sz="1400" dirty="0">
                <a:solidFill>
                  <a:schemeClr val="tx1"/>
                </a:solidFill>
              </a:rPr>
              <a:t>Homework and lesson completion rates</a:t>
            </a:r>
            <a:endParaRPr lang="en-US" sz="1400" dirty="0"/>
          </a:p>
        </p:txBody>
      </p:sp>
      <p:sp>
        <p:nvSpPr>
          <p:cNvPr id="20" name="Learning progress"/>
          <p:cNvSpPr/>
          <p:nvPr/>
        </p:nvSpPr>
        <p:spPr>
          <a:xfrm>
            <a:off x="548640" y="38862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Learning progress circle"/>
          <p:cNvSpPr/>
          <p:nvPr/>
        </p:nvSpPr>
        <p:spPr>
          <a:xfrm>
            <a:off x="822960" y="4160520"/>
            <a:ext cx="731520" cy="731520"/>
          </a:xfrm>
          <a:prstGeom prst="ellipse">
            <a:avLst/>
          </a:prstGeom>
          <a:solidFill>
            <a:schemeClr val="accent4"/>
          </a:solidFill>
          <a:ln/>
        </p:spPr>
      </p:sp>
      <p:pic>
        <p:nvPicPr>
          <p:cNvPr id="22" name="Learning progress icon" descr="Learning progress">    </p:cNvPr>
          <p:cNvPicPr>
            <a:picLocks noChangeAspect="1"/>
          </p:cNvPicPr>
          <p:nvPr/>
        </p:nvPicPr>
        <p:blipFill>
          <a:blip r:embed="rId4"/>
          <a:stretch>
            <a:fillRect/>
          </a:stretch>
        </p:blipFill>
        <p:spPr>
          <a:xfrm>
            <a:off x="1005840" y="4343400"/>
            <a:ext cx="365760" cy="365760"/>
          </a:xfrm>
          <a:prstGeom prst="rect">
            <a:avLst/>
          </a:prstGeom>
        </p:spPr>
      </p:pic>
      <p:sp>
        <p:nvSpPr>
          <p:cNvPr id="23" name="Text 17"/>
          <p:cNvSpPr txBox="1"/>
          <p:nvPr/>
        </p:nvSpPr>
        <p:spPr>
          <a:xfrm>
            <a:off x="1737360" y="41605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Learning progress</a:t>
            </a:r>
            <a:endParaRPr lang="en-US" sz="1900" dirty="0"/>
          </a:p>
        </p:txBody>
      </p:sp>
      <p:sp>
        <p:nvSpPr>
          <p:cNvPr id="24" name="Text 18"/>
          <p:cNvSpPr txBox="1"/>
          <p:nvPr/>
        </p:nvSpPr>
        <p:spPr>
          <a:xfrm>
            <a:off x="822960" y="5029200"/>
            <a:ext cx="3017520" cy="594360"/>
          </a:xfrm>
          <a:prstGeom prst="rect">
            <a:avLst/>
          </a:prstGeom>
          <a:noFill/>
          <a:ln/>
        </p:spPr>
        <p:txBody>
          <a:bodyPr wrap="square" lIns="0" tIns="0" rIns="0" bIns="0" rtlCol="0" anchor="t"/>
          <a:lstStyle/>
          <a:p>
            <a:pPr indent="0" marL="0">
              <a:buNone/>
            </a:pPr>
            <a:r>
              <a:rPr lang="en-US" sz="1400" dirty="0">
                <a:solidFill>
                  <a:schemeClr val="tx1"/>
                </a:solidFill>
              </a:rPr>
              <a:t>Improvement in weak topics, test to test</a:t>
            </a:r>
            <a:endParaRPr lang="en-US" sz="1400" dirty="0"/>
          </a:p>
        </p:txBody>
      </p:sp>
      <p:sp>
        <p:nvSpPr>
          <p:cNvPr id="25" name="Reliability"/>
          <p:cNvSpPr/>
          <p:nvPr/>
        </p:nvSpPr>
        <p:spPr>
          <a:xfrm>
            <a:off x="4297680" y="38862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6" name="Reliability circle"/>
          <p:cNvSpPr/>
          <p:nvPr/>
        </p:nvSpPr>
        <p:spPr>
          <a:xfrm>
            <a:off x="4572000" y="4160520"/>
            <a:ext cx="731520" cy="731520"/>
          </a:xfrm>
          <a:prstGeom prst="ellipse">
            <a:avLst/>
          </a:prstGeom>
          <a:solidFill>
            <a:schemeClr val="accent5"/>
          </a:solidFill>
          <a:ln/>
        </p:spPr>
      </p:sp>
      <p:pic>
        <p:nvPicPr>
          <p:cNvPr id="27" name="Reliability icon" descr="Reliability">    </p:cNvPr>
          <p:cNvPicPr>
            <a:picLocks noChangeAspect="1"/>
          </p:cNvPicPr>
          <p:nvPr/>
        </p:nvPicPr>
        <p:blipFill>
          <a:blip r:embed="rId5"/>
          <a:stretch>
            <a:fillRect/>
          </a:stretch>
        </p:blipFill>
        <p:spPr>
          <a:xfrm>
            <a:off x="4754880" y="4343400"/>
            <a:ext cx="365760" cy="365760"/>
          </a:xfrm>
          <a:prstGeom prst="rect">
            <a:avLst/>
          </a:prstGeom>
        </p:spPr>
      </p:pic>
      <p:sp>
        <p:nvSpPr>
          <p:cNvPr id="28" name="Text 21"/>
          <p:cNvSpPr txBox="1"/>
          <p:nvPr/>
        </p:nvSpPr>
        <p:spPr>
          <a:xfrm>
            <a:off x="5486400" y="41605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Reliability</a:t>
            </a:r>
            <a:endParaRPr lang="en-US" sz="1900" dirty="0"/>
          </a:p>
        </p:txBody>
      </p:sp>
      <p:sp>
        <p:nvSpPr>
          <p:cNvPr id="29" name="Text 22"/>
          <p:cNvSpPr txBox="1"/>
          <p:nvPr/>
        </p:nvSpPr>
        <p:spPr>
          <a:xfrm>
            <a:off x="4572000" y="5029200"/>
            <a:ext cx="3017520" cy="594360"/>
          </a:xfrm>
          <a:prstGeom prst="rect">
            <a:avLst/>
          </a:prstGeom>
          <a:noFill/>
          <a:ln/>
        </p:spPr>
        <p:txBody>
          <a:bodyPr wrap="square" lIns="0" tIns="0" rIns="0" bIns="0" rtlCol="0" anchor="t"/>
          <a:lstStyle/>
          <a:p>
            <a:pPr indent="0" marL="0">
              <a:buNone/>
            </a:pPr>
            <a:r>
              <a:rPr lang="en-US" sz="1400" dirty="0">
                <a:solidFill>
                  <a:schemeClr val="tx1"/>
                </a:solidFill>
              </a:rPr>
              <a:t>Uptime and number of support issues</a:t>
            </a:r>
            <a:endParaRPr lang="en-US" sz="1400" dirty="0"/>
          </a:p>
        </p:txBody>
      </p:sp>
      <p:sp>
        <p:nvSpPr>
          <p:cNvPr id="30" name="Cost"/>
          <p:cNvSpPr/>
          <p:nvPr/>
        </p:nvSpPr>
        <p:spPr>
          <a:xfrm>
            <a:off x="8046720" y="3886200"/>
            <a:ext cx="35204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1" name="Cost circle"/>
          <p:cNvSpPr/>
          <p:nvPr/>
        </p:nvSpPr>
        <p:spPr>
          <a:xfrm>
            <a:off x="8321040" y="4160520"/>
            <a:ext cx="731520" cy="731520"/>
          </a:xfrm>
          <a:prstGeom prst="ellipse">
            <a:avLst/>
          </a:prstGeom>
          <a:solidFill>
            <a:schemeClr val="accent6"/>
          </a:solidFill>
          <a:ln/>
        </p:spPr>
      </p:sp>
      <p:pic>
        <p:nvPicPr>
          <p:cNvPr id="32" name="Cost icon" descr="Cost">    </p:cNvPr>
          <p:cNvPicPr>
            <a:picLocks noChangeAspect="1"/>
          </p:cNvPicPr>
          <p:nvPr/>
        </p:nvPicPr>
        <p:blipFill>
          <a:blip r:embed="rId6"/>
          <a:stretch>
            <a:fillRect/>
          </a:stretch>
        </p:blipFill>
        <p:spPr>
          <a:xfrm>
            <a:off x="8503920" y="4343400"/>
            <a:ext cx="365760" cy="365760"/>
          </a:xfrm>
          <a:prstGeom prst="rect">
            <a:avLst/>
          </a:prstGeom>
        </p:spPr>
      </p:pic>
      <p:sp>
        <p:nvSpPr>
          <p:cNvPr id="33" name="Text 25"/>
          <p:cNvSpPr txBox="1"/>
          <p:nvPr/>
        </p:nvSpPr>
        <p:spPr>
          <a:xfrm>
            <a:off x="9235440" y="41605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Cost</a:t>
            </a:r>
            <a:endParaRPr lang="en-US" sz="1900" dirty="0"/>
          </a:p>
        </p:txBody>
      </p:sp>
      <p:sp>
        <p:nvSpPr>
          <p:cNvPr id="34" name="Text 26"/>
          <p:cNvSpPr txBox="1"/>
          <p:nvPr/>
        </p:nvSpPr>
        <p:spPr>
          <a:xfrm>
            <a:off x="8321040" y="5029200"/>
            <a:ext cx="3017520" cy="594360"/>
          </a:xfrm>
          <a:prstGeom prst="rect">
            <a:avLst/>
          </a:prstGeom>
          <a:noFill/>
          <a:ln/>
        </p:spPr>
        <p:txBody>
          <a:bodyPr wrap="square" lIns="0" tIns="0" rIns="0" bIns="0" rtlCol="0" anchor="t"/>
          <a:lstStyle/>
          <a:p>
            <a:pPr indent="0" marL="0">
              <a:buNone/>
            </a:pPr>
            <a:r>
              <a:rPr lang="en-US" sz="1400" dirty="0">
                <a:solidFill>
                  <a:schemeClr val="tx1"/>
                </a:solidFill>
              </a:rPr>
              <a:t>AI cost per active student per month</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WE DELIVER</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Grow step by step — with a check at every stage</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40,000 schools is a long-term target. Each step must prove speed, support and cost first.</a:t>
            </a:r>
            <a:endParaRPr lang="en-US" sz="1600" dirty="0"/>
          </a:p>
        </p:txBody>
      </p:sp>
      <p:sp>
        <p:nvSpPr>
          <p:cNvPr id="5" name="PILOT"/>
          <p:cNvSpPr/>
          <p:nvPr/>
        </p:nvSpPr>
        <p:spPr>
          <a:xfrm>
            <a:off x="548640" y="4206240"/>
            <a:ext cx="2651760" cy="1600200"/>
          </a:xfrm>
          <a:prstGeom prst="roundRect">
            <a:avLst>
              <a:gd name="adj" fmla="val 5714"/>
            </a:avLst>
          </a:prstGeom>
          <a:solidFill>
            <a:schemeClr val="accent1"/>
          </a:solidFill>
          <a:ln/>
        </p:spPr>
      </p:sp>
      <p:sp>
        <p:nvSpPr>
          <p:cNvPr id="6" name="Text 4"/>
          <p:cNvSpPr txBox="1"/>
          <p:nvPr/>
        </p:nvSpPr>
        <p:spPr>
          <a:xfrm>
            <a:off x="731520" y="4343400"/>
            <a:ext cx="2286000" cy="274320"/>
          </a:xfrm>
          <a:prstGeom prst="rect">
            <a:avLst/>
          </a:prstGeom>
          <a:noFill/>
          <a:ln/>
        </p:spPr>
        <p:txBody>
          <a:bodyPr wrap="square" lIns="0" tIns="0" rIns="0" bIns="0" rtlCol="0" anchor="t"/>
          <a:lstStyle/>
          <a:p>
            <a:pPr indent="0" marL="0">
              <a:buNone/>
            </a:pPr>
            <a:r>
              <a:rPr lang="en-US" sz="1200" b="1" spc="100" kern="0" dirty="0">
                <a:solidFill>
                  <a:schemeClr val="bg1"/>
                </a:solidFill>
              </a:rPr>
              <a:t>PILOT</a:t>
            </a:r>
            <a:endParaRPr lang="en-US" sz="1200" dirty="0"/>
          </a:p>
        </p:txBody>
      </p:sp>
      <p:sp>
        <p:nvSpPr>
          <p:cNvPr id="7" name="Text 5"/>
          <p:cNvSpPr txBox="1"/>
          <p:nvPr/>
        </p:nvSpPr>
        <p:spPr>
          <a:xfrm>
            <a:off x="731520" y="4617720"/>
            <a:ext cx="2286000" cy="457200"/>
          </a:xfrm>
          <a:prstGeom prst="rect">
            <a:avLst/>
          </a:prstGeom>
          <a:noFill/>
          <a:ln/>
        </p:spPr>
        <p:txBody>
          <a:bodyPr wrap="square" lIns="0" tIns="0" rIns="0" bIns="0" rtlCol="0" anchor="t"/>
          <a:lstStyle/>
          <a:p>
            <a:pPr indent="0" marL="0">
              <a:buNone/>
            </a:pPr>
            <a:r>
              <a:rPr lang="en-US" sz="2400" b="1" dirty="0">
                <a:solidFill>
                  <a:schemeClr val="bg1"/>
                </a:solidFill>
              </a:rPr>
              <a:t>100–500</a:t>
            </a:r>
            <a:endParaRPr lang="en-US" sz="2400" dirty="0"/>
          </a:p>
        </p:txBody>
      </p:sp>
      <p:sp>
        <p:nvSpPr>
          <p:cNvPr id="8" name="Text 6"/>
          <p:cNvSpPr txBox="1"/>
          <p:nvPr/>
        </p:nvSpPr>
        <p:spPr>
          <a:xfrm>
            <a:off x="731520" y="5120640"/>
            <a:ext cx="2286000" cy="594360"/>
          </a:xfrm>
          <a:prstGeom prst="rect">
            <a:avLst/>
          </a:prstGeom>
          <a:noFill/>
          <a:ln/>
        </p:spPr>
        <p:txBody>
          <a:bodyPr wrap="square" lIns="0" tIns="0" rIns="0" bIns="0" rtlCol="0" anchor="t"/>
          <a:lstStyle/>
          <a:p>
            <a:pPr indent="0" marL="0">
              <a:buNone/>
            </a:pPr>
            <a:r>
              <a:rPr lang="en-US" sz="1300" dirty="0">
                <a:solidFill>
                  <a:schemeClr val="bg1"/>
                </a:solidFill>
              </a:rPr>
              <a:t>Prove daily use and data quality</a:t>
            </a:r>
            <a:endParaRPr lang="en-US" sz="1300" dirty="0"/>
          </a:p>
        </p:txBody>
      </p:sp>
      <p:sp>
        <p:nvSpPr>
          <p:cNvPr id="9" name="REGIONAL"/>
          <p:cNvSpPr/>
          <p:nvPr/>
        </p:nvSpPr>
        <p:spPr>
          <a:xfrm>
            <a:off x="3364992" y="3520440"/>
            <a:ext cx="2651760" cy="2286000"/>
          </a:xfrm>
          <a:prstGeom prst="roundRect">
            <a:avLst>
              <a:gd name="adj" fmla="val 4000"/>
            </a:avLst>
          </a:prstGeom>
          <a:solidFill>
            <a:schemeClr val="accent2"/>
          </a:solidFill>
          <a:ln/>
        </p:spPr>
      </p:sp>
      <p:sp>
        <p:nvSpPr>
          <p:cNvPr id="10" name="Text 8"/>
          <p:cNvSpPr txBox="1"/>
          <p:nvPr/>
        </p:nvSpPr>
        <p:spPr>
          <a:xfrm>
            <a:off x="3547872" y="3657600"/>
            <a:ext cx="2286000" cy="274320"/>
          </a:xfrm>
          <a:prstGeom prst="rect">
            <a:avLst/>
          </a:prstGeom>
          <a:noFill/>
          <a:ln/>
        </p:spPr>
        <p:txBody>
          <a:bodyPr wrap="square" lIns="0" tIns="0" rIns="0" bIns="0" rtlCol="0" anchor="t"/>
          <a:lstStyle/>
          <a:p>
            <a:pPr indent="0" marL="0">
              <a:buNone/>
            </a:pPr>
            <a:r>
              <a:rPr lang="en-US" sz="1200" b="1" spc="100" kern="0" dirty="0">
                <a:solidFill>
                  <a:schemeClr val="bg1"/>
                </a:solidFill>
              </a:rPr>
              <a:t>REGIONAL</a:t>
            </a:r>
            <a:endParaRPr lang="en-US" sz="1200" dirty="0"/>
          </a:p>
        </p:txBody>
      </p:sp>
      <p:sp>
        <p:nvSpPr>
          <p:cNvPr id="11" name="Text 9"/>
          <p:cNvSpPr txBox="1"/>
          <p:nvPr/>
        </p:nvSpPr>
        <p:spPr>
          <a:xfrm>
            <a:off x="3547872" y="3931920"/>
            <a:ext cx="2286000" cy="457200"/>
          </a:xfrm>
          <a:prstGeom prst="rect">
            <a:avLst/>
          </a:prstGeom>
          <a:noFill/>
          <a:ln/>
        </p:spPr>
        <p:txBody>
          <a:bodyPr wrap="square" lIns="0" tIns="0" rIns="0" bIns="0" rtlCol="0" anchor="t"/>
          <a:lstStyle/>
          <a:p>
            <a:pPr indent="0" marL="0">
              <a:buNone/>
            </a:pPr>
            <a:r>
              <a:rPr lang="en-US" sz="2400" b="1" dirty="0">
                <a:solidFill>
                  <a:schemeClr val="bg1"/>
                </a:solidFill>
              </a:rPr>
              <a:t>Up to 5,000</a:t>
            </a:r>
            <a:endParaRPr lang="en-US" sz="2400" dirty="0"/>
          </a:p>
        </p:txBody>
      </p:sp>
      <p:sp>
        <p:nvSpPr>
          <p:cNvPr id="12" name="Text 10"/>
          <p:cNvSpPr txBox="1"/>
          <p:nvPr/>
        </p:nvSpPr>
        <p:spPr>
          <a:xfrm>
            <a:off x="3547872" y="4434840"/>
            <a:ext cx="2286000" cy="594360"/>
          </a:xfrm>
          <a:prstGeom prst="rect">
            <a:avLst/>
          </a:prstGeom>
          <a:noFill/>
          <a:ln/>
        </p:spPr>
        <p:txBody>
          <a:bodyPr wrap="square" lIns="0" tIns="0" rIns="0" bIns="0" rtlCol="0" anchor="t"/>
          <a:lstStyle/>
          <a:p>
            <a:pPr indent="0" marL="0">
              <a:buNone/>
            </a:pPr>
            <a:r>
              <a:rPr lang="en-US" sz="1300" dirty="0">
                <a:solidFill>
                  <a:schemeClr val="bg1"/>
                </a:solidFill>
              </a:rPr>
              <a:t>Smooth onboarding, reports and backups</a:t>
            </a:r>
            <a:endParaRPr lang="en-US" sz="1300" dirty="0"/>
          </a:p>
        </p:txBody>
      </p:sp>
      <p:sp>
        <p:nvSpPr>
          <p:cNvPr id="13" name="MULTI-REGION"/>
          <p:cNvSpPr/>
          <p:nvPr/>
        </p:nvSpPr>
        <p:spPr>
          <a:xfrm>
            <a:off x="6181344" y="2834640"/>
            <a:ext cx="2651760" cy="2971800"/>
          </a:xfrm>
          <a:prstGeom prst="roundRect">
            <a:avLst>
              <a:gd name="adj" fmla="val 3448"/>
            </a:avLst>
          </a:prstGeom>
          <a:solidFill>
            <a:schemeClr val="accent3"/>
          </a:solidFill>
          <a:ln/>
        </p:spPr>
      </p:sp>
      <p:sp>
        <p:nvSpPr>
          <p:cNvPr id="14" name="Text 12"/>
          <p:cNvSpPr txBox="1"/>
          <p:nvPr/>
        </p:nvSpPr>
        <p:spPr>
          <a:xfrm>
            <a:off x="6364224" y="2971800"/>
            <a:ext cx="2286000" cy="274320"/>
          </a:xfrm>
          <a:prstGeom prst="rect">
            <a:avLst/>
          </a:prstGeom>
          <a:noFill/>
          <a:ln/>
        </p:spPr>
        <p:txBody>
          <a:bodyPr wrap="square" lIns="0" tIns="0" rIns="0" bIns="0" rtlCol="0" anchor="t"/>
          <a:lstStyle/>
          <a:p>
            <a:pPr indent="0" marL="0">
              <a:buNone/>
            </a:pPr>
            <a:r>
              <a:rPr lang="en-US" sz="1200" b="1" spc="100" kern="0" dirty="0">
                <a:solidFill>
                  <a:schemeClr val="bg1"/>
                </a:solidFill>
              </a:rPr>
              <a:t>MULTI-REGION</a:t>
            </a:r>
            <a:endParaRPr lang="en-US" sz="1200" dirty="0"/>
          </a:p>
        </p:txBody>
      </p:sp>
      <p:sp>
        <p:nvSpPr>
          <p:cNvPr id="15" name="Text 13"/>
          <p:cNvSpPr txBox="1"/>
          <p:nvPr/>
        </p:nvSpPr>
        <p:spPr>
          <a:xfrm>
            <a:off x="6364224" y="3246120"/>
            <a:ext cx="2286000" cy="457200"/>
          </a:xfrm>
          <a:prstGeom prst="rect">
            <a:avLst/>
          </a:prstGeom>
          <a:noFill/>
          <a:ln/>
        </p:spPr>
        <p:txBody>
          <a:bodyPr wrap="square" lIns="0" tIns="0" rIns="0" bIns="0" rtlCol="0" anchor="t"/>
          <a:lstStyle/>
          <a:p>
            <a:pPr indent="0" marL="0">
              <a:buNone/>
            </a:pPr>
            <a:r>
              <a:rPr lang="en-US" sz="2400" b="1" dirty="0">
                <a:solidFill>
                  <a:schemeClr val="bg1"/>
                </a:solidFill>
              </a:rPr>
              <a:t>5,000–15,000</a:t>
            </a:r>
            <a:endParaRPr lang="en-US" sz="2400" dirty="0"/>
          </a:p>
        </p:txBody>
      </p:sp>
      <p:sp>
        <p:nvSpPr>
          <p:cNvPr id="16" name="Text 14"/>
          <p:cNvSpPr txBox="1"/>
          <p:nvPr/>
        </p:nvSpPr>
        <p:spPr>
          <a:xfrm>
            <a:off x="6364224" y="3749040"/>
            <a:ext cx="2286000" cy="594360"/>
          </a:xfrm>
          <a:prstGeom prst="rect">
            <a:avLst/>
          </a:prstGeom>
          <a:noFill/>
          <a:ln/>
        </p:spPr>
        <p:txBody>
          <a:bodyPr wrap="square" lIns="0" tIns="0" rIns="0" bIns="0" rtlCol="0" anchor="t"/>
          <a:lstStyle/>
          <a:p>
            <a:pPr indent="0" marL="0">
              <a:buNone/>
            </a:pPr>
            <a:r>
              <a:rPr lang="en-US" sz="1300" dirty="0">
                <a:solidFill>
                  <a:schemeClr val="bg1"/>
                </a:solidFill>
              </a:rPr>
              <a:t>Load tests, monitoring, cost tuning</a:t>
            </a:r>
            <a:endParaRPr lang="en-US" sz="1300" dirty="0"/>
          </a:p>
        </p:txBody>
      </p:sp>
      <p:sp>
        <p:nvSpPr>
          <p:cNvPr id="17" name="NATIONAL TARGET"/>
          <p:cNvSpPr/>
          <p:nvPr/>
        </p:nvSpPr>
        <p:spPr>
          <a:xfrm>
            <a:off x="8997696" y="2148840"/>
            <a:ext cx="2651760" cy="3657600"/>
          </a:xfrm>
          <a:prstGeom prst="roundRect">
            <a:avLst>
              <a:gd name="adj" fmla="val 3448"/>
            </a:avLst>
          </a:prstGeom>
          <a:solidFill>
            <a:schemeClr val="accent4"/>
          </a:solidFill>
          <a:ln/>
        </p:spPr>
      </p:sp>
      <p:sp>
        <p:nvSpPr>
          <p:cNvPr id="18" name="Text 16"/>
          <p:cNvSpPr txBox="1"/>
          <p:nvPr/>
        </p:nvSpPr>
        <p:spPr>
          <a:xfrm>
            <a:off x="9180576" y="2286000"/>
            <a:ext cx="2286000" cy="274320"/>
          </a:xfrm>
          <a:prstGeom prst="rect">
            <a:avLst/>
          </a:prstGeom>
          <a:noFill/>
          <a:ln/>
        </p:spPr>
        <p:txBody>
          <a:bodyPr wrap="square" lIns="0" tIns="0" rIns="0" bIns="0" rtlCol="0" anchor="t"/>
          <a:lstStyle/>
          <a:p>
            <a:pPr indent="0" marL="0">
              <a:buNone/>
            </a:pPr>
            <a:r>
              <a:rPr lang="en-US" sz="1200" b="1" spc="100" kern="0" dirty="0">
                <a:solidFill>
                  <a:schemeClr val="bg1"/>
                </a:solidFill>
              </a:rPr>
              <a:t>NATIONAL TARGET</a:t>
            </a:r>
            <a:endParaRPr lang="en-US" sz="1200" dirty="0"/>
          </a:p>
        </p:txBody>
      </p:sp>
      <p:sp>
        <p:nvSpPr>
          <p:cNvPr id="19" name="Text 17"/>
          <p:cNvSpPr txBox="1"/>
          <p:nvPr/>
        </p:nvSpPr>
        <p:spPr>
          <a:xfrm>
            <a:off x="9180576" y="2560320"/>
            <a:ext cx="2286000" cy="457200"/>
          </a:xfrm>
          <a:prstGeom prst="rect">
            <a:avLst/>
          </a:prstGeom>
          <a:noFill/>
          <a:ln/>
        </p:spPr>
        <p:txBody>
          <a:bodyPr wrap="square" lIns="0" tIns="0" rIns="0" bIns="0" rtlCol="0" anchor="t"/>
          <a:lstStyle/>
          <a:p>
            <a:pPr indent="0" marL="0">
              <a:buNone/>
            </a:pPr>
            <a:r>
              <a:rPr lang="en-US" sz="2400" b="1" dirty="0">
                <a:solidFill>
                  <a:schemeClr val="bg1"/>
                </a:solidFill>
              </a:rPr>
              <a:t>Up to 40,000</a:t>
            </a:r>
            <a:endParaRPr lang="en-US" sz="2400" dirty="0"/>
          </a:p>
        </p:txBody>
      </p:sp>
      <p:sp>
        <p:nvSpPr>
          <p:cNvPr id="20" name="Text 18"/>
          <p:cNvSpPr txBox="1"/>
          <p:nvPr/>
        </p:nvSpPr>
        <p:spPr>
          <a:xfrm>
            <a:off x="9180576" y="3063240"/>
            <a:ext cx="2286000" cy="594360"/>
          </a:xfrm>
          <a:prstGeom prst="rect">
            <a:avLst/>
          </a:prstGeom>
          <a:noFill/>
          <a:ln/>
        </p:spPr>
        <p:txBody>
          <a:bodyPr wrap="square" lIns="0" tIns="0" rIns="0" bIns="0" rtlCol="0" anchor="t"/>
          <a:lstStyle/>
          <a:p>
            <a:pPr indent="0" marL="0">
              <a:buNone/>
            </a:pPr>
            <a:r>
              <a:rPr lang="en-US" sz="1300" dirty="0">
                <a:solidFill>
                  <a:schemeClr val="bg1"/>
                </a:solidFill>
              </a:rPr>
              <a:t>Only after performance and costs are proven</a:t>
            </a:r>
            <a:endParaRPr lang="en-US" sz="1300" dirty="0"/>
          </a:p>
        </p:txBody>
      </p:sp>
      <p:sp>
        <p:nvSpPr>
          <p:cNvPr id="21" name="CG reference"/>
          <p:cNvSpPr/>
          <p:nvPr/>
        </p:nvSpPr>
        <p:spPr>
          <a:xfrm>
            <a:off x="548640" y="1828800"/>
            <a:ext cx="5394960" cy="868680"/>
          </a:xfrm>
          <a:prstGeom prst="roundRect">
            <a:avLst>
              <a:gd name="adj" fmla="val 12632"/>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2" name="Chhattisgarh reference circle"/>
          <p:cNvSpPr/>
          <p:nvPr/>
        </p:nvSpPr>
        <p:spPr>
          <a:xfrm>
            <a:off x="731520" y="1965960"/>
            <a:ext cx="594360" cy="594360"/>
          </a:xfrm>
          <a:prstGeom prst="ellipse">
            <a:avLst/>
          </a:prstGeom>
          <a:solidFill>
            <a:schemeClr val="accent2"/>
          </a:solidFill>
          <a:ln/>
        </p:spPr>
      </p:sp>
      <p:pic>
        <p:nvPicPr>
          <p:cNvPr id="23" name="Chhattisgarh reference icon" descr="Chhattisgarh reference">    </p:cNvPr>
          <p:cNvPicPr>
            <a:picLocks noChangeAspect="1"/>
          </p:cNvPicPr>
          <p:nvPr/>
        </p:nvPicPr>
        <p:blipFill>
          <a:blip r:embed="rId1"/>
          <a:stretch>
            <a:fillRect/>
          </a:stretch>
        </p:blipFill>
        <p:spPr>
          <a:xfrm>
            <a:off x="880110" y="2114550"/>
            <a:ext cx="297180" cy="297180"/>
          </a:xfrm>
          <a:prstGeom prst="rect">
            <a:avLst/>
          </a:prstGeom>
        </p:spPr>
      </p:pic>
      <p:sp>
        <p:nvSpPr>
          <p:cNvPr id="24" name="Text 21"/>
          <p:cNvSpPr txBox="1"/>
          <p:nvPr/>
        </p:nvSpPr>
        <p:spPr>
          <a:xfrm>
            <a:off x="1508760" y="1828800"/>
            <a:ext cx="4297680" cy="868680"/>
          </a:xfrm>
          <a:prstGeom prst="rect">
            <a:avLst/>
          </a:prstGeom>
          <a:noFill/>
          <a:ln/>
        </p:spPr>
        <p:txBody>
          <a:bodyPr wrap="square" lIns="0" tIns="0" rIns="0" bIns="0" rtlCol="0" anchor="ctr"/>
          <a:lstStyle/>
          <a:p>
            <a:pPr indent="0" marL="0">
              <a:buNone/>
            </a:pPr>
            <a:r>
              <a:rPr lang="en-US" sz="1400" b="1" dirty="0">
                <a:solidFill>
                  <a:schemeClr val="tx2"/>
                </a:solidFill>
              </a:rPr>
              <a:t>For scale: </a:t>
            </a:r>
            <a:pPr indent="0" marL="0">
              <a:buNone/>
            </a:pPr>
            <a:r>
              <a:rPr lang="en-US" sz="1400" dirty="0">
                <a:solidFill>
                  <a:schemeClr val="tx1"/>
                </a:solidFill>
              </a:rPr>
              <a:t>Chhattisgarh alone has 56,802 schools in 33 districts.</a:t>
            </a:r>
            <a:endParaRPr lang="en-US" sz="1400" dirty="0"/>
          </a:p>
        </p:txBody>
      </p:sp>
      <p:sp>
        <p:nvSpPr>
          <p:cNvPr id="25" name="Text 22"/>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Checks at every step: speed  •  security  •  usage  •  support capacity  •  cost per active student</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INVESTMENT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A clear one-time build budget</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Core build and scale-up engineering stay under ₹25 lakh including GST. Running costs are separate.</a:t>
            </a:r>
            <a:endParaRPr lang="en-US" sz="1600" dirty="0"/>
          </a:p>
        </p:txBody>
      </p:sp>
      <p:sp>
        <p:nvSpPr>
          <p:cNvPr id="5" name="Core development"/>
          <p:cNvSpPr/>
          <p:nvPr/>
        </p:nvSpPr>
        <p:spPr>
          <a:xfrm>
            <a:off x="548640" y="1828800"/>
            <a:ext cx="32918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Text 4"/>
          <p:cNvSpPr txBox="1"/>
          <p:nvPr/>
        </p:nvSpPr>
        <p:spPr>
          <a:xfrm>
            <a:off x="822960" y="2011680"/>
            <a:ext cx="2743200" cy="685800"/>
          </a:xfrm>
          <a:prstGeom prst="rect">
            <a:avLst/>
          </a:prstGeom>
          <a:noFill/>
          <a:ln/>
        </p:spPr>
        <p:txBody>
          <a:bodyPr wrap="square" lIns="0" tIns="0" rIns="0" bIns="0" rtlCol="0" anchor="t"/>
          <a:lstStyle/>
          <a:p>
            <a:pPr indent="0" marL="0">
              <a:buNone/>
            </a:pPr>
            <a:r>
              <a:rPr lang="en-US" sz="3400" b="1" dirty="0">
                <a:solidFill>
                  <a:schemeClr val="accent1"/>
                </a:solidFill>
              </a:rPr>
              <a:t>₹17.80 lakh</a:t>
            </a:r>
            <a:endParaRPr lang="en-US" sz="3400" dirty="0"/>
          </a:p>
        </p:txBody>
      </p:sp>
      <p:sp>
        <p:nvSpPr>
          <p:cNvPr id="7" name="Text 5"/>
          <p:cNvSpPr txBox="1"/>
          <p:nvPr/>
        </p:nvSpPr>
        <p:spPr>
          <a:xfrm>
            <a:off x="822960" y="2697480"/>
            <a:ext cx="2743200" cy="365760"/>
          </a:xfrm>
          <a:prstGeom prst="rect">
            <a:avLst/>
          </a:prstGeom>
          <a:noFill/>
          <a:ln/>
        </p:spPr>
        <p:txBody>
          <a:bodyPr wrap="square" lIns="0" tIns="0" rIns="0" bIns="0" rtlCol="0" anchor="t"/>
          <a:lstStyle/>
          <a:p>
            <a:pPr indent="0" marL="0">
              <a:buNone/>
            </a:pPr>
            <a:r>
              <a:rPr lang="en-US" sz="1700" b="1" dirty="0">
                <a:solidFill>
                  <a:schemeClr val="tx2"/>
                </a:solidFill>
              </a:rPr>
              <a:t>Core development</a:t>
            </a:r>
            <a:endParaRPr lang="en-US" sz="1700" dirty="0"/>
          </a:p>
        </p:txBody>
      </p:sp>
      <p:sp>
        <p:nvSpPr>
          <p:cNvPr id="8" name="Text 6"/>
          <p:cNvSpPr txBox="1"/>
          <p:nvPr/>
        </p:nvSpPr>
        <p:spPr>
          <a:xfrm>
            <a:off x="822960" y="3063240"/>
            <a:ext cx="2743200" cy="365760"/>
          </a:xfrm>
          <a:prstGeom prst="rect">
            <a:avLst/>
          </a:prstGeom>
          <a:noFill/>
          <a:ln/>
        </p:spPr>
        <p:txBody>
          <a:bodyPr wrap="square" lIns="0" tIns="0" rIns="0" bIns="0" rtlCol="0" anchor="t"/>
          <a:lstStyle/>
          <a:p>
            <a:pPr indent="0" marL="0">
              <a:buNone/>
            </a:pPr>
            <a:r>
              <a:rPr lang="en-US" sz="1300" dirty="0">
                <a:solidFill>
                  <a:schemeClr val="accent6"/>
                </a:solidFill>
              </a:rPr>
              <a:t>One-time, incl. GST</a:t>
            </a:r>
            <a:endParaRPr lang="en-US" sz="1300" dirty="0"/>
          </a:p>
        </p:txBody>
      </p:sp>
      <p:sp>
        <p:nvSpPr>
          <p:cNvPr id="9" name="Text 7"/>
          <p:cNvSpPr txBox="1"/>
          <p:nvPr/>
        </p:nvSpPr>
        <p:spPr>
          <a:xfrm>
            <a:off x="3840480" y="2331720"/>
            <a:ext cx="548640" cy="731520"/>
          </a:xfrm>
          <a:prstGeom prst="rect">
            <a:avLst/>
          </a:prstGeom>
          <a:noFill/>
          <a:ln/>
        </p:spPr>
        <p:txBody>
          <a:bodyPr wrap="square" lIns="0" tIns="0" rIns="0" bIns="0" rtlCol="0" anchor="ctr"/>
          <a:lstStyle/>
          <a:p>
            <a:pPr algn="ctr" indent="0" marL="0">
              <a:buNone/>
            </a:pPr>
            <a:r>
              <a:rPr lang="en-US" sz="3600" b="1" dirty="0">
                <a:solidFill>
                  <a:schemeClr val="accent6"/>
                </a:solidFill>
              </a:rPr>
              <a:t>+</a:t>
            </a:r>
            <a:endParaRPr lang="en-US" sz="3600" dirty="0"/>
          </a:p>
        </p:txBody>
      </p:sp>
      <p:sp>
        <p:nvSpPr>
          <p:cNvPr id="10" name="Scale-up engineering"/>
          <p:cNvSpPr/>
          <p:nvPr/>
        </p:nvSpPr>
        <p:spPr>
          <a:xfrm>
            <a:off x="4389120" y="1828800"/>
            <a:ext cx="3291840" cy="1828800"/>
          </a:xfrm>
          <a:prstGeom prst="roundRect">
            <a:avLst>
              <a:gd name="adj" fmla="val 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4663440" y="2011680"/>
            <a:ext cx="2743200" cy="685800"/>
          </a:xfrm>
          <a:prstGeom prst="rect">
            <a:avLst/>
          </a:prstGeom>
          <a:noFill/>
          <a:ln/>
        </p:spPr>
        <p:txBody>
          <a:bodyPr wrap="square" lIns="0" tIns="0" rIns="0" bIns="0" rtlCol="0" anchor="t"/>
          <a:lstStyle/>
          <a:p>
            <a:pPr indent="0" marL="0">
              <a:buNone/>
            </a:pPr>
            <a:r>
              <a:rPr lang="en-US" sz="3400" b="1" dirty="0">
                <a:solidFill>
                  <a:schemeClr val="accent2"/>
                </a:solidFill>
              </a:rPr>
              <a:t>₹5.90 lakh</a:t>
            </a:r>
            <a:endParaRPr lang="en-US" sz="3400" dirty="0"/>
          </a:p>
        </p:txBody>
      </p:sp>
      <p:sp>
        <p:nvSpPr>
          <p:cNvPr id="12" name="Text 10"/>
          <p:cNvSpPr txBox="1"/>
          <p:nvPr/>
        </p:nvSpPr>
        <p:spPr>
          <a:xfrm>
            <a:off x="4663440" y="2697480"/>
            <a:ext cx="2743200" cy="365760"/>
          </a:xfrm>
          <a:prstGeom prst="rect">
            <a:avLst/>
          </a:prstGeom>
          <a:noFill/>
          <a:ln/>
        </p:spPr>
        <p:txBody>
          <a:bodyPr wrap="square" lIns="0" tIns="0" rIns="0" bIns="0" rtlCol="0" anchor="t"/>
          <a:lstStyle/>
          <a:p>
            <a:pPr indent="0" marL="0">
              <a:buNone/>
            </a:pPr>
            <a:r>
              <a:rPr lang="en-US" sz="1700" b="1" dirty="0">
                <a:solidFill>
                  <a:schemeClr val="tx2"/>
                </a:solidFill>
              </a:rPr>
              <a:t>Scale-up engineering</a:t>
            </a:r>
            <a:endParaRPr lang="en-US" sz="1700" dirty="0"/>
          </a:p>
        </p:txBody>
      </p:sp>
      <p:sp>
        <p:nvSpPr>
          <p:cNvPr id="13" name="Text 11"/>
          <p:cNvSpPr txBox="1"/>
          <p:nvPr/>
        </p:nvSpPr>
        <p:spPr>
          <a:xfrm>
            <a:off x="4663440" y="3063240"/>
            <a:ext cx="2743200" cy="365760"/>
          </a:xfrm>
          <a:prstGeom prst="rect">
            <a:avLst/>
          </a:prstGeom>
          <a:noFill/>
          <a:ln/>
        </p:spPr>
        <p:txBody>
          <a:bodyPr wrap="square" lIns="0" tIns="0" rIns="0" bIns="0" rtlCol="0" anchor="t"/>
          <a:lstStyle/>
          <a:p>
            <a:pPr indent="0" marL="0">
              <a:buNone/>
            </a:pPr>
            <a:r>
              <a:rPr lang="en-US" sz="1300" dirty="0">
                <a:solidFill>
                  <a:schemeClr val="accent6"/>
                </a:solidFill>
              </a:rPr>
              <a:t>Staged, incl. GST</a:t>
            </a:r>
            <a:endParaRPr lang="en-US" sz="1300" dirty="0"/>
          </a:p>
        </p:txBody>
      </p:sp>
      <p:sp>
        <p:nvSpPr>
          <p:cNvPr id="14" name="Text 12"/>
          <p:cNvSpPr txBox="1"/>
          <p:nvPr/>
        </p:nvSpPr>
        <p:spPr>
          <a:xfrm>
            <a:off x="7680960" y="2331720"/>
            <a:ext cx="548640" cy="731520"/>
          </a:xfrm>
          <a:prstGeom prst="rect">
            <a:avLst/>
          </a:prstGeom>
          <a:noFill/>
          <a:ln/>
        </p:spPr>
        <p:txBody>
          <a:bodyPr wrap="square" lIns="0" tIns="0" rIns="0" bIns="0" rtlCol="0" anchor="ctr"/>
          <a:lstStyle/>
          <a:p>
            <a:pPr algn="ctr" indent="0" marL="0">
              <a:buNone/>
            </a:pPr>
            <a:r>
              <a:rPr lang="en-US" sz="3600" b="1" dirty="0">
                <a:solidFill>
                  <a:schemeClr val="accent6"/>
                </a:solidFill>
              </a:rPr>
              <a:t>=</a:t>
            </a:r>
            <a:endParaRPr lang="en-US" sz="3600" dirty="0"/>
          </a:p>
        </p:txBody>
      </p:sp>
      <p:sp>
        <p:nvSpPr>
          <p:cNvPr id="15" name="total"/>
          <p:cNvSpPr/>
          <p:nvPr/>
        </p:nvSpPr>
        <p:spPr>
          <a:xfrm>
            <a:off x="8229600" y="1828800"/>
            <a:ext cx="3291840" cy="1828800"/>
          </a:xfrm>
          <a:prstGeom prst="roundRect">
            <a:avLst>
              <a:gd name="adj" fmla="val 6000"/>
            </a:avLst>
          </a:prstGeom>
          <a:solidFill>
            <a:schemeClr val="tx2"/>
          </a:solidFill>
          <a:ln/>
        </p:spPr>
      </p:sp>
      <p:sp>
        <p:nvSpPr>
          <p:cNvPr id="16" name="Text 14"/>
          <p:cNvSpPr txBox="1"/>
          <p:nvPr/>
        </p:nvSpPr>
        <p:spPr>
          <a:xfrm>
            <a:off x="8503920" y="2011680"/>
            <a:ext cx="2743200" cy="685800"/>
          </a:xfrm>
          <a:prstGeom prst="rect">
            <a:avLst/>
          </a:prstGeom>
          <a:noFill/>
          <a:ln/>
        </p:spPr>
        <p:txBody>
          <a:bodyPr wrap="square" lIns="0" tIns="0" rIns="0" bIns="0" rtlCol="0" anchor="t"/>
          <a:lstStyle/>
          <a:p>
            <a:pPr indent="0" marL="0">
              <a:buNone/>
            </a:pPr>
            <a:r>
              <a:rPr lang="en-US" sz="3400" b="1" dirty="0">
                <a:solidFill>
                  <a:schemeClr val="accent2"/>
                </a:solidFill>
              </a:rPr>
              <a:t>₹23.70 lakh</a:t>
            </a:r>
            <a:endParaRPr lang="en-US" sz="3400" dirty="0"/>
          </a:p>
        </p:txBody>
      </p:sp>
      <p:sp>
        <p:nvSpPr>
          <p:cNvPr id="17" name="Text 15"/>
          <p:cNvSpPr txBox="1"/>
          <p:nvPr/>
        </p:nvSpPr>
        <p:spPr>
          <a:xfrm>
            <a:off x="8503920" y="2697480"/>
            <a:ext cx="2743200" cy="365760"/>
          </a:xfrm>
          <a:prstGeom prst="rect">
            <a:avLst/>
          </a:prstGeom>
          <a:noFill/>
          <a:ln/>
        </p:spPr>
        <p:txBody>
          <a:bodyPr wrap="square" lIns="0" tIns="0" rIns="0" bIns="0" rtlCol="0" anchor="t"/>
          <a:lstStyle/>
          <a:p>
            <a:pPr indent="0" marL="0">
              <a:buNone/>
            </a:pPr>
            <a:r>
              <a:rPr lang="en-US" sz="1700" b="1" dirty="0">
                <a:solidFill>
                  <a:schemeClr val="bg1"/>
                </a:solidFill>
              </a:rPr>
              <a:t>Total build cost</a:t>
            </a:r>
            <a:endParaRPr lang="en-US" sz="1700" dirty="0"/>
          </a:p>
        </p:txBody>
      </p:sp>
      <p:sp>
        <p:nvSpPr>
          <p:cNvPr id="18" name="Text 16"/>
          <p:cNvSpPr txBox="1"/>
          <p:nvPr/>
        </p:nvSpPr>
        <p:spPr>
          <a:xfrm>
            <a:off x="8503920" y="3063240"/>
            <a:ext cx="2743200" cy="365760"/>
          </a:xfrm>
          <a:prstGeom prst="rect">
            <a:avLst/>
          </a:prstGeom>
          <a:noFill/>
          <a:ln/>
        </p:spPr>
        <p:txBody>
          <a:bodyPr wrap="square" lIns="0" tIns="0" rIns="0" bIns="0" rtlCol="0" anchor="t"/>
          <a:lstStyle/>
          <a:p>
            <a:pPr indent="0" marL="0">
              <a:buNone/>
            </a:pPr>
            <a:r>
              <a:rPr lang="en-US" sz="1300" dirty="0">
                <a:solidFill>
                  <a:srgbClr val="C9D3E3"/>
                </a:solidFill>
              </a:rPr>
              <a:t>Within the ₹25 lakh ceiling</a:t>
            </a:r>
            <a:endParaRPr lang="en-US" sz="1300" dirty="0"/>
          </a:p>
        </p:txBody>
      </p:sp>
      <p:sp>
        <p:nvSpPr>
          <p:cNvPr id="19" name="Text 17"/>
          <p:cNvSpPr txBox="1"/>
          <p:nvPr/>
        </p:nvSpPr>
        <p:spPr>
          <a:xfrm>
            <a:off x="548640" y="3931920"/>
            <a:ext cx="73152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NOT INCLUDED IN THE ONE-TIME COST</a:t>
            </a:r>
            <a:endParaRPr lang="en-US" sz="1200" dirty="0"/>
          </a:p>
        </p:txBody>
      </p:sp>
      <p:sp>
        <p:nvSpPr>
          <p:cNvPr id="20" name="Cloud / server"/>
          <p:cNvSpPr/>
          <p:nvPr/>
        </p:nvSpPr>
        <p:spPr>
          <a:xfrm>
            <a:off x="548640" y="4297680"/>
            <a:ext cx="2606040" cy="1600200"/>
          </a:xfrm>
          <a:prstGeom prst="roundRect">
            <a:avLst>
              <a:gd name="adj" fmla="val 6857"/>
            </a:avLst>
          </a:prstGeom>
          <a:solidFill>
            <a:schemeClr val="accent6">
              <a:alpha val="9000"/>
            </a:schemeClr>
          </a:solidFill>
          <a:ln/>
        </p:spPr>
      </p:sp>
      <p:sp>
        <p:nvSpPr>
          <p:cNvPr id="21" name="Cloud / server circle"/>
          <p:cNvSpPr/>
          <p:nvPr/>
        </p:nvSpPr>
        <p:spPr>
          <a:xfrm>
            <a:off x="777240" y="4462272"/>
            <a:ext cx="502920" cy="502920"/>
          </a:xfrm>
          <a:prstGeom prst="ellipse">
            <a:avLst/>
          </a:prstGeom>
          <a:solidFill>
            <a:schemeClr val="accent1"/>
          </a:solidFill>
          <a:ln/>
        </p:spPr>
      </p:sp>
      <p:pic>
        <p:nvPicPr>
          <p:cNvPr id="22" name="Cloud / server icon" descr="Cloud / server">    </p:cNvPr>
          <p:cNvPicPr>
            <a:picLocks noChangeAspect="1"/>
          </p:cNvPicPr>
          <p:nvPr/>
        </p:nvPicPr>
        <p:blipFill>
          <a:blip r:embed="rId1"/>
          <a:stretch>
            <a:fillRect/>
          </a:stretch>
        </p:blipFill>
        <p:spPr>
          <a:xfrm>
            <a:off x="902970" y="4588002"/>
            <a:ext cx="251460" cy="251460"/>
          </a:xfrm>
          <a:prstGeom prst="rect">
            <a:avLst/>
          </a:prstGeom>
        </p:spPr>
      </p:pic>
      <p:sp>
        <p:nvSpPr>
          <p:cNvPr id="23" name="Text 20"/>
          <p:cNvSpPr txBox="1"/>
          <p:nvPr/>
        </p:nvSpPr>
        <p:spPr>
          <a:xfrm>
            <a:off x="1417320" y="4462272"/>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Cloud / server</a:t>
            </a:r>
            <a:endParaRPr lang="en-US" sz="1500" dirty="0"/>
          </a:p>
        </p:txBody>
      </p:sp>
      <p:sp>
        <p:nvSpPr>
          <p:cNvPr id="24" name="Text 21"/>
          <p:cNvSpPr txBox="1"/>
          <p:nvPr/>
        </p:nvSpPr>
        <p:spPr>
          <a:xfrm>
            <a:off x="777240" y="5074920"/>
            <a:ext cx="2240280" cy="777240"/>
          </a:xfrm>
          <a:prstGeom prst="rect">
            <a:avLst/>
          </a:prstGeom>
          <a:noFill/>
          <a:ln/>
        </p:spPr>
        <p:txBody>
          <a:bodyPr wrap="square" lIns="0" tIns="0" rIns="0" bIns="0" rtlCol="0" anchor="t"/>
          <a:lstStyle/>
          <a:p>
            <a:pPr indent="0" marL="0">
              <a:buNone/>
            </a:pPr>
            <a:r>
              <a:rPr lang="en-US" sz="1300" dirty="0">
                <a:solidFill>
                  <a:schemeClr val="tx1"/>
                </a:solidFill>
              </a:rPr>
              <a:t>Billed separately; client may pay the provider directly</a:t>
            </a:r>
            <a:endParaRPr lang="en-US" sz="1300" dirty="0"/>
          </a:p>
        </p:txBody>
      </p:sp>
      <p:sp>
        <p:nvSpPr>
          <p:cNvPr id="25" name="AI usage"/>
          <p:cNvSpPr/>
          <p:nvPr/>
        </p:nvSpPr>
        <p:spPr>
          <a:xfrm>
            <a:off x="3364992" y="4297680"/>
            <a:ext cx="2606040" cy="1600200"/>
          </a:xfrm>
          <a:prstGeom prst="roundRect">
            <a:avLst>
              <a:gd name="adj" fmla="val 6857"/>
            </a:avLst>
          </a:prstGeom>
          <a:solidFill>
            <a:schemeClr val="accent6">
              <a:alpha val="9000"/>
            </a:schemeClr>
          </a:solidFill>
          <a:ln/>
        </p:spPr>
      </p:sp>
      <p:sp>
        <p:nvSpPr>
          <p:cNvPr id="26" name="AI usage circle"/>
          <p:cNvSpPr/>
          <p:nvPr/>
        </p:nvSpPr>
        <p:spPr>
          <a:xfrm>
            <a:off x="3593592" y="4462272"/>
            <a:ext cx="502920" cy="502920"/>
          </a:xfrm>
          <a:prstGeom prst="ellipse">
            <a:avLst/>
          </a:prstGeom>
          <a:solidFill>
            <a:schemeClr val="accent2"/>
          </a:solidFill>
          <a:ln/>
        </p:spPr>
      </p:sp>
      <p:pic>
        <p:nvPicPr>
          <p:cNvPr id="27" name="AI usage icon" descr="AI usage">    </p:cNvPr>
          <p:cNvPicPr>
            <a:picLocks noChangeAspect="1"/>
          </p:cNvPicPr>
          <p:nvPr/>
        </p:nvPicPr>
        <p:blipFill>
          <a:blip r:embed="rId2"/>
          <a:stretch>
            <a:fillRect/>
          </a:stretch>
        </p:blipFill>
        <p:spPr>
          <a:xfrm>
            <a:off x="3719322" y="4588002"/>
            <a:ext cx="251460" cy="251460"/>
          </a:xfrm>
          <a:prstGeom prst="rect">
            <a:avLst/>
          </a:prstGeom>
        </p:spPr>
      </p:pic>
      <p:sp>
        <p:nvSpPr>
          <p:cNvPr id="28" name="Text 24"/>
          <p:cNvSpPr txBox="1"/>
          <p:nvPr/>
        </p:nvSpPr>
        <p:spPr>
          <a:xfrm>
            <a:off x="4233672" y="4462272"/>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AI usage</a:t>
            </a:r>
            <a:endParaRPr lang="en-US" sz="1500" dirty="0"/>
          </a:p>
        </p:txBody>
      </p:sp>
      <p:sp>
        <p:nvSpPr>
          <p:cNvPr id="29" name="Text 25"/>
          <p:cNvSpPr txBox="1"/>
          <p:nvPr/>
        </p:nvSpPr>
        <p:spPr>
          <a:xfrm>
            <a:off x="3593592" y="5074920"/>
            <a:ext cx="2240280" cy="777240"/>
          </a:xfrm>
          <a:prstGeom prst="rect">
            <a:avLst/>
          </a:prstGeom>
          <a:noFill/>
          <a:ln/>
        </p:spPr>
        <p:txBody>
          <a:bodyPr wrap="square" lIns="0" tIns="0" rIns="0" bIns="0" rtlCol="0" anchor="t"/>
          <a:lstStyle/>
          <a:p>
            <a:pPr indent="0" marL="0">
              <a:buNone/>
            </a:pPr>
            <a:r>
              <a:rPr lang="en-US" sz="1300" dirty="0">
                <a:solidFill>
                  <a:schemeClr val="tx1"/>
                </a:solidFill>
              </a:rPr>
              <a:t>Pay-per-use; depends on active users, voice and model choice</a:t>
            </a:r>
            <a:endParaRPr lang="en-US" sz="1300" dirty="0"/>
          </a:p>
        </p:txBody>
      </p:sp>
      <p:sp>
        <p:nvSpPr>
          <p:cNvPr id="30" name="Annual maintenance"/>
          <p:cNvSpPr/>
          <p:nvPr/>
        </p:nvSpPr>
        <p:spPr>
          <a:xfrm>
            <a:off x="6181344" y="4297680"/>
            <a:ext cx="2606040" cy="1600200"/>
          </a:xfrm>
          <a:prstGeom prst="roundRect">
            <a:avLst>
              <a:gd name="adj" fmla="val 6857"/>
            </a:avLst>
          </a:prstGeom>
          <a:solidFill>
            <a:schemeClr val="accent6">
              <a:alpha val="9000"/>
            </a:schemeClr>
          </a:solidFill>
          <a:ln/>
        </p:spPr>
      </p:sp>
      <p:sp>
        <p:nvSpPr>
          <p:cNvPr id="31" name="Annual maintenance circle"/>
          <p:cNvSpPr/>
          <p:nvPr/>
        </p:nvSpPr>
        <p:spPr>
          <a:xfrm>
            <a:off x="6409944" y="4462272"/>
            <a:ext cx="502920" cy="502920"/>
          </a:xfrm>
          <a:prstGeom prst="ellipse">
            <a:avLst/>
          </a:prstGeom>
          <a:solidFill>
            <a:schemeClr val="accent3"/>
          </a:solidFill>
          <a:ln/>
        </p:spPr>
      </p:sp>
      <p:pic>
        <p:nvPicPr>
          <p:cNvPr id="32" name="Annual maintenance icon" descr="Annual maintenance">    </p:cNvPr>
          <p:cNvPicPr>
            <a:picLocks noChangeAspect="1"/>
          </p:cNvPicPr>
          <p:nvPr/>
        </p:nvPicPr>
        <p:blipFill>
          <a:blip r:embed="rId3"/>
          <a:stretch>
            <a:fillRect/>
          </a:stretch>
        </p:blipFill>
        <p:spPr>
          <a:xfrm>
            <a:off x="6535674" y="4588002"/>
            <a:ext cx="251460" cy="251460"/>
          </a:xfrm>
          <a:prstGeom prst="rect">
            <a:avLst/>
          </a:prstGeom>
        </p:spPr>
      </p:pic>
      <p:sp>
        <p:nvSpPr>
          <p:cNvPr id="33" name="Text 28"/>
          <p:cNvSpPr txBox="1"/>
          <p:nvPr/>
        </p:nvSpPr>
        <p:spPr>
          <a:xfrm>
            <a:off x="7050024" y="4462272"/>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Annual maintenance</a:t>
            </a:r>
            <a:endParaRPr lang="en-US" sz="1500" dirty="0"/>
          </a:p>
        </p:txBody>
      </p:sp>
      <p:sp>
        <p:nvSpPr>
          <p:cNvPr id="34" name="Text 29"/>
          <p:cNvSpPr txBox="1"/>
          <p:nvPr/>
        </p:nvSpPr>
        <p:spPr>
          <a:xfrm>
            <a:off x="6409944" y="5074920"/>
            <a:ext cx="2240280" cy="777240"/>
          </a:xfrm>
          <a:prstGeom prst="rect">
            <a:avLst/>
          </a:prstGeom>
          <a:noFill/>
          <a:ln/>
        </p:spPr>
        <p:txBody>
          <a:bodyPr wrap="square" lIns="0" tIns="0" rIns="0" bIns="0" rtlCol="0" anchor="t"/>
          <a:lstStyle/>
          <a:p>
            <a:pPr indent="0" marL="0">
              <a:buNone/>
            </a:pPr>
            <a:r>
              <a:rPr lang="en-US" sz="1300" dirty="0">
                <a:solidFill>
                  <a:schemeClr val="tx1"/>
                </a:solidFill>
              </a:rPr>
              <a:t>Separate AMC after the agreed warranty period</a:t>
            </a:r>
            <a:endParaRPr lang="en-US" sz="1300" dirty="0"/>
          </a:p>
        </p:txBody>
      </p:sp>
      <p:sp>
        <p:nvSpPr>
          <p:cNvPr id="35" name="Optional modules"/>
          <p:cNvSpPr/>
          <p:nvPr/>
        </p:nvSpPr>
        <p:spPr>
          <a:xfrm>
            <a:off x="8997696" y="4297680"/>
            <a:ext cx="2606040" cy="1600200"/>
          </a:xfrm>
          <a:prstGeom prst="roundRect">
            <a:avLst>
              <a:gd name="adj" fmla="val 6857"/>
            </a:avLst>
          </a:prstGeom>
          <a:solidFill>
            <a:schemeClr val="accent6">
              <a:alpha val="9000"/>
            </a:schemeClr>
          </a:solidFill>
          <a:ln/>
        </p:spPr>
      </p:sp>
      <p:sp>
        <p:nvSpPr>
          <p:cNvPr id="36" name="Optional modules circle"/>
          <p:cNvSpPr/>
          <p:nvPr/>
        </p:nvSpPr>
        <p:spPr>
          <a:xfrm>
            <a:off x="9226296" y="4462272"/>
            <a:ext cx="502920" cy="502920"/>
          </a:xfrm>
          <a:prstGeom prst="ellipse">
            <a:avLst/>
          </a:prstGeom>
          <a:solidFill>
            <a:schemeClr val="accent4"/>
          </a:solidFill>
          <a:ln/>
        </p:spPr>
      </p:sp>
      <p:pic>
        <p:nvPicPr>
          <p:cNvPr id="37" name="Optional modules icon" descr="Optional modules">    </p:cNvPr>
          <p:cNvPicPr>
            <a:picLocks noChangeAspect="1"/>
          </p:cNvPicPr>
          <p:nvPr/>
        </p:nvPicPr>
        <p:blipFill>
          <a:blip r:embed="rId4"/>
          <a:stretch>
            <a:fillRect/>
          </a:stretch>
        </p:blipFill>
        <p:spPr>
          <a:xfrm>
            <a:off x="9352026" y="4588002"/>
            <a:ext cx="251460" cy="251460"/>
          </a:xfrm>
          <a:prstGeom prst="rect">
            <a:avLst/>
          </a:prstGeom>
        </p:spPr>
      </p:pic>
      <p:sp>
        <p:nvSpPr>
          <p:cNvPr id="38" name="Text 32"/>
          <p:cNvSpPr txBox="1"/>
          <p:nvPr/>
        </p:nvSpPr>
        <p:spPr>
          <a:xfrm>
            <a:off x="9866376" y="4462272"/>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Optional modules</a:t>
            </a:r>
            <a:endParaRPr lang="en-US" sz="1500" dirty="0"/>
          </a:p>
        </p:txBody>
      </p:sp>
      <p:sp>
        <p:nvSpPr>
          <p:cNvPr id="39" name="Text 33"/>
          <p:cNvSpPr txBox="1"/>
          <p:nvPr/>
        </p:nvSpPr>
        <p:spPr>
          <a:xfrm>
            <a:off x="9226296" y="5074920"/>
            <a:ext cx="2240280" cy="777240"/>
          </a:xfrm>
          <a:prstGeom prst="rect">
            <a:avLst/>
          </a:prstGeom>
          <a:noFill/>
          <a:ln/>
        </p:spPr>
        <p:txBody>
          <a:bodyPr wrap="square" lIns="0" tIns="0" rIns="0" bIns="0" rtlCol="0" anchor="t"/>
          <a:lstStyle/>
          <a:p>
            <a:pPr indent="0" marL="0">
              <a:buNone/>
            </a:pPr>
            <a:r>
              <a:rPr lang="en-US" sz="1300" dirty="0">
                <a:solidFill>
                  <a:schemeClr val="tx1"/>
                </a:solidFill>
              </a:rPr>
              <a:t>Voice/avatar tutor, 3D simulations, coaching/UPSC</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RUNNING COSTS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Running costs grow with real usage</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Planning scenario at full national scale — not a quote, guarantee or fixed price.</a:t>
            </a:r>
            <a:endParaRPr lang="en-US" sz="1600" dirty="0"/>
          </a:p>
        </p:txBody>
      </p:sp>
      <p:graphicFrame>
        <p:nvGraphicFramePr>
          <p:cNvPr id="5" name="Chart 0" descr=""/>
          <p:cNvGraphicFramePr/>
          <p:nvPr/>
        </p:nvGraphicFramePr>
        <p:xfrm>
          <a:off x="548640" y="1783080"/>
          <a:ext cx="4572000" cy="4114800"/>
        </p:xfrm>
        <a:graphic xmlns:a="http://schemas.openxmlformats.org/drawingml/2006/main">
          <a:graphicData uri="http://schemas.openxmlformats.org/drawingml/2006/chart">
            <c:chart xmlns:c="http://schemas.openxmlformats.org/drawingml/2006/chart" r:id="rId1"/>
          </a:graphicData>
        </a:graphic>
      </p:graphicFrame>
      <p:sp>
        <p:nvSpPr>
          <p:cNvPr id="6" name="students in the scenario"/>
          <p:cNvSpPr/>
          <p:nvPr/>
        </p:nvSpPr>
        <p:spPr>
          <a:xfrm>
            <a:off x="5394960" y="1828800"/>
            <a:ext cx="6245352" cy="941832"/>
          </a:xfrm>
          <a:prstGeom prst="roundRect">
            <a:avLst>
              <a:gd name="adj" fmla="val 1165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5623560" y="1828800"/>
            <a:ext cx="2651760" cy="941832"/>
          </a:xfrm>
          <a:prstGeom prst="rect">
            <a:avLst/>
          </a:prstGeom>
          <a:noFill/>
          <a:ln/>
        </p:spPr>
        <p:txBody>
          <a:bodyPr wrap="square" lIns="0" tIns="0" rIns="0" bIns="0" rtlCol="0" anchor="ctr"/>
          <a:lstStyle/>
          <a:p>
            <a:pPr indent="0" marL="0">
              <a:buNone/>
            </a:pPr>
            <a:r>
              <a:rPr lang="en-US" sz="2600" b="1" dirty="0">
                <a:solidFill>
                  <a:schemeClr val="accent1"/>
                </a:solidFill>
              </a:rPr>
              <a:t>1 crore</a:t>
            </a:r>
            <a:endParaRPr lang="en-US" sz="2600" dirty="0"/>
          </a:p>
        </p:txBody>
      </p:sp>
      <p:sp>
        <p:nvSpPr>
          <p:cNvPr id="8" name="Text 5"/>
          <p:cNvSpPr txBox="1"/>
          <p:nvPr/>
        </p:nvSpPr>
        <p:spPr>
          <a:xfrm>
            <a:off x="8321040" y="1828800"/>
            <a:ext cx="3200400" cy="941832"/>
          </a:xfrm>
          <a:prstGeom prst="rect">
            <a:avLst/>
          </a:prstGeom>
          <a:noFill/>
          <a:ln/>
        </p:spPr>
        <p:txBody>
          <a:bodyPr wrap="square" lIns="0" tIns="0" rIns="0" bIns="0" rtlCol="0" anchor="ctr"/>
          <a:lstStyle/>
          <a:p>
            <a:pPr indent="0" marL="0">
              <a:buNone/>
            </a:pPr>
            <a:r>
              <a:rPr lang="en-US" sz="1500" b="1" dirty="0">
                <a:solidFill>
                  <a:schemeClr val="tx2"/>
                </a:solidFill>
              </a:rPr>
              <a:t>students in the scenario</a:t>
            </a:r>
            <a:endParaRPr lang="en-US" sz="1500" dirty="0"/>
          </a:p>
          <a:p>
            <a:pPr indent="0" marL="0">
              <a:buNone/>
            </a:pPr>
            <a:r>
              <a:rPr lang="en-US" sz="1300" dirty="0">
                <a:solidFill>
                  <a:schemeClr val="accent6"/>
                </a:solidFill>
              </a:rPr>
              <a:t>40,000 schools × 250 students</a:t>
            </a:r>
            <a:endParaRPr lang="en-US" sz="1500" dirty="0"/>
          </a:p>
        </p:txBody>
      </p:sp>
      <p:sp>
        <p:nvSpPr>
          <p:cNvPr id="9" name="per month, before GST"/>
          <p:cNvSpPr/>
          <p:nvPr/>
        </p:nvSpPr>
        <p:spPr>
          <a:xfrm>
            <a:off x="5394960" y="2907792"/>
            <a:ext cx="6245352" cy="941832"/>
          </a:xfrm>
          <a:prstGeom prst="roundRect">
            <a:avLst>
              <a:gd name="adj" fmla="val 1165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5623560" y="2907792"/>
            <a:ext cx="2651760" cy="941832"/>
          </a:xfrm>
          <a:prstGeom prst="rect">
            <a:avLst/>
          </a:prstGeom>
          <a:noFill/>
          <a:ln/>
        </p:spPr>
        <p:txBody>
          <a:bodyPr wrap="square" lIns="0" tIns="0" rIns="0" bIns="0" rtlCol="0" anchor="ctr"/>
          <a:lstStyle/>
          <a:p>
            <a:pPr indent="0" marL="0">
              <a:buNone/>
            </a:pPr>
            <a:r>
              <a:rPr lang="en-US" sz="2600" b="1" dirty="0">
                <a:solidFill>
                  <a:schemeClr val="accent2"/>
                </a:solidFill>
              </a:rPr>
              <a:t>₹14.70 crore</a:t>
            </a:r>
            <a:endParaRPr lang="en-US" sz="2600" dirty="0"/>
          </a:p>
        </p:txBody>
      </p:sp>
      <p:sp>
        <p:nvSpPr>
          <p:cNvPr id="11" name="Text 8"/>
          <p:cNvSpPr txBox="1"/>
          <p:nvPr/>
        </p:nvSpPr>
        <p:spPr>
          <a:xfrm>
            <a:off x="8321040" y="2907792"/>
            <a:ext cx="3200400" cy="941832"/>
          </a:xfrm>
          <a:prstGeom prst="rect">
            <a:avLst/>
          </a:prstGeom>
          <a:noFill/>
          <a:ln/>
        </p:spPr>
        <p:txBody>
          <a:bodyPr wrap="square" lIns="0" tIns="0" rIns="0" bIns="0" rtlCol="0" anchor="ctr"/>
          <a:lstStyle/>
          <a:p>
            <a:pPr indent="0" marL="0">
              <a:buNone/>
            </a:pPr>
            <a:r>
              <a:rPr lang="en-US" sz="1500" b="1" dirty="0">
                <a:solidFill>
                  <a:schemeClr val="tx2"/>
                </a:solidFill>
              </a:rPr>
              <a:t>per month, before GST</a:t>
            </a:r>
            <a:endParaRPr lang="en-US" sz="1500" dirty="0"/>
          </a:p>
          <a:p>
            <a:pPr indent="0" marL="0">
              <a:buNone/>
            </a:pPr>
            <a:r>
              <a:rPr lang="en-US" sz="1300" dirty="0">
                <a:solidFill>
                  <a:schemeClr val="accent6"/>
                </a:solidFill>
              </a:rPr>
              <a:t>≈ ₹17.35 crore with 18% GST</a:t>
            </a:r>
            <a:endParaRPr lang="en-US" sz="1500" dirty="0"/>
          </a:p>
        </p:txBody>
      </p:sp>
      <p:sp>
        <p:nvSpPr>
          <p:cNvPr id="12" name="per student per month"/>
          <p:cNvSpPr/>
          <p:nvPr/>
        </p:nvSpPr>
        <p:spPr>
          <a:xfrm>
            <a:off x="5394960" y="3986784"/>
            <a:ext cx="6245352" cy="941832"/>
          </a:xfrm>
          <a:prstGeom prst="roundRect">
            <a:avLst>
              <a:gd name="adj" fmla="val 1165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5623560" y="3986784"/>
            <a:ext cx="2651760" cy="941832"/>
          </a:xfrm>
          <a:prstGeom prst="rect">
            <a:avLst/>
          </a:prstGeom>
          <a:noFill/>
          <a:ln/>
        </p:spPr>
        <p:txBody>
          <a:bodyPr wrap="square" lIns="0" tIns="0" rIns="0" bIns="0" rtlCol="0" anchor="ctr"/>
          <a:lstStyle/>
          <a:p>
            <a:pPr indent="0" marL="0">
              <a:buNone/>
            </a:pPr>
            <a:r>
              <a:rPr lang="en-US" sz="2600" b="1" dirty="0">
                <a:solidFill>
                  <a:schemeClr val="accent3"/>
                </a:solidFill>
              </a:rPr>
              <a:t>≈ ₹14.70</a:t>
            </a:r>
            <a:endParaRPr lang="en-US" sz="2600" dirty="0"/>
          </a:p>
        </p:txBody>
      </p:sp>
      <p:sp>
        <p:nvSpPr>
          <p:cNvPr id="14" name="Text 11"/>
          <p:cNvSpPr txBox="1"/>
          <p:nvPr/>
        </p:nvSpPr>
        <p:spPr>
          <a:xfrm>
            <a:off x="8321040" y="3986784"/>
            <a:ext cx="3200400" cy="941832"/>
          </a:xfrm>
          <a:prstGeom prst="rect">
            <a:avLst/>
          </a:prstGeom>
          <a:noFill/>
          <a:ln/>
        </p:spPr>
        <p:txBody>
          <a:bodyPr wrap="square" lIns="0" tIns="0" rIns="0" bIns="0" rtlCol="0" anchor="ctr"/>
          <a:lstStyle/>
          <a:p>
            <a:pPr indent="0" marL="0">
              <a:buNone/>
            </a:pPr>
            <a:r>
              <a:rPr lang="en-US" sz="1500" b="1" dirty="0">
                <a:solidFill>
                  <a:schemeClr val="tx2"/>
                </a:solidFill>
              </a:rPr>
              <a:t>per student per month</a:t>
            </a:r>
            <a:endParaRPr lang="en-US" sz="1500" dirty="0"/>
          </a:p>
          <a:p>
            <a:pPr indent="0" marL="0">
              <a:buNone/>
            </a:pPr>
            <a:r>
              <a:rPr lang="en-US" sz="1300" dirty="0">
                <a:solidFill>
                  <a:schemeClr val="accent6"/>
                </a:solidFill>
              </a:rPr>
              <a:t>AI is about ₹12 of this</a:t>
            </a:r>
            <a:endParaRPr lang="en-US" sz="1500" dirty="0"/>
          </a:p>
        </p:txBody>
      </p:sp>
      <p:sp>
        <p:nvSpPr>
          <p:cNvPr id="15" name="levers"/>
          <p:cNvSpPr/>
          <p:nvPr/>
        </p:nvSpPr>
        <p:spPr>
          <a:xfrm>
            <a:off x="5394960" y="5120640"/>
            <a:ext cx="6245352" cy="777240"/>
          </a:xfrm>
          <a:prstGeom prst="roundRect">
            <a:avLst>
              <a:gd name="adj" fmla="val 14118"/>
            </a:avLst>
          </a:prstGeom>
          <a:solidFill>
            <a:schemeClr val="accent1">
              <a:alpha val="12000"/>
            </a:schemeClr>
          </a:solidFill>
          <a:ln/>
        </p:spPr>
      </p:sp>
      <p:sp>
        <p:nvSpPr>
          <p:cNvPr id="16" name="Text 13"/>
          <p:cNvSpPr txBox="1"/>
          <p:nvPr/>
        </p:nvSpPr>
        <p:spPr>
          <a:xfrm>
            <a:off x="5577840" y="5120640"/>
            <a:ext cx="5897880" cy="777240"/>
          </a:xfrm>
          <a:prstGeom prst="rect">
            <a:avLst/>
          </a:prstGeom>
          <a:noFill/>
          <a:ln/>
        </p:spPr>
        <p:txBody>
          <a:bodyPr wrap="square" lIns="0" tIns="0" rIns="0" bIns="0" rtlCol="0" anchor="ctr"/>
          <a:lstStyle/>
          <a:p>
            <a:pPr indent="0" marL="0">
              <a:buNone/>
            </a:pPr>
            <a:r>
              <a:rPr lang="en-US" sz="1300" b="1" dirty="0">
                <a:solidFill>
                  <a:schemeClr val="accent1"/>
                </a:solidFill>
              </a:rPr>
              <a:t>How we keep it low: </a:t>
            </a:r>
            <a:pPr indent="0" marL="0">
              <a:buNone/>
            </a:pPr>
            <a:r>
              <a:rPr lang="en-US" sz="1300" dirty="0">
                <a:solidFill>
                  <a:schemeClr val="tx1"/>
                </a:solidFill>
              </a:rPr>
              <a:t>usage limits, caching, smaller models for routine tasks, textbook-based answers and per-school alerts.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DECISIONS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11 FRD decisions — our suggested answers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Recommended defaults to speed up the joint workshop. Every one can be changed.</a:t>
            </a:r>
            <a:endParaRPr lang="en-US" sz="1600" dirty="0"/>
          </a:p>
        </p:txBody>
      </p:sp>
      <p:sp>
        <p:nvSpPr>
          <p:cNvPr id="5" name="Pilot scope"/>
          <p:cNvSpPr/>
          <p:nvPr/>
        </p:nvSpPr>
        <p:spPr>
          <a:xfrm>
            <a:off x="548640" y="1828800"/>
            <a:ext cx="5440680" cy="603504"/>
          </a:xfrm>
          <a:prstGeom prst="roundRect">
            <a:avLst>
              <a:gd name="adj" fmla="val 18182"/>
            </a:avLst>
          </a:prstGeom>
          <a:solidFill>
            <a:schemeClr val="accent4">
              <a:alpha val="8000"/>
            </a:schemeClr>
          </a:solidFill>
          <a:ln/>
        </p:spPr>
      </p:sp>
      <p:sp>
        <p:nvSpPr>
          <p:cNvPr id="6" name="num"/>
          <p:cNvSpPr/>
          <p:nvPr/>
        </p:nvSpPr>
        <p:spPr>
          <a:xfrm>
            <a:off x="685800" y="1965960"/>
            <a:ext cx="329184" cy="329184"/>
          </a:xfrm>
          <a:prstGeom prst="ellipse">
            <a:avLst/>
          </a:prstGeom>
          <a:solidFill>
            <a:schemeClr val="accent4"/>
          </a:solidFill>
          <a:ln/>
        </p:spPr>
      </p:sp>
      <p:sp>
        <p:nvSpPr>
          <p:cNvPr id="7" name="Text 5"/>
          <p:cNvSpPr txBox="1"/>
          <p:nvPr/>
        </p:nvSpPr>
        <p:spPr>
          <a:xfrm>
            <a:off x="685800" y="19659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6"/>
          <p:cNvSpPr txBox="1"/>
          <p:nvPr/>
        </p:nvSpPr>
        <p:spPr>
          <a:xfrm>
            <a:off x="1143000" y="18470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Pilot scope</a:t>
            </a:r>
            <a:endParaRPr lang="en-US" sz="1400" dirty="0"/>
          </a:p>
          <a:p>
            <a:pPr indent="0" marL="0">
              <a:buNone/>
            </a:pPr>
            <a:r>
              <a:rPr lang="en-US" sz="1300" dirty="0">
                <a:solidFill>
                  <a:schemeClr val="tx1"/>
                </a:solidFill>
              </a:rPr>
              <a:t>Mixed urban, rural and tribal schools; size agreed together</a:t>
            </a:r>
            <a:endParaRPr lang="en-US" sz="1400" dirty="0"/>
          </a:p>
        </p:txBody>
      </p:sp>
      <p:sp>
        <p:nvSpPr>
          <p:cNvPr id="9" name="Classes, boards, languages"/>
          <p:cNvSpPr/>
          <p:nvPr/>
        </p:nvSpPr>
        <p:spPr>
          <a:xfrm>
            <a:off x="548640" y="2514600"/>
            <a:ext cx="5440680" cy="603504"/>
          </a:xfrm>
          <a:prstGeom prst="roundRect">
            <a:avLst>
              <a:gd name="adj" fmla="val 18182"/>
            </a:avLst>
          </a:prstGeom>
          <a:solidFill>
            <a:schemeClr val="accent4">
              <a:alpha val="8000"/>
            </a:schemeClr>
          </a:solidFill>
          <a:ln/>
        </p:spPr>
      </p:sp>
      <p:sp>
        <p:nvSpPr>
          <p:cNvPr id="10" name="num"/>
          <p:cNvSpPr/>
          <p:nvPr/>
        </p:nvSpPr>
        <p:spPr>
          <a:xfrm>
            <a:off x="685800" y="2651760"/>
            <a:ext cx="329184" cy="329184"/>
          </a:xfrm>
          <a:prstGeom prst="ellipse">
            <a:avLst/>
          </a:prstGeom>
          <a:solidFill>
            <a:schemeClr val="accent4"/>
          </a:solidFill>
          <a:ln/>
        </p:spPr>
      </p:sp>
      <p:sp>
        <p:nvSpPr>
          <p:cNvPr id="11" name="Text 9"/>
          <p:cNvSpPr txBox="1"/>
          <p:nvPr/>
        </p:nvSpPr>
        <p:spPr>
          <a:xfrm>
            <a:off x="685800" y="26517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10"/>
          <p:cNvSpPr txBox="1"/>
          <p:nvPr/>
        </p:nvSpPr>
        <p:spPr>
          <a:xfrm>
            <a:off x="1143000" y="25328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Classes, boards, languages</a:t>
            </a:r>
            <a:endParaRPr lang="en-US" sz="1400" dirty="0"/>
          </a:p>
          <a:p>
            <a:pPr indent="0" marL="0">
              <a:buNone/>
            </a:pPr>
            <a:r>
              <a:rPr lang="en-US" sz="1300" dirty="0">
                <a:solidFill>
                  <a:schemeClr val="tx1"/>
                </a:solidFill>
              </a:rPr>
              <a:t>Classes 1–12, CGBSE and NCERT; Hindi and English first</a:t>
            </a:r>
            <a:endParaRPr lang="en-US" sz="1400" dirty="0"/>
          </a:p>
        </p:txBody>
      </p:sp>
      <p:sp>
        <p:nvSpPr>
          <p:cNvPr id="13" name="Who supplies content"/>
          <p:cNvSpPr/>
          <p:nvPr/>
        </p:nvSpPr>
        <p:spPr>
          <a:xfrm>
            <a:off x="548640" y="3200400"/>
            <a:ext cx="5440680" cy="603504"/>
          </a:xfrm>
          <a:prstGeom prst="roundRect">
            <a:avLst>
              <a:gd name="adj" fmla="val 18182"/>
            </a:avLst>
          </a:prstGeom>
          <a:solidFill>
            <a:schemeClr val="accent4">
              <a:alpha val="8000"/>
            </a:schemeClr>
          </a:solidFill>
          <a:ln/>
        </p:spPr>
      </p:sp>
      <p:sp>
        <p:nvSpPr>
          <p:cNvPr id="14" name="num"/>
          <p:cNvSpPr/>
          <p:nvPr/>
        </p:nvSpPr>
        <p:spPr>
          <a:xfrm>
            <a:off x="685800" y="3337560"/>
            <a:ext cx="329184" cy="329184"/>
          </a:xfrm>
          <a:prstGeom prst="ellipse">
            <a:avLst/>
          </a:prstGeom>
          <a:solidFill>
            <a:schemeClr val="accent4"/>
          </a:solidFill>
          <a:ln/>
        </p:spPr>
      </p:sp>
      <p:sp>
        <p:nvSpPr>
          <p:cNvPr id="15" name="Text 13"/>
          <p:cNvSpPr txBox="1"/>
          <p:nvPr/>
        </p:nvSpPr>
        <p:spPr>
          <a:xfrm>
            <a:off x="685800" y="33375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4"/>
          <p:cNvSpPr txBox="1"/>
          <p:nvPr/>
        </p:nvSpPr>
        <p:spPr>
          <a:xfrm>
            <a:off x="1143000" y="32186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Who supplies content</a:t>
            </a:r>
            <a:endParaRPr lang="en-US" sz="1400" dirty="0"/>
          </a:p>
          <a:p>
            <a:pPr indent="0" marL="0">
              <a:buNone/>
            </a:pPr>
            <a:r>
              <a:rPr lang="en-US" sz="1300" dirty="0">
                <a:solidFill>
                  <a:schemeClr val="tx1"/>
                </a:solidFill>
              </a:rPr>
              <a:t>School/department approves content; we build the library</a:t>
            </a:r>
            <a:endParaRPr lang="en-US" sz="1400" dirty="0"/>
          </a:p>
        </p:txBody>
      </p:sp>
      <p:sp>
        <p:nvSpPr>
          <p:cNvPr id="17" name="Substitute approval"/>
          <p:cNvSpPr/>
          <p:nvPr/>
        </p:nvSpPr>
        <p:spPr>
          <a:xfrm>
            <a:off x="548640" y="3886200"/>
            <a:ext cx="5440680" cy="603504"/>
          </a:xfrm>
          <a:prstGeom prst="roundRect">
            <a:avLst>
              <a:gd name="adj" fmla="val 18182"/>
            </a:avLst>
          </a:prstGeom>
          <a:solidFill>
            <a:schemeClr val="accent4">
              <a:alpha val="8000"/>
            </a:schemeClr>
          </a:solidFill>
          <a:ln/>
        </p:spPr>
      </p:sp>
      <p:sp>
        <p:nvSpPr>
          <p:cNvPr id="18" name="num"/>
          <p:cNvSpPr/>
          <p:nvPr/>
        </p:nvSpPr>
        <p:spPr>
          <a:xfrm>
            <a:off x="685800" y="4023360"/>
            <a:ext cx="329184" cy="329184"/>
          </a:xfrm>
          <a:prstGeom prst="ellipse">
            <a:avLst/>
          </a:prstGeom>
          <a:solidFill>
            <a:schemeClr val="accent4"/>
          </a:solidFill>
          <a:ln/>
        </p:spPr>
      </p:sp>
      <p:sp>
        <p:nvSpPr>
          <p:cNvPr id="19" name="Text 17"/>
          <p:cNvSpPr txBox="1"/>
          <p:nvPr/>
        </p:nvSpPr>
        <p:spPr>
          <a:xfrm>
            <a:off x="685800" y="40233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8"/>
          <p:cNvSpPr txBox="1"/>
          <p:nvPr/>
        </p:nvSpPr>
        <p:spPr>
          <a:xfrm>
            <a:off x="1143000" y="39044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Substitute approval</a:t>
            </a:r>
            <a:endParaRPr lang="en-US" sz="1400" dirty="0"/>
          </a:p>
          <a:p>
            <a:pPr indent="0" marL="0">
              <a:buNone/>
            </a:pPr>
            <a:r>
              <a:rPr lang="en-US" sz="1300" dirty="0">
                <a:solidFill>
                  <a:schemeClr val="tx1"/>
                </a:solidFill>
              </a:rPr>
              <a:t>Principal approves by default; automatic only if policy allows</a:t>
            </a:r>
            <a:endParaRPr lang="en-US" sz="1400" dirty="0"/>
          </a:p>
        </p:txBody>
      </p:sp>
      <p:sp>
        <p:nvSpPr>
          <p:cNvPr id="21" name="Teachers from nearby schools"/>
          <p:cNvSpPr/>
          <p:nvPr/>
        </p:nvSpPr>
        <p:spPr>
          <a:xfrm>
            <a:off x="548640" y="4572000"/>
            <a:ext cx="5440680" cy="603504"/>
          </a:xfrm>
          <a:prstGeom prst="roundRect">
            <a:avLst>
              <a:gd name="adj" fmla="val 18182"/>
            </a:avLst>
          </a:prstGeom>
          <a:solidFill>
            <a:schemeClr val="accent4">
              <a:alpha val="8000"/>
            </a:schemeClr>
          </a:solidFill>
          <a:ln/>
        </p:spPr>
      </p:sp>
      <p:sp>
        <p:nvSpPr>
          <p:cNvPr id="22" name="num"/>
          <p:cNvSpPr/>
          <p:nvPr/>
        </p:nvSpPr>
        <p:spPr>
          <a:xfrm>
            <a:off x="685800" y="4709160"/>
            <a:ext cx="329184" cy="329184"/>
          </a:xfrm>
          <a:prstGeom prst="ellipse">
            <a:avLst/>
          </a:prstGeom>
          <a:solidFill>
            <a:schemeClr val="accent4"/>
          </a:solidFill>
          <a:ln/>
        </p:spPr>
      </p:sp>
      <p:sp>
        <p:nvSpPr>
          <p:cNvPr id="23" name="Text 21"/>
          <p:cNvSpPr txBox="1"/>
          <p:nvPr/>
        </p:nvSpPr>
        <p:spPr>
          <a:xfrm>
            <a:off x="685800" y="47091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4" name="Text 22"/>
          <p:cNvSpPr txBox="1"/>
          <p:nvPr/>
        </p:nvSpPr>
        <p:spPr>
          <a:xfrm>
            <a:off x="1143000" y="45902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Teachers from nearby schools</a:t>
            </a:r>
            <a:endParaRPr lang="en-US" sz="1400" dirty="0"/>
          </a:p>
          <a:p>
            <a:pPr indent="0" marL="0">
              <a:buNone/>
            </a:pPr>
            <a:r>
              <a:rPr lang="en-US" sz="1300" dirty="0">
                <a:solidFill>
                  <a:schemeClr val="tx1"/>
                </a:solidFill>
              </a:rPr>
              <a:t>Later phase, under district rules</a:t>
            </a:r>
            <a:endParaRPr lang="en-US" sz="1400" dirty="0"/>
          </a:p>
        </p:txBody>
      </p:sp>
      <p:sp>
        <p:nvSpPr>
          <p:cNvPr id="25" name="AI avatar in release one"/>
          <p:cNvSpPr/>
          <p:nvPr/>
        </p:nvSpPr>
        <p:spPr>
          <a:xfrm>
            <a:off x="548640" y="5257800"/>
            <a:ext cx="5440680" cy="603504"/>
          </a:xfrm>
          <a:prstGeom prst="roundRect">
            <a:avLst>
              <a:gd name="adj" fmla="val 18182"/>
            </a:avLst>
          </a:prstGeom>
          <a:solidFill>
            <a:schemeClr val="accent4">
              <a:alpha val="8000"/>
            </a:schemeClr>
          </a:solidFill>
          <a:ln/>
        </p:spPr>
      </p:sp>
      <p:sp>
        <p:nvSpPr>
          <p:cNvPr id="26" name="num"/>
          <p:cNvSpPr/>
          <p:nvPr/>
        </p:nvSpPr>
        <p:spPr>
          <a:xfrm>
            <a:off x="685800" y="5394960"/>
            <a:ext cx="329184" cy="329184"/>
          </a:xfrm>
          <a:prstGeom prst="ellipse">
            <a:avLst/>
          </a:prstGeom>
          <a:solidFill>
            <a:schemeClr val="accent4"/>
          </a:solidFill>
          <a:ln/>
        </p:spPr>
      </p:sp>
      <p:sp>
        <p:nvSpPr>
          <p:cNvPr id="27" name="Text 25"/>
          <p:cNvSpPr txBox="1"/>
          <p:nvPr/>
        </p:nvSpPr>
        <p:spPr>
          <a:xfrm>
            <a:off x="685800" y="53949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8" name="Text 26"/>
          <p:cNvSpPr txBox="1"/>
          <p:nvPr/>
        </p:nvSpPr>
        <p:spPr>
          <a:xfrm>
            <a:off x="1143000" y="52760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AI avatar in release one</a:t>
            </a:r>
            <a:endParaRPr lang="en-US" sz="1400" dirty="0"/>
          </a:p>
          <a:p>
            <a:pPr indent="0" marL="0">
              <a:buNone/>
            </a:pPr>
            <a:r>
              <a:rPr lang="en-US" sz="1300" dirty="0">
                <a:solidFill>
                  <a:schemeClr val="tx1"/>
                </a:solidFill>
              </a:rPr>
              <a:t>Text doubt help first; voice and avatar optional later</a:t>
            </a:r>
            <a:endParaRPr lang="en-US" sz="1400" dirty="0"/>
          </a:p>
        </p:txBody>
      </p:sp>
      <p:sp>
        <p:nvSpPr>
          <p:cNvPr id="29" name="Live virtual classes"/>
          <p:cNvSpPr/>
          <p:nvPr/>
        </p:nvSpPr>
        <p:spPr>
          <a:xfrm>
            <a:off x="6172200" y="1828800"/>
            <a:ext cx="5440680" cy="603504"/>
          </a:xfrm>
          <a:prstGeom prst="roundRect">
            <a:avLst>
              <a:gd name="adj" fmla="val 18182"/>
            </a:avLst>
          </a:prstGeom>
          <a:solidFill>
            <a:schemeClr val="accent1">
              <a:alpha val="8000"/>
            </a:schemeClr>
          </a:solidFill>
          <a:ln/>
        </p:spPr>
      </p:sp>
      <p:sp>
        <p:nvSpPr>
          <p:cNvPr id="30" name="num"/>
          <p:cNvSpPr/>
          <p:nvPr/>
        </p:nvSpPr>
        <p:spPr>
          <a:xfrm>
            <a:off x="6309360" y="1965960"/>
            <a:ext cx="329184" cy="329184"/>
          </a:xfrm>
          <a:prstGeom prst="ellipse">
            <a:avLst/>
          </a:prstGeom>
          <a:solidFill>
            <a:schemeClr val="accent1"/>
          </a:solidFill>
          <a:ln/>
        </p:spPr>
      </p:sp>
      <p:sp>
        <p:nvSpPr>
          <p:cNvPr id="31" name="Text 29"/>
          <p:cNvSpPr txBox="1"/>
          <p:nvPr/>
        </p:nvSpPr>
        <p:spPr>
          <a:xfrm>
            <a:off x="6309360" y="19659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2" name="Text 30"/>
          <p:cNvSpPr txBox="1"/>
          <p:nvPr/>
        </p:nvSpPr>
        <p:spPr>
          <a:xfrm>
            <a:off x="6766560" y="18470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Live virtual classes</a:t>
            </a:r>
            <a:endParaRPr lang="en-US" sz="1400" dirty="0"/>
          </a:p>
          <a:p>
            <a:pPr indent="0" marL="0">
              <a:buNone/>
            </a:pPr>
            <a:r>
              <a:rPr lang="en-US" sz="1300" dirty="0">
                <a:solidFill>
                  <a:schemeClr val="tx1"/>
                </a:solidFill>
              </a:rPr>
              <a:t>Not in release one; approved video digital class instead</a:t>
            </a:r>
            <a:endParaRPr lang="en-US" sz="1400" dirty="0"/>
          </a:p>
        </p:txBody>
      </p:sp>
      <p:sp>
        <p:nvSpPr>
          <p:cNvPr id="33" name="Systems to integrate"/>
          <p:cNvSpPr/>
          <p:nvPr/>
        </p:nvSpPr>
        <p:spPr>
          <a:xfrm>
            <a:off x="6172200" y="2514600"/>
            <a:ext cx="5440680" cy="603504"/>
          </a:xfrm>
          <a:prstGeom prst="roundRect">
            <a:avLst>
              <a:gd name="adj" fmla="val 18182"/>
            </a:avLst>
          </a:prstGeom>
          <a:solidFill>
            <a:schemeClr val="accent1">
              <a:alpha val="8000"/>
            </a:schemeClr>
          </a:solidFill>
          <a:ln/>
        </p:spPr>
      </p:sp>
      <p:sp>
        <p:nvSpPr>
          <p:cNvPr id="34" name="num"/>
          <p:cNvSpPr/>
          <p:nvPr/>
        </p:nvSpPr>
        <p:spPr>
          <a:xfrm>
            <a:off x="6309360" y="2651760"/>
            <a:ext cx="329184" cy="329184"/>
          </a:xfrm>
          <a:prstGeom prst="ellipse">
            <a:avLst/>
          </a:prstGeom>
          <a:solidFill>
            <a:schemeClr val="accent1"/>
          </a:solidFill>
          <a:ln/>
        </p:spPr>
      </p:sp>
      <p:sp>
        <p:nvSpPr>
          <p:cNvPr id="35" name="Text 33"/>
          <p:cNvSpPr txBox="1"/>
          <p:nvPr/>
        </p:nvSpPr>
        <p:spPr>
          <a:xfrm>
            <a:off x="6309360" y="26517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36" name="Text 34"/>
          <p:cNvSpPr txBox="1"/>
          <p:nvPr/>
        </p:nvSpPr>
        <p:spPr>
          <a:xfrm>
            <a:off x="6766560" y="25328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Systems to integrate</a:t>
            </a:r>
            <a:endParaRPr lang="en-US" sz="1400" dirty="0"/>
          </a:p>
          <a:p>
            <a:pPr indent="0" marL="0">
              <a:buNone/>
            </a:pPr>
            <a:r>
              <a:rPr lang="en-US" sz="1300" dirty="0">
                <a:solidFill>
                  <a:schemeClr val="tx1"/>
                </a:solidFill>
              </a:rPr>
              <a:t>Excel bulk upload first; other integrations after scoping</a:t>
            </a:r>
            <a:endParaRPr lang="en-US" sz="1400" dirty="0"/>
          </a:p>
        </p:txBody>
      </p:sp>
      <p:sp>
        <p:nvSpPr>
          <p:cNvPr id="37" name="Parent notification channels"/>
          <p:cNvSpPr/>
          <p:nvPr/>
        </p:nvSpPr>
        <p:spPr>
          <a:xfrm>
            <a:off x="6172200" y="3200400"/>
            <a:ext cx="5440680" cy="603504"/>
          </a:xfrm>
          <a:prstGeom prst="roundRect">
            <a:avLst>
              <a:gd name="adj" fmla="val 18182"/>
            </a:avLst>
          </a:prstGeom>
          <a:solidFill>
            <a:schemeClr val="accent1">
              <a:alpha val="8000"/>
            </a:schemeClr>
          </a:solidFill>
          <a:ln/>
        </p:spPr>
      </p:sp>
      <p:sp>
        <p:nvSpPr>
          <p:cNvPr id="38" name="num"/>
          <p:cNvSpPr/>
          <p:nvPr/>
        </p:nvSpPr>
        <p:spPr>
          <a:xfrm>
            <a:off x="6309360" y="3337560"/>
            <a:ext cx="329184" cy="329184"/>
          </a:xfrm>
          <a:prstGeom prst="ellipse">
            <a:avLst/>
          </a:prstGeom>
          <a:solidFill>
            <a:schemeClr val="accent1"/>
          </a:solidFill>
          <a:ln/>
        </p:spPr>
      </p:sp>
      <p:sp>
        <p:nvSpPr>
          <p:cNvPr id="39" name="Text 37"/>
          <p:cNvSpPr txBox="1"/>
          <p:nvPr/>
        </p:nvSpPr>
        <p:spPr>
          <a:xfrm>
            <a:off x="6309360" y="33375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9</a:t>
            </a:r>
            <a:endParaRPr lang="en-US" sz="1100" dirty="0"/>
          </a:p>
        </p:txBody>
      </p:sp>
      <p:sp>
        <p:nvSpPr>
          <p:cNvPr id="40" name="Text 38"/>
          <p:cNvSpPr txBox="1"/>
          <p:nvPr/>
        </p:nvSpPr>
        <p:spPr>
          <a:xfrm>
            <a:off x="6766560" y="32186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Parent notification channels</a:t>
            </a:r>
            <a:endParaRPr lang="en-US" sz="1400" dirty="0"/>
          </a:p>
          <a:p>
            <a:pPr indent="0" marL="0">
              <a:buNone/>
            </a:pPr>
            <a:r>
              <a:rPr lang="en-US" sz="1300" dirty="0">
                <a:solidFill>
                  <a:schemeClr val="tx1"/>
                </a:solidFill>
              </a:rPr>
              <a:t>SMS, WhatsApp and app alerts; provider charges paid by client</a:t>
            </a:r>
            <a:endParaRPr lang="en-US" sz="1400" dirty="0"/>
          </a:p>
        </p:txBody>
      </p:sp>
      <p:sp>
        <p:nvSpPr>
          <p:cNvPr id="41" name="Hosting, data and consent"/>
          <p:cNvSpPr/>
          <p:nvPr/>
        </p:nvSpPr>
        <p:spPr>
          <a:xfrm>
            <a:off x="6172200" y="3886200"/>
            <a:ext cx="5440680" cy="603504"/>
          </a:xfrm>
          <a:prstGeom prst="roundRect">
            <a:avLst>
              <a:gd name="adj" fmla="val 18182"/>
            </a:avLst>
          </a:prstGeom>
          <a:solidFill>
            <a:schemeClr val="accent1">
              <a:alpha val="8000"/>
            </a:schemeClr>
          </a:solidFill>
          <a:ln/>
        </p:spPr>
      </p:sp>
      <p:sp>
        <p:nvSpPr>
          <p:cNvPr id="42" name="num"/>
          <p:cNvSpPr/>
          <p:nvPr/>
        </p:nvSpPr>
        <p:spPr>
          <a:xfrm>
            <a:off x="6309360" y="4023360"/>
            <a:ext cx="329184" cy="329184"/>
          </a:xfrm>
          <a:prstGeom prst="ellipse">
            <a:avLst/>
          </a:prstGeom>
          <a:solidFill>
            <a:schemeClr val="accent1"/>
          </a:solidFill>
          <a:ln/>
        </p:spPr>
      </p:sp>
      <p:sp>
        <p:nvSpPr>
          <p:cNvPr id="43" name="Text 41"/>
          <p:cNvSpPr txBox="1"/>
          <p:nvPr/>
        </p:nvSpPr>
        <p:spPr>
          <a:xfrm>
            <a:off x="6309360" y="40233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10</a:t>
            </a:r>
            <a:endParaRPr lang="en-US" sz="1100" dirty="0"/>
          </a:p>
        </p:txBody>
      </p:sp>
      <p:sp>
        <p:nvSpPr>
          <p:cNvPr id="44" name="Text 42"/>
          <p:cNvSpPr txBox="1"/>
          <p:nvPr/>
        </p:nvSpPr>
        <p:spPr>
          <a:xfrm>
            <a:off x="6766560" y="39044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Hosting, data and consent</a:t>
            </a:r>
            <a:endParaRPr lang="en-US" sz="1400" dirty="0"/>
          </a:p>
          <a:p>
            <a:pPr indent="0" marL="0">
              <a:buNone/>
            </a:pPr>
            <a:r>
              <a:rPr lang="en-US" sz="1300" dirty="0">
                <a:solidFill>
                  <a:schemeClr val="tx1"/>
                </a:solidFill>
              </a:rPr>
              <a:t>India-hosted cloud; retention and consent rules agreed in design</a:t>
            </a:r>
            <a:endParaRPr lang="en-US" sz="1400" dirty="0"/>
          </a:p>
        </p:txBody>
      </p:sp>
      <p:sp>
        <p:nvSpPr>
          <p:cNvPr id="45" name="Assessment and ranking rules"/>
          <p:cNvSpPr/>
          <p:nvPr/>
        </p:nvSpPr>
        <p:spPr>
          <a:xfrm>
            <a:off x="6172200" y="4572000"/>
            <a:ext cx="5440680" cy="603504"/>
          </a:xfrm>
          <a:prstGeom prst="roundRect">
            <a:avLst>
              <a:gd name="adj" fmla="val 18182"/>
            </a:avLst>
          </a:prstGeom>
          <a:solidFill>
            <a:schemeClr val="accent1">
              <a:alpha val="8000"/>
            </a:schemeClr>
          </a:solidFill>
          <a:ln/>
        </p:spPr>
      </p:sp>
      <p:sp>
        <p:nvSpPr>
          <p:cNvPr id="46" name="num"/>
          <p:cNvSpPr/>
          <p:nvPr/>
        </p:nvSpPr>
        <p:spPr>
          <a:xfrm>
            <a:off x="6309360" y="4709160"/>
            <a:ext cx="329184" cy="329184"/>
          </a:xfrm>
          <a:prstGeom prst="ellipse">
            <a:avLst/>
          </a:prstGeom>
          <a:solidFill>
            <a:schemeClr val="accent1"/>
          </a:solidFill>
          <a:ln/>
        </p:spPr>
      </p:sp>
      <p:sp>
        <p:nvSpPr>
          <p:cNvPr id="47" name="Text 45"/>
          <p:cNvSpPr txBox="1"/>
          <p:nvPr/>
        </p:nvSpPr>
        <p:spPr>
          <a:xfrm>
            <a:off x="6309360" y="47091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11</a:t>
            </a:r>
            <a:endParaRPr lang="en-US" sz="1100" dirty="0"/>
          </a:p>
        </p:txBody>
      </p:sp>
      <p:sp>
        <p:nvSpPr>
          <p:cNvPr id="48" name="Text 46"/>
          <p:cNvSpPr txBox="1"/>
          <p:nvPr/>
        </p:nvSpPr>
        <p:spPr>
          <a:xfrm>
            <a:off x="6766560" y="4590288"/>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Assessment and ranking rules</a:t>
            </a:r>
            <a:endParaRPr lang="en-US" sz="1400" dirty="0"/>
          </a:p>
          <a:p>
            <a:pPr indent="0" marL="0">
              <a:buNone/>
            </a:pPr>
            <a:r>
              <a:rPr lang="en-US" sz="1300" dirty="0">
                <a:solidFill>
                  <a:schemeClr val="tx1"/>
                </a:solidFill>
              </a:rPr>
              <a:t>Configured per school policy; ranks never the only basis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457200"/>
            <a:ext cx="548640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NEXT STEPS</a:t>
            </a:r>
            <a:endParaRPr lang="en-US" sz="1300" dirty="0"/>
          </a:p>
        </p:txBody>
      </p:sp>
      <p:sp>
        <p:nvSpPr>
          <p:cNvPr id="3" name="Text 1"/>
          <p:cNvSpPr txBox="1"/>
          <p:nvPr/>
        </p:nvSpPr>
        <p:spPr>
          <a:xfrm>
            <a:off x="548640" y="822960"/>
            <a:ext cx="11094415" cy="731520"/>
          </a:xfrm>
          <a:prstGeom prst="rect">
            <a:avLst/>
          </a:prstGeom>
          <a:noFill/>
          <a:ln/>
        </p:spPr>
        <p:txBody>
          <a:bodyPr wrap="square" lIns="0" tIns="0" rIns="0" bIns="0" rtlCol="0" anchor="t"/>
          <a:lstStyle/>
          <a:p>
            <a:pPr indent="0" marL="0">
              <a:buNone/>
            </a:pPr>
            <a:r>
              <a:rPr lang="en-US" sz="3600" b="1" dirty="0">
                <a:solidFill>
                  <a:schemeClr val="bg1"/>
                </a:solidFill>
                <a:latin typeface="Arial" pitchFamily="34" charset="0"/>
                <a:ea typeface="Arial" pitchFamily="34" charset="-122"/>
                <a:cs typeface="Arial" pitchFamily="34" charset="-120"/>
              </a:rPr>
              <a:t>Agree. Build. Measure. Expand.</a:t>
            </a:r>
            <a:endParaRPr lang="en-US" sz="3600" dirty="0"/>
          </a:p>
        </p:txBody>
      </p:sp>
      <p:sp>
        <p:nvSpPr>
          <p:cNvPr id="4" name="Text 2"/>
          <p:cNvSpPr txBox="1"/>
          <p:nvPr/>
        </p:nvSpPr>
        <p:spPr>
          <a:xfrm>
            <a:off x="548640" y="1554480"/>
            <a:ext cx="11094415" cy="411480"/>
          </a:xfrm>
          <a:prstGeom prst="rect">
            <a:avLst/>
          </a:prstGeom>
          <a:noFill/>
          <a:ln/>
        </p:spPr>
        <p:txBody>
          <a:bodyPr wrap="square" lIns="0" tIns="0" rIns="0" bIns="0" rtlCol="0" anchor="t"/>
          <a:lstStyle/>
          <a:p>
            <a:pPr indent="0" marL="0">
              <a:buNone/>
            </a:pPr>
            <a:r>
              <a:rPr lang="en-US" sz="1800" dirty="0">
                <a:solidFill>
                  <a:srgbClr val="C9D3E3"/>
                </a:solidFill>
              </a:rPr>
              <a:t>Four decisions we need to start Phase 1.</a:t>
            </a:r>
            <a:endParaRPr lang="en-US" sz="1800" dirty="0"/>
          </a:p>
        </p:txBody>
      </p:sp>
      <p:sp>
        <p:nvSpPr>
          <p:cNvPr id="5" name="Lock Phase 1 scope"/>
          <p:cNvSpPr/>
          <p:nvPr/>
        </p:nvSpPr>
        <p:spPr>
          <a:xfrm>
            <a:off x="548640" y="2331720"/>
            <a:ext cx="5440680" cy="1463040"/>
          </a:xfrm>
          <a:prstGeom prst="roundRect">
            <a:avLst>
              <a:gd name="adj" fmla="val 7500"/>
            </a:avLst>
          </a:prstGeom>
          <a:solidFill>
            <a:srgbClr val="1E3A63"/>
          </a:solidFill>
          <a:ln/>
        </p:spPr>
      </p:sp>
      <p:sp>
        <p:nvSpPr>
          <p:cNvPr id="6" name="num"/>
          <p:cNvSpPr/>
          <p:nvPr/>
        </p:nvSpPr>
        <p:spPr>
          <a:xfrm>
            <a:off x="822960" y="2606040"/>
            <a:ext cx="640080" cy="640080"/>
          </a:xfrm>
          <a:prstGeom prst="ellipse">
            <a:avLst/>
          </a:prstGeom>
          <a:solidFill>
            <a:schemeClr val="accent2"/>
          </a:solidFill>
          <a:ln/>
        </p:spPr>
      </p:sp>
      <p:sp>
        <p:nvSpPr>
          <p:cNvPr id="7" name="Text 5"/>
          <p:cNvSpPr txBox="1"/>
          <p:nvPr/>
        </p:nvSpPr>
        <p:spPr>
          <a:xfrm>
            <a:off x="822960" y="260604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8" name="Text 6"/>
          <p:cNvSpPr txBox="1"/>
          <p:nvPr/>
        </p:nvSpPr>
        <p:spPr>
          <a:xfrm>
            <a:off x="1691640" y="2560320"/>
            <a:ext cx="4114800" cy="411480"/>
          </a:xfrm>
          <a:prstGeom prst="rect">
            <a:avLst/>
          </a:prstGeom>
          <a:noFill/>
          <a:ln/>
        </p:spPr>
        <p:txBody>
          <a:bodyPr wrap="square" lIns="0" tIns="0" rIns="0" bIns="0" rtlCol="0" anchor="t"/>
          <a:lstStyle/>
          <a:p>
            <a:pPr indent="0" marL="0">
              <a:buNone/>
            </a:pPr>
            <a:r>
              <a:rPr lang="en-US" sz="1900" b="1" dirty="0">
                <a:solidFill>
                  <a:schemeClr val="bg1"/>
                </a:solidFill>
              </a:rPr>
              <a:t>Lock Phase 1 scope</a:t>
            </a:r>
            <a:endParaRPr lang="en-US" sz="1900" dirty="0"/>
          </a:p>
        </p:txBody>
      </p:sp>
      <p:sp>
        <p:nvSpPr>
          <p:cNvPr id="9" name="Text 7"/>
          <p:cNvSpPr txBox="1"/>
          <p:nvPr/>
        </p:nvSpPr>
        <p:spPr>
          <a:xfrm>
            <a:off x="1691640" y="2990088"/>
            <a:ext cx="4114800" cy="685800"/>
          </a:xfrm>
          <a:prstGeom prst="rect">
            <a:avLst/>
          </a:prstGeom>
          <a:noFill/>
          <a:ln/>
        </p:spPr>
        <p:txBody>
          <a:bodyPr wrap="square" lIns="0" tIns="0" rIns="0" bIns="0" rtlCol="0" anchor="t"/>
          <a:lstStyle/>
          <a:p>
            <a:pPr indent="0" marL="0">
              <a:buNone/>
            </a:pPr>
            <a:r>
              <a:rPr lang="en-US" sz="1400" dirty="0">
                <a:solidFill>
                  <a:srgbClr val="C9D3E3"/>
                </a:solidFill>
              </a:rPr>
              <a:t>Agree screens, roles, workflows, data upload and acceptance criteria.</a:t>
            </a:r>
            <a:endParaRPr lang="en-US" sz="1400" dirty="0"/>
          </a:p>
        </p:txBody>
      </p:sp>
      <p:sp>
        <p:nvSpPr>
          <p:cNvPr id="10" name="Name decision owners"/>
          <p:cNvSpPr/>
          <p:nvPr/>
        </p:nvSpPr>
        <p:spPr>
          <a:xfrm>
            <a:off x="6172200" y="2331720"/>
            <a:ext cx="5440680" cy="1463040"/>
          </a:xfrm>
          <a:prstGeom prst="roundRect">
            <a:avLst>
              <a:gd name="adj" fmla="val 7500"/>
            </a:avLst>
          </a:prstGeom>
          <a:solidFill>
            <a:srgbClr val="1E3A63"/>
          </a:solidFill>
          <a:ln/>
        </p:spPr>
      </p:sp>
      <p:sp>
        <p:nvSpPr>
          <p:cNvPr id="11" name="num"/>
          <p:cNvSpPr/>
          <p:nvPr/>
        </p:nvSpPr>
        <p:spPr>
          <a:xfrm>
            <a:off x="6446520" y="2606040"/>
            <a:ext cx="640080" cy="640080"/>
          </a:xfrm>
          <a:prstGeom prst="ellipse">
            <a:avLst/>
          </a:prstGeom>
          <a:solidFill>
            <a:schemeClr val="accent2"/>
          </a:solidFill>
          <a:ln/>
        </p:spPr>
      </p:sp>
      <p:sp>
        <p:nvSpPr>
          <p:cNvPr id="12" name="Text 10"/>
          <p:cNvSpPr txBox="1"/>
          <p:nvPr/>
        </p:nvSpPr>
        <p:spPr>
          <a:xfrm>
            <a:off x="6446520" y="260604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13" name="Text 11"/>
          <p:cNvSpPr txBox="1"/>
          <p:nvPr/>
        </p:nvSpPr>
        <p:spPr>
          <a:xfrm>
            <a:off x="7315200" y="2560320"/>
            <a:ext cx="4114800" cy="411480"/>
          </a:xfrm>
          <a:prstGeom prst="rect">
            <a:avLst/>
          </a:prstGeom>
          <a:noFill/>
          <a:ln/>
        </p:spPr>
        <p:txBody>
          <a:bodyPr wrap="square" lIns="0" tIns="0" rIns="0" bIns="0" rtlCol="0" anchor="t"/>
          <a:lstStyle/>
          <a:p>
            <a:pPr indent="0" marL="0">
              <a:buNone/>
            </a:pPr>
            <a:r>
              <a:rPr lang="en-US" sz="1900" b="1" dirty="0">
                <a:solidFill>
                  <a:schemeClr val="bg1"/>
                </a:solidFill>
              </a:rPr>
              <a:t>Name decision owners</a:t>
            </a:r>
            <a:endParaRPr lang="en-US" sz="1900" dirty="0"/>
          </a:p>
        </p:txBody>
      </p:sp>
      <p:sp>
        <p:nvSpPr>
          <p:cNvPr id="14" name="Text 12"/>
          <p:cNvSpPr txBox="1"/>
          <p:nvPr/>
        </p:nvSpPr>
        <p:spPr>
          <a:xfrm>
            <a:off x="7315200" y="2990088"/>
            <a:ext cx="4114800" cy="685800"/>
          </a:xfrm>
          <a:prstGeom prst="rect">
            <a:avLst/>
          </a:prstGeom>
          <a:noFill/>
          <a:ln/>
        </p:spPr>
        <p:txBody>
          <a:bodyPr wrap="square" lIns="0" tIns="0" rIns="0" bIns="0" rtlCol="0" anchor="t"/>
          <a:lstStyle/>
          <a:p>
            <a:pPr indent="0" marL="0">
              <a:buNone/>
            </a:pPr>
            <a:r>
              <a:rPr lang="en-US" sz="1400" dirty="0">
                <a:solidFill>
                  <a:srgbClr val="C9D3E3"/>
                </a:solidFill>
              </a:rPr>
              <a:t>One business owner and one technical contact; weekly review and sign-off.</a:t>
            </a:r>
            <a:endParaRPr lang="en-US" sz="1400" dirty="0"/>
          </a:p>
        </p:txBody>
      </p:sp>
      <p:sp>
        <p:nvSpPr>
          <p:cNvPr id="15" name="Choose hosting"/>
          <p:cNvSpPr/>
          <p:nvPr/>
        </p:nvSpPr>
        <p:spPr>
          <a:xfrm>
            <a:off x="548640" y="4023360"/>
            <a:ext cx="5440680" cy="1463040"/>
          </a:xfrm>
          <a:prstGeom prst="roundRect">
            <a:avLst>
              <a:gd name="adj" fmla="val 7500"/>
            </a:avLst>
          </a:prstGeom>
          <a:solidFill>
            <a:srgbClr val="1E3A63"/>
          </a:solidFill>
          <a:ln/>
        </p:spPr>
      </p:sp>
      <p:sp>
        <p:nvSpPr>
          <p:cNvPr id="16" name="num"/>
          <p:cNvSpPr/>
          <p:nvPr/>
        </p:nvSpPr>
        <p:spPr>
          <a:xfrm>
            <a:off x="822960" y="4297680"/>
            <a:ext cx="640080" cy="640080"/>
          </a:xfrm>
          <a:prstGeom prst="ellipse">
            <a:avLst/>
          </a:prstGeom>
          <a:solidFill>
            <a:schemeClr val="accent2"/>
          </a:solidFill>
          <a:ln/>
        </p:spPr>
      </p:sp>
      <p:sp>
        <p:nvSpPr>
          <p:cNvPr id="17" name="Text 15"/>
          <p:cNvSpPr txBox="1"/>
          <p:nvPr/>
        </p:nvSpPr>
        <p:spPr>
          <a:xfrm>
            <a:off x="822960" y="429768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8" name="Text 16"/>
          <p:cNvSpPr txBox="1"/>
          <p:nvPr/>
        </p:nvSpPr>
        <p:spPr>
          <a:xfrm>
            <a:off x="1691640" y="4251960"/>
            <a:ext cx="4114800" cy="411480"/>
          </a:xfrm>
          <a:prstGeom prst="rect">
            <a:avLst/>
          </a:prstGeom>
          <a:noFill/>
          <a:ln/>
        </p:spPr>
        <p:txBody>
          <a:bodyPr wrap="square" lIns="0" tIns="0" rIns="0" bIns="0" rtlCol="0" anchor="t"/>
          <a:lstStyle/>
          <a:p>
            <a:pPr indent="0" marL="0">
              <a:buNone/>
            </a:pPr>
            <a:r>
              <a:rPr lang="en-US" sz="1900" b="1" dirty="0">
                <a:solidFill>
                  <a:schemeClr val="bg1"/>
                </a:solidFill>
              </a:rPr>
              <a:t>Choose hosting</a:t>
            </a:r>
            <a:endParaRPr lang="en-US" sz="1900" dirty="0"/>
          </a:p>
        </p:txBody>
      </p:sp>
      <p:sp>
        <p:nvSpPr>
          <p:cNvPr id="19" name="Text 17"/>
          <p:cNvSpPr txBox="1"/>
          <p:nvPr/>
        </p:nvSpPr>
        <p:spPr>
          <a:xfrm>
            <a:off x="1691640" y="4681728"/>
            <a:ext cx="4114800" cy="685800"/>
          </a:xfrm>
          <a:prstGeom prst="rect">
            <a:avLst/>
          </a:prstGeom>
          <a:noFill/>
          <a:ln/>
        </p:spPr>
        <p:txBody>
          <a:bodyPr wrap="square" lIns="0" tIns="0" rIns="0" bIns="0" rtlCol="0" anchor="t"/>
          <a:lstStyle/>
          <a:p>
            <a:pPr indent="0" marL="0">
              <a:buNone/>
            </a:pPr>
            <a:r>
              <a:rPr lang="en-US" sz="1400" dirty="0">
                <a:solidFill>
                  <a:srgbClr val="C9D3E3"/>
                </a:solidFill>
              </a:rPr>
              <a:t>Client-owned cloud or managed hosting; confirm access and backups.</a:t>
            </a:r>
            <a:endParaRPr lang="en-US" sz="1400" dirty="0"/>
          </a:p>
        </p:txBody>
      </p:sp>
      <p:sp>
        <p:nvSpPr>
          <p:cNvPr id="20" name="Approve pilot schools and targets"/>
          <p:cNvSpPr/>
          <p:nvPr/>
        </p:nvSpPr>
        <p:spPr>
          <a:xfrm>
            <a:off x="6172200" y="4023360"/>
            <a:ext cx="5440680" cy="1463040"/>
          </a:xfrm>
          <a:prstGeom prst="roundRect">
            <a:avLst>
              <a:gd name="adj" fmla="val 7500"/>
            </a:avLst>
          </a:prstGeom>
          <a:solidFill>
            <a:srgbClr val="1E3A63"/>
          </a:solidFill>
          <a:ln/>
        </p:spPr>
      </p:sp>
      <p:sp>
        <p:nvSpPr>
          <p:cNvPr id="21" name="num"/>
          <p:cNvSpPr/>
          <p:nvPr/>
        </p:nvSpPr>
        <p:spPr>
          <a:xfrm>
            <a:off x="6446520" y="4297680"/>
            <a:ext cx="640080" cy="640080"/>
          </a:xfrm>
          <a:prstGeom prst="ellipse">
            <a:avLst/>
          </a:prstGeom>
          <a:solidFill>
            <a:schemeClr val="accent2"/>
          </a:solidFill>
          <a:ln/>
        </p:spPr>
      </p:sp>
      <p:sp>
        <p:nvSpPr>
          <p:cNvPr id="22" name="Text 20"/>
          <p:cNvSpPr txBox="1"/>
          <p:nvPr/>
        </p:nvSpPr>
        <p:spPr>
          <a:xfrm>
            <a:off x="6446520" y="429768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23" name="Text 21"/>
          <p:cNvSpPr txBox="1"/>
          <p:nvPr/>
        </p:nvSpPr>
        <p:spPr>
          <a:xfrm>
            <a:off x="7315200" y="4251960"/>
            <a:ext cx="4114800" cy="411480"/>
          </a:xfrm>
          <a:prstGeom prst="rect">
            <a:avLst/>
          </a:prstGeom>
          <a:noFill/>
          <a:ln/>
        </p:spPr>
        <p:txBody>
          <a:bodyPr wrap="square" lIns="0" tIns="0" rIns="0" bIns="0" rtlCol="0" anchor="t"/>
          <a:lstStyle/>
          <a:p>
            <a:pPr indent="0" marL="0">
              <a:buNone/>
            </a:pPr>
            <a:r>
              <a:rPr lang="en-US" sz="1900" b="1" dirty="0">
                <a:solidFill>
                  <a:schemeClr val="bg1"/>
                </a:solidFill>
              </a:rPr>
              <a:t>Approve pilot schools and targets</a:t>
            </a:r>
            <a:endParaRPr lang="en-US" sz="1900" dirty="0"/>
          </a:p>
        </p:txBody>
      </p:sp>
      <p:sp>
        <p:nvSpPr>
          <p:cNvPr id="24" name="Text 22"/>
          <p:cNvSpPr txBox="1"/>
          <p:nvPr/>
        </p:nvSpPr>
        <p:spPr>
          <a:xfrm>
            <a:off x="7315200" y="4681728"/>
            <a:ext cx="4114800" cy="685800"/>
          </a:xfrm>
          <a:prstGeom prst="rect">
            <a:avLst/>
          </a:prstGeom>
          <a:noFill/>
          <a:ln/>
        </p:spPr>
        <p:txBody>
          <a:bodyPr wrap="square" lIns="0" tIns="0" rIns="0" bIns="0" rtlCol="0" anchor="t"/>
          <a:lstStyle/>
          <a:p>
            <a:pPr indent="0" marL="0">
              <a:buNone/>
            </a:pPr>
            <a:r>
              <a:rPr lang="en-US" sz="1400" dirty="0">
                <a:solidFill>
                  <a:srgbClr val="C9D3E3"/>
                </a:solidFill>
              </a:rPr>
              <a:t>Pick pilot districts and agree usage, reliability, support and cost targets.</a:t>
            </a:r>
            <a:endParaRPr lang="en-US" sz="1400" dirty="0"/>
          </a:p>
        </p:txBody>
      </p:sp>
      <p:sp>
        <p:nvSpPr>
          <p:cNvPr id="25" name="Text 23"/>
          <p:cNvSpPr txBox="1"/>
          <p:nvPr/>
        </p:nvSpPr>
        <p:spPr>
          <a:xfrm>
            <a:off x="548640" y="5897880"/>
            <a:ext cx="11094415" cy="365760"/>
          </a:xfrm>
          <a:prstGeom prst="rect">
            <a:avLst/>
          </a:prstGeom>
          <a:noFill/>
          <a:ln/>
        </p:spPr>
        <p:txBody>
          <a:bodyPr wrap="square" lIns="0" tIns="0" rIns="0" bIns="0" rtlCol="0" anchor="t"/>
          <a:lstStyle/>
          <a:p>
            <a:pPr algn="ctr" indent="0" marL="0">
              <a:buNone/>
            </a:pPr>
            <a:r>
              <a:rPr lang="en-US" sz="1400" b="1" spc="100" kern="0" dirty="0">
                <a:solidFill>
                  <a:schemeClr val="accent2"/>
                </a:solidFill>
              </a:rPr>
              <a:t>BUILD THE FOUNDATION  •  PROVE THE VALUE  •  SCALE WITH CONFIDENCE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AI Gurukul circle"/>
          <p:cNvSpPr/>
          <p:nvPr/>
        </p:nvSpPr>
        <p:spPr>
          <a:xfrm>
            <a:off x="5455768" y="1463040"/>
            <a:ext cx="1280160" cy="1280160"/>
          </a:xfrm>
          <a:prstGeom prst="ellipse">
            <a:avLst/>
          </a:prstGeom>
          <a:solidFill>
            <a:schemeClr val="accent1"/>
          </a:solidFill>
          <a:ln/>
        </p:spPr>
      </p:sp>
      <p:pic>
        <p:nvPicPr>
          <p:cNvPr id="3" name="AI Gurukul icon" descr="AI Gurukul">    </p:cNvPr>
          <p:cNvPicPr>
            <a:picLocks noChangeAspect="1"/>
          </p:cNvPicPr>
          <p:nvPr/>
        </p:nvPicPr>
        <p:blipFill>
          <a:blip r:embed="rId1"/>
          <a:stretch>
            <a:fillRect/>
          </a:stretch>
        </p:blipFill>
        <p:spPr>
          <a:xfrm>
            <a:off x="5775808" y="1783080"/>
            <a:ext cx="640080" cy="640080"/>
          </a:xfrm>
          <a:prstGeom prst="rect">
            <a:avLst/>
          </a:prstGeom>
        </p:spPr>
      </p:pic>
      <p:sp>
        <p:nvSpPr>
          <p:cNvPr id="4" name="Text 1"/>
          <p:cNvSpPr txBox="1"/>
          <p:nvPr/>
        </p:nvSpPr>
        <p:spPr>
          <a:xfrm>
            <a:off x="548640" y="2971800"/>
            <a:ext cx="11094415" cy="914400"/>
          </a:xfrm>
          <a:prstGeom prst="rect">
            <a:avLst/>
          </a:prstGeom>
          <a:noFill/>
          <a:ln/>
        </p:spPr>
        <p:txBody>
          <a:bodyPr wrap="square" lIns="0" tIns="0" rIns="0" bIns="0" rtlCol="0" anchor="t"/>
          <a:lstStyle/>
          <a:p>
            <a:pPr algn="ctr" indent="0" marL="0">
              <a:buNone/>
            </a:pPr>
            <a:r>
              <a:rPr lang="en-US" sz="4800" b="1" dirty="0">
                <a:solidFill>
                  <a:schemeClr val="bg1"/>
                </a:solidFill>
                <a:latin typeface="Arial" pitchFamily="34" charset="0"/>
                <a:ea typeface="Arial" pitchFamily="34" charset="-122"/>
                <a:cs typeface="Arial" pitchFamily="34" charset="-120"/>
              </a:rPr>
              <a:t>Thank you</a:t>
            </a:r>
            <a:endParaRPr lang="en-US" sz="4800" dirty="0"/>
          </a:p>
        </p:txBody>
      </p:sp>
      <p:sp>
        <p:nvSpPr>
          <p:cNvPr id="5" name="Text 2"/>
          <p:cNvSpPr txBox="1"/>
          <p:nvPr/>
        </p:nvSpPr>
        <p:spPr>
          <a:xfrm>
            <a:off x="548640" y="3886200"/>
            <a:ext cx="11094415" cy="457200"/>
          </a:xfrm>
          <a:prstGeom prst="rect">
            <a:avLst/>
          </a:prstGeom>
          <a:noFill/>
          <a:ln/>
        </p:spPr>
        <p:txBody>
          <a:bodyPr wrap="square" lIns="0" tIns="0" rIns="0" bIns="0" rtlCol="0" anchor="t"/>
          <a:lstStyle/>
          <a:p>
            <a:pPr algn="ctr" indent="0" marL="0">
              <a:buNone/>
            </a:pPr>
            <a:r>
              <a:rPr lang="en-US" sz="2200" dirty="0">
                <a:solidFill>
                  <a:schemeClr val="accent2"/>
                </a:solidFill>
              </a:rPr>
              <a:t>Questions and discussion</a:t>
            </a:r>
            <a:endParaRPr lang="en-US" sz="2200" dirty="0"/>
          </a:p>
        </p:txBody>
      </p:sp>
      <p:sp>
        <p:nvSpPr>
          <p:cNvPr id="6" name="Text 3"/>
          <p:cNvSpPr txBox="1"/>
          <p:nvPr/>
        </p:nvSpPr>
        <p:spPr>
          <a:xfrm>
            <a:off x="548640" y="5120640"/>
            <a:ext cx="11094415" cy="365760"/>
          </a:xfrm>
          <a:prstGeom prst="rect">
            <a:avLst/>
          </a:prstGeom>
          <a:noFill/>
          <a:ln/>
        </p:spPr>
        <p:txBody>
          <a:bodyPr wrap="square" lIns="0" tIns="0" rIns="0" bIns="0" rtlCol="0" anchor="t"/>
          <a:lstStyle/>
          <a:p>
            <a:pPr algn="ctr" indent="0" marL="0">
              <a:buNone/>
            </a:pPr>
            <a:r>
              <a:rPr lang="en-US" sz="1400" dirty="0">
                <a:solidFill>
                  <a:srgbClr val="C9D3E3"/>
                </a:solidFill>
              </a:rPr>
              <a:t>AI Gurukul  •  YJ Technosoft Private Limited  •  October 2026</a:t>
            </a:r>
            <a:endParaRPr lang="en-US" sz="1400" dirty="0"/>
          </a:p>
        </p:txBody>
      </p:sp>
    </p:spTree>
  </p:cSld>
  <p:clrMapOvr>
    <a:masterClrMapping/>
  </p:clrMapOvr>
</p:sld>
</file>

<file path=ppt/theme/theme1.xml><?xml version="1.0" encoding="utf-8"?>
<a:theme xmlns:a="http://schemas.openxmlformats.org/drawingml/2006/main" name="AI Gurukul">
  <a:themeElements>
    <a:clrScheme name="AI Gurukul">
      <a:dk1>
        <a:srgbClr val="1B2333"/>
      </a:dk1>
      <a:lt1>
        <a:srgbClr val="FFFFFF"/>
      </a:lt1>
      <a:dk2>
        <a:srgbClr val="13294B"/>
      </a:dk2>
      <a:lt2>
        <a:srgbClr val="EEF3F8"/>
      </a:lt2>
      <a:accent1>
        <a:srgbClr val="0E8C7F"/>
      </a:accent1>
      <a:accent2>
        <a:srgbClr val="E39B1B"/>
      </a:accent2>
      <a:accent3>
        <a:srgbClr val="C8553D"/>
      </a:accent3>
      <a:accent4>
        <a:srgbClr val="3F51B5"/>
      </a:accent4>
      <a:accent5>
        <a:srgbClr val="7B4FB8"/>
      </a:accent5>
      <a:accent6>
        <a:srgbClr val="5E6B7D"/>
      </a:accent6>
      <a:hlink>
        <a:srgbClr val="0E8C7F"/>
      </a:hlink>
      <a:folHlink>
        <a:srgbClr val="7B4FB8"/>
      </a:folHlink>
    </a:clrScheme>
    <a:fontScheme name="AI Guruk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YJ Technosoft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Gurukul – Chhattisgarh Edition</dc:title>
  <dc:subject>PptxGenJS Presentation</dc:subject>
  <dc:creator>YJ Technosoft Private Limited</dc:creator>
  <cp:lastModifiedBy>YJ Technosoft Private Limited</cp:lastModifiedBy>
  <cp:revision>1</cp:revision>
  <dcterms:created xsi:type="dcterms:W3CDTF">2026-10-19T06:26:42Z</dcterms:created>
  <dcterms:modified xsi:type="dcterms:W3CDTF">2026-10-19T06:26:42Z</dcterms:modified>
</cp:coreProperties>
</file>